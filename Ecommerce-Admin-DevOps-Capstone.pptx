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241457fe-90cd-78de-0587-3b85ddbede67}">
          <p14:sldIdLst>
            <p14:sldId id="256"/>
            <p14:sldId id="257"/>
            <p14:sldId id="258"/>
          </p14:sldIdLst>
        </p14:section>
        <p14:section name="How we built it" id="{8019c0c8-6f48-1950-72d6-ffd72a9c985d}">
          <p14:sldIdLst>
            <p14:sldId id="259"/>
            <p14:sldId id="260"/>
          </p14:sldIdLst>
        </p14:section>
        <p14:section name="Proof" id="{9680adfa-bcab-76f0-20aa-aad522bd17be}">
          <p14:sldIdLst>
            <p14:sldId id="261"/>
            <p14:sldId id="262"/>
            <p14:sldId id="263"/>
            <p14:sldId id="264"/>
            <p14:sldId id="265"/>
            <p14:sldId id="266"/>
          </p14:sldIdLst>
        </p14:section>
        <p14:section name="Wrap-up" id="{0099575a-7689-2a4a-9d69-44cd9112d7c7}">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this is Ecommerce Admin. It is a small web app a shop owner can use to manage products, customers and orders. The interesting part is not just the app, but everything around it: how it is tested, packaged, secured, deployed and watched.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shop owner needs three things: to know what they sell and how much is left, to know who their customers are and what they ordered, and to see how the business is doing. This app puts those on one screen, and the layout also works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 restaurant. The web page is the menu you read. Nginx is the doorman who greets you and passes your order on. FastAPI is the kitchen that applies the rules. PostgreSQL is the pantry book that remembers everything. Each one runs in its own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it in this order. First the app, then tests so we can trust it, then Git so every change is recorded. Containers make it run the same everywhere. A pipeline then tests and builds on every push, and a security scanner checks the images. Terraform describes the cloud setup, Kubernetes runs it, and Prometheus with Grafana lets us watch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the main decisions. Splitting the screen and the brain lets each change independently. Compose is fine on one laptop, but Kubernetes keeps copies running and restarts failures. GitHub Actions needs no extra server. And switching to slim Alpine images removed dozens of security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GitHub Actions after a push to main. Tests and the frontend build run first. Only if they pass do the Docker images get built and published, each tagged with the commit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in one public GitHub repository: the frontend, the backend, the pipeline definition and the deployment files. Each milestone is a separate commit, so the history shows how the project grew.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app is running on a local Kubernetes cluster, installed with one Helm command. There are five pods, all Running. The frontend and backend each have two copies, so if one fails the other keeps serving.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app, opened through the cluster's front door, called an Ingress. Requests for the page go to the frontend and requests starting with slash api go to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single machine, one command, docker compose up, starts the database, the backend and the frontend. The database sits on a private network that the frontend cannot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Prometheus collects numbers from the backend every few seconds and Grafana draws them. This dashboard shows traffic, errors, speed and memory, so we can see problems as they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safety nets. Thirty-one automatic tests gate every change. The security scanner found 88 serious issues across the two images and we fixed them all. And Kubernetes keeps two copies of the frontend and backend so a single crash does not take the app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a developer pushes code, the pipeline tests and scans it, publishes images, Kubernetes runs them, and Grafana shows how it is doing. Next steps would be auto-scaling, a permanent database volume and a staging environment.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Ecommerce Admin  |  DevOps capstone</a:t>
            </a:r>
            <a:endParaRPr lang="en-US" sz="1000" dirty="0"/>
          </a:p>
        </p:txBody>
      </p:sp>
      <p:sp>
        <p:nvSpPr>
          <p:cNvPr id="3" name="Text 1"/>
          <p:cNvSpPr/>
          <p:nvPr>
            <p:ph idx="101" type="title" hasCustomPrompt="1"/>
          </p:nvPr>
        </p:nvSpPr>
        <p:spPr>
          <a:xfrm>
            <a:off x="457200" y="320040"/>
            <a:ext cx="8229600"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1887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2697480"/>
            <a:ext cx="7498080" cy="10058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188720"/>
          </a:xfrm>
          <a:prstGeom prst="rect">
            <a:avLst/>
          </a:prstGeom>
          <a:noFill/>
          <a:ln/>
        </p:spPr>
        <p:txBody>
          <a:bodyPr wrap="square" lIns="0" tIns="0" rIns="0" bIns="0" rtlCol="0" anchor="ctr"/>
          <a:lstStyle/>
          <a:p>
            <a:pPr algn="l" indent="0" marL="0">
              <a:buNone/>
            </a:pPr>
            <a:r>
              <a:rPr lang="en-US" sz="4400" b="1" dirty="0">
                <a:solidFill>
                  <a:schemeClr val="bg1"/>
                </a:solidFill>
              </a:rPr>
              <a:t>Ecommerce Admin</a:t>
            </a:r>
            <a:endParaRPr lang="en-US" sz="4400" dirty="0"/>
          </a:p>
        </p:txBody>
      </p:sp>
      <p:sp>
        <p:nvSpPr>
          <p:cNvPr id="3" name="Text 0"/>
          <p:cNvSpPr/>
          <p:nvPr>
            <p:ph idx="101" type="body" hasCustomPrompt="1"/>
          </p:nvPr>
        </p:nvSpPr>
        <p:spPr>
          <a:xfrm>
            <a:off x="640080" y="2697480"/>
            <a:ext cx="7498080" cy="1005840"/>
          </a:xfrm>
          <a:prstGeom prst="rect">
            <a:avLst/>
          </a:prstGeom>
          <a:noFill/>
          <a:ln/>
        </p:spPr>
        <p:txBody>
          <a:bodyPr wrap="square" lIns="0" tIns="0" rIns="0" bIns="0" rtlCol="0" anchor="t"/>
          <a:lstStyle/>
          <a:p>
            <a:pPr algn="l" indent="0" marL="0">
              <a:buNone/>
            </a:pPr>
            <a:r>
              <a:rPr lang="en-US" sz="2000" dirty="0">
                <a:solidFill>
                  <a:schemeClr val="bg2"/>
                </a:solidFill>
              </a:rPr>
              <a:t>A small store-management app, taken from a laptop to a monitored, cloud-ready system</a:t>
            </a:r>
            <a:endParaRPr lang="en-US" sz="2000" dirty="0"/>
          </a:p>
        </p:txBody>
      </p:sp>
      <p:sp>
        <p:nvSpPr>
          <p:cNvPr id="4" name="byline"/>
          <p:cNvSpPr txBox="1"/>
          <p:nvPr/>
        </p:nvSpPr>
        <p:spPr>
          <a:xfrm>
            <a:off x="640080" y="4297680"/>
            <a:ext cx="7315200" cy="320040"/>
          </a:xfrm>
          <a:prstGeom prst="rect">
            <a:avLst/>
          </a:prstGeom>
          <a:noFill/>
          <a:ln/>
        </p:spPr>
        <p:txBody>
          <a:bodyPr wrap="square" lIns="0" tIns="0" rIns="0" bIns="0" rtlCol="0" anchor="ctr"/>
          <a:lstStyle/>
          <a:p>
            <a:pPr indent="0" marL="0">
              <a:buNone/>
            </a:pPr>
            <a:r>
              <a:rPr lang="en-US" sz="1400" dirty="0">
                <a:solidFill>
                  <a:schemeClr val="bg2"/>
                </a:solidFill>
              </a:rPr>
              <a:t>DevOps &amp; Cloud capstone  |  Naverdo Sandeep</a:t>
            </a:r>
            <a:endParaRPr lang="en-US" sz="1400" dirty="0"/>
          </a:p>
        </p:txBody>
      </p:sp>
      <p:sp>
        <p:nvSpPr>
          <p:cNvPr id="5" name="store circle"/>
          <p:cNvSpPr/>
          <p:nvPr/>
        </p:nvSpPr>
        <p:spPr>
          <a:xfrm>
            <a:off x="7635240" y="502920"/>
            <a:ext cx="822960" cy="822960"/>
          </a:xfrm>
          <a:prstGeom prst="ellipse">
            <a:avLst/>
          </a:prstGeom>
          <a:solidFill>
            <a:schemeClr val="accent1"/>
          </a:solidFill>
          <a:ln w="12700">
            <a:solidFill>
              <a:schemeClr val="accent1"/>
            </a:solidFill>
            <a:prstDash val="solid"/>
          </a:ln>
        </p:spPr>
      </p:sp>
      <p:pic>
        <p:nvPicPr>
          <p:cNvPr id="6" name="store icon" descr="store">    </p:cNvPr>
          <p:cNvPicPr>
            <a:picLocks noChangeAspect="1"/>
          </p:cNvPicPr>
          <p:nvPr/>
        </p:nvPicPr>
        <p:blipFill>
          <a:blip r:embed="rId1"/>
          <a:stretch>
            <a:fillRect/>
          </a:stretch>
        </p:blipFill>
        <p:spPr>
          <a:xfrm>
            <a:off x="7857439" y="725119"/>
            <a:ext cx="378562" cy="37856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One place to run an online store</a:t>
            </a:r>
            <a:endParaRPr lang="en-US" sz="3400" dirty="0"/>
          </a:p>
        </p:txBody>
      </p:sp>
      <p:sp>
        <p:nvSpPr>
          <p:cNvPr id="3" name="feature 1 circle"/>
          <p:cNvSpPr/>
          <p:nvPr/>
        </p:nvSpPr>
        <p:spPr>
          <a:xfrm>
            <a:off x="457200" y="1325880"/>
            <a:ext cx="640080" cy="640080"/>
          </a:xfrm>
          <a:prstGeom prst="ellipse">
            <a:avLst/>
          </a:prstGeom>
          <a:solidFill>
            <a:schemeClr val="accent1"/>
          </a:solidFill>
          <a:ln w="12700">
            <a:solidFill>
              <a:schemeClr val="accent1"/>
            </a:solidFill>
            <a:prstDash val="solid"/>
          </a:ln>
        </p:spPr>
      </p:sp>
      <p:pic>
        <p:nvPicPr>
          <p:cNvPr id="4" name="feature 1 icon" descr="feature 1">    </p:cNvPr>
          <p:cNvPicPr>
            <a:picLocks noChangeAspect="1"/>
          </p:cNvPicPr>
          <p:nvPr/>
        </p:nvPicPr>
        <p:blipFill>
          <a:blip r:embed="rId1"/>
          <a:stretch>
            <a:fillRect/>
          </a:stretch>
        </p:blipFill>
        <p:spPr>
          <a:xfrm>
            <a:off x="630022" y="1498702"/>
            <a:ext cx="294437" cy="294437"/>
          </a:xfrm>
          <a:prstGeom prst="rect">
            <a:avLst/>
          </a:prstGeom>
        </p:spPr>
      </p:pic>
      <p:sp>
        <p:nvSpPr>
          <p:cNvPr id="5" name="feature 1 title"/>
          <p:cNvSpPr txBox="1"/>
          <p:nvPr/>
        </p:nvSpPr>
        <p:spPr>
          <a:xfrm>
            <a:off x="1325880" y="1325880"/>
            <a:ext cx="7223760" cy="320040"/>
          </a:xfrm>
          <a:prstGeom prst="rect">
            <a:avLst/>
          </a:prstGeom>
          <a:noFill/>
          <a:ln/>
        </p:spPr>
        <p:txBody>
          <a:bodyPr wrap="square" lIns="0" tIns="0" rIns="0" bIns="0" rtlCol="0" anchor="ctr"/>
          <a:lstStyle/>
          <a:p>
            <a:pPr indent="0" marL="0">
              <a:buNone/>
            </a:pPr>
            <a:r>
              <a:rPr lang="en-US" sz="2000" b="1" dirty="0">
                <a:solidFill>
                  <a:schemeClr val="tx2"/>
                </a:solidFill>
              </a:rPr>
              <a:t>Products and stock</a:t>
            </a:r>
            <a:endParaRPr lang="en-US" sz="2000" dirty="0"/>
          </a:p>
        </p:txBody>
      </p:sp>
      <p:sp>
        <p:nvSpPr>
          <p:cNvPr id="6" name="feature 1 text"/>
          <p:cNvSpPr txBox="1"/>
          <p:nvPr/>
        </p:nvSpPr>
        <p:spPr>
          <a:xfrm>
            <a:off x="1325880" y="1664208"/>
            <a:ext cx="7223760" cy="365760"/>
          </a:xfrm>
          <a:prstGeom prst="rect">
            <a:avLst/>
          </a:prstGeom>
          <a:noFill/>
          <a:ln/>
        </p:spPr>
        <p:txBody>
          <a:bodyPr wrap="square" lIns="0" tIns="0" rIns="0" bIns="0" rtlCol="0" anchor="ctr"/>
          <a:lstStyle/>
          <a:p>
            <a:pPr indent="0" marL="0">
              <a:buNone/>
            </a:pPr>
            <a:r>
              <a:rPr lang="en-US" sz="1600" dirty="0">
                <a:solidFill>
                  <a:schemeClr val="tx1"/>
                </a:solidFill>
              </a:rPr>
              <a:t>Add items, set prices, and see what is running low.</a:t>
            </a:r>
            <a:endParaRPr lang="en-US" sz="1600" dirty="0"/>
          </a:p>
        </p:txBody>
      </p:sp>
      <p:sp>
        <p:nvSpPr>
          <p:cNvPr id="7" name="feature 2 circle"/>
          <p:cNvSpPr/>
          <p:nvPr/>
        </p:nvSpPr>
        <p:spPr>
          <a:xfrm>
            <a:off x="457200" y="2240280"/>
            <a:ext cx="640080" cy="640080"/>
          </a:xfrm>
          <a:prstGeom prst="ellipse">
            <a:avLst/>
          </a:prstGeom>
          <a:solidFill>
            <a:schemeClr val="accent1"/>
          </a:solidFill>
          <a:ln w="12700">
            <a:solidFill>
              <a:schemeClr val="accent1"/>
            </a:solidFill>
            <a:prstDash val="solid"/>
          </a:ln>
        </p:spPr>
      </p:sp>
      <p:pic>
        <p:nvPicPr>
          <p:cNvPr id="8" name="feature 2 icon" descr="feature 2">    </p:cNvPr>
          <p:cNvPicPr>
            <a:picLocks noChangeAspect="1"/>
          </p:cNvPicPr>
          <p:nvPr/>
        </p:nvPicPr>
        <p:blipFill>
          <a:blip r:embed="rId2"/>
          <a:stretch>
            <a:fillRect/>
          </a:stretch>
        </p:blipFill>
        <p:spPr>
          <a:xfrm>
            <a:off x="630022" y="2413102"/>
            <a:ext cx="294437" cy="294437"/>
          </a:xfrm>
          <a:prstGeom prst="rect">
            <a:avLst/>
          </a:prstGeom>
        </p:spPr>
      </p:pic>
      <p:sp>
        <p:nvSpPr>
          <p:cNvPr id="9" name="feature 2 title"/>
          <p:cNvSpPr txBox="1"/>
          <p:nvPr/>
        </p:nvSpPr>
        <p:spPr>
          <a:xfrm>
            <a:off x="1325880" y="2240280"/>
            <a:ext cx="7223760" cy="320040"/>
          </a:xfrm>
          <a:prstGeom prst="rect">
            <a:avLst/>
          </a:prstGeom>
          <a:noFill/>
          <a:ln/>
        </p:spPr>
        <p:txBody>
          <a:bodyPr wrap="square" lIns="0" tIns="0" rIns="0" bIns="0" rtlCol="0" anchor="ctr"/>
          <a:lstStyle/>
          <a:p>
            <a:pPr indent="0" marL="0">
              <a:buNone/>
            </a:pPr>
            <a:r>
              <a:rPr lang="en-US" sz="2000" b="1" dirty="0">
                <a:solidFill>
                  <a:schemeClr val="tx2"/>
                </a:solidFill>
              </a:rPr>
              <a:t>Customers and orders</a:t>
            </a:r>
            <a:endParaRPr lang="en-US" sz="2000" dirty="0"/>
          </a:p>
        </p:txBody>
      </p:sp>
      <p:sp>
        <p:nvSpPr>
          <p:cNvPr id="10" name="feature 2 text"/>
          <p:cNvSpPr txBox="1"/>
          <p:nvPr/>
        </p:nvSpPr>
        <p:spPr>
          <a:xfrm>
            <a:off x="1325880" y="2578608"/>
            <a:ext cx="7223760" cy="365760"/>
          </a:xfrm>
          <a:prstGeom prst="rect">
            <a:avLst/>
          </a:prstGeom>
          <a:noFill/>
          <a:ln/>
        </p:spPr>
        <p:txBody>
          <a:bodyPr wrap="square" lIns="0" tIns="0" rIns="0" bIns="0" rtlCol="0" anchor="ctr"/>
          <a:lstStyle/>
          <a:p>
            <a:pPr indent="0" marL="0">
              <a:buNone/>
            </a:pPr>
            <a:r>
              <a:rPr lang="en-US" sz="1600" dirty="0">
                <a:solidFill>
                  <a:schemeClr val="tx1"/>
                </a:solidFill>
              </a:rPr>
              <a:t>Take an order and stock updates itself. Cancel it and the stock comes back.</a:t>
            </a:r>
            <a:endParaRPr lang="en-US" sz="1600" dirty="0"/>
          </a:p>
        </p:txBody>
      </p:sp>
      <p:sp>
        <p:nvSpPr>
          <p:cNvPr id="11" name="feature 3 circle"/>
          <p:cNvSpPr/>
          <p:nvPr/>
        </p:nvSpPr>
        <p:spPr>
          <a:xfrm>
            <a:off x="457200" y="3154680"/>
            <a:ext cx="640080" cy="640080"/>
          </a:xfrm>
          <a:prstGeom prst="ellipse">
            <a:avLst/>
          </a:prstGeom>
          <a:solidFill>
            <a:schemeClr val="accent1"/>
          </a:solidFill>
          <a:ln w="12700">
            <a:solidFill>
              <a:schemeClr val="accent1"/>
            </a:solidFill>
            <a:prstDash val="solid"/>
          </a:ln>
        </p:spPr>
      </p:sp>
      <p:pic>
        <p:nvPicPr>
          <p:cNvPr id="12" name="feature 3 icon" descr="feature 3">    </p:cNvPr>
          <p:cNvPicPr>
            <a:picLocks noChangeAspect="1"/>
          </p:cNvPicPr>
          <p:nvPr/>
        </p:nvPicPr>
        <p:blipFill>
          <a:blip r:embed="rId3"/>
          <a:stretch>
            <a:fillRect/>
          </a:stretch>
        </p:blipFill>
        <p:spPr>
          <a:xfrm>
            <a:off x="630022" y="3327502"/>
            <a:ext cx="294437" cy="294437"/>
          </a:xfrm>
          <a:prstGeom prst="rect">
            <a:avLst/>
          </a:prstGeom>
        </p:spPr>
      </p:pic>
      <p:sp>
        <p:nvSpPr>
          <p:cNvPr id="13" name="feature 3 title"/>
          <p:cNvSpPr txBox="1"/>
          <p:nvPr/>
        </p:nvSpPr>
        <p:spPr>
          <a:xfrm>
            <a:off x="1325880" y="3154680"/>
            <a:ext cx="7223760" cy="320040"/>
          </a:xfrm>
          <a:prstGeom prst="rect">
            <a:avLst/>
          </a:prstGeom>
          <a:noFill/>
          <a:ln/>
        </p:spPr>
        <p:txBody>
          <a:bodyPr wrap="square" lIns="0" tIns="0" rIns="0" bIns="0" rtlCol="0" anchor="ctr"/>
          <a:lstStyle/>
          <a:p>
            <a:pPr indent="0" marL="0">
              <a:buNone/>
            </a:pPr>
            <a:r>
              <a:rPr lang="en-US" sz="2000" b="1" dirty="0">
                <a:solidFill>
                  <a:schemeClr val="tx2"/>
                </a:solidFill>
              </a:rPr>
              <a:t>Sales dashboard</a:t>
            </a:r>
            <a:endParaRPr lang="en-US" sz="2000" dirty="0"/>
          </a:p>
        </p:txBody>
      </p:sp>
      <p:sp>
        <p:nvSpPr>
          <p:cNvPr id="14" name="feature 3 text"/>
          <p:cNvSpPr txBox="1"/>
          <p:nvPr/>
        </p:nvSpPr>
        <p:spPr>
          <a:xfrm>
            <a:off x="1325880" y="3493008"/>
            <a:ext cx="7223760" cy="365760"/>
          </a:xfrm>
          <a:prstGeom prst="rect">
            <a:avLst/>
          </a:prstGeom>
          <a:noFill/>
          <a:ln/>
        </p:spPr>
        <p:txBody>
          <a:bodyPr wrap="square" lIns="0" tIns="0" rIns="0" bIns="0" rtlCol="0" anchor="ctr"/>
          <a:lstStyle/>
          <a:p>
            <a:pPr indent="0" marL="0">
              <a:buNone/>
            </a:pPr>
            <a:r>
              <a:rPr lang="en-US" sz="1600" dirty="0">
                <a:solidFill>
                  <a:schemeClr val="tx1"/>
                </a:solidFill>
              </a:rPr>
              <a:t>Revenue, best sellers and recent orders at a glance.</a:t>
            </a:r>
            <a:endParaRPr lang="en-US" sz="1600" dirty="0"/>
          </a:p>
        </p:txBody>
      </p:sp>
      <p:sp>
        <p:nvSpPr>
          <p:cNvPr id="15" name="why box"/>
          <p:cNvSpPr/>
          <p:nvPr/>
        </p:nvSpPr>
        <p:spPr>
          <a:xfrm>
            <a:off x="457200" y="3977640"/>
            <a:ext cx="8229600" cy="685800"/>
          </a:xfrm>
          <a:prstGeom prst="roundRect">
            <a:avLst>
              <a:gd name="adj" fmla="val 13333"/>
            </a:avLst>
          </a:prstGeom>
          <a:solidFill>
            <a:schemeClr val="bg2"/>
          </a:solidFill>
          <a:ln w="12700">
            <a:solidFill>
              <a:schemeClr val="bg2"/>
            </a:solidFill>
            <a:prstDash val="solid"/>
          </a:ln>
        </p:spPr>
      </p:sp>
      <p:sp>
        <p:nvSpPr>
          <p:cNvPr id="16" name="why text"/>
          <p:cNvSpPr txBox="1"/>
          <p:nvPr/>
        </p:nvSpPr>
        <p:spPr>
          <a:xfrm>
            <a:off x="640080" y="3977640"/>
            <a:ext cx="7863840" cy="685800"/>
          </a:xfrm>
          <a:prstGeom prst="rect">
            <a:avLst/>
          </a:prstGeom>
          <a:noFill/>
          <a:ln/>
        </p:spPr>
        <p:txBody>
          <a:bodyPr wrap="square" lIns="0" tIns="0" rIns="0" bIns="0" rtlCol="0" anchor="ctr"/>
          <a:lstStyle/>
          <a:p>
            <a:pPr indent="0" marL="0">
              <a:buNone/>
            </a:pPr>
            <a:r>
              <a:rPr lang="en-US" sz="1400" b="1" dirty="0">
                <a:solidFill>
                  <a:schemeClr val="accent1"/>
                </a:solidFill>
              </a:rPr>
              <a:t>Why: </a:t>
            </a:r>
            <a:pPr indent="0" marL="0">
              <a:buNone/>
            </a:pPr>
            <a:r>
              <a:rPr lang="en-US" sz="1400" dirty="0">
                <a:solidFill>
                  <a:schemeClr val="tx1"/>
                </a:solidFill>
              </a:rPr>
              <a:t>small shops juggle spreadsheets. This puts it all on one screen that also works on a phone.</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How the pieces fit together</a:t>
            </a:r>
            <a:endParaRPr lang="en-US" sz="3400" dirty="0"/>
          </a:p>
        </p:txBody>
      </p:sp>
      <p:sp>
        <p:nvSpPr>
          <p:cNvPr id="3" name="part 1 card"/>
          <p:cNvSpPr/>
          <p:nvPr/>
        </p:nvSpPr>
        <p:spPr>
          <a:xfrm>
            <a:off x="457200" y="1371600"/>
            <a:ext cx="1783080" cy="2331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part 1 circle"/>
          <p:cNvSpPr/>
          <p:nvPr/>
        </p:nvSpPr>
        <p:spPr>
          <a:xfrm>
            <a:off x="1028700" y="1554480"/>
            <a:ext cx="640080" cy="640080"/>
          </a:xfrm>
          <a:prstGeom prst="ellipse">
            <a:avLst/>
          </a:prstGeom>
          <a:solidFill>
            <a:schemeClr val="accent1"/>
          </a:solidFill>
          <a:ln w="12700">
            <a:solidFill>
              <a:schemeClr val="accent1"/>
            </a:solidFill>
            <a:prstDash val="solid"/>
          </a:ln>
        </p:spPr>
      </p:sp>
      <p:pic>
        <p:nvPicPr>
          <p:cNvPr id="5" name="part 1 icon" descr="part 1">    </p:cNvPr>
          <p:cNvPicPr>
            <a:picLocks noChangeAspect="1"/>
          </p:cNvPicPr>
          <p:nvPr/>
        </p:nvPicPr>
        <p:blipFill>
          <a:blip r:embed="rId1"/>
          <a:stretch>
            <a:fillRect/>
          </a:stretch>
        </p:blipFill>
        <p:spPr>
          <a:xfrm>
            <a:off x="1201522" y="1727302"/>
            <a:ext cx="294437" cy="294437"/>
          </a:xfrm>
          <a:prstGeom prst="rect">
            <a:avLst/>
          </a:prstGeom>
        </p:spPr>
      </p:pic>
      <p:sp>
        <p:nvSpPr>
          <p:cNvPr id="6" name="part 1 name"/>
          <p:cNvSpPr txBox="1"/>
          <p:nvPr/>
        </p:nvSpPr>
        <p:spPr>
          <a:xfrm>
            <a:off x="548640" y="2286000"/>
            <a:ext cx="1600200" cy="365760"/>
          </a:xfrm>
          <a:prstGeom prst="rect">
            <a:avLst/>
          </a:prstGeom>
          <a:noFill/>
          <a:ln/>
        </p:spPr>
        <p:txBody>
          <a:bodyPr wrap="square" lIns="0" tIns="0" rIns="0" bIns="0" rtlCol="0" anchor="ctr"/>
          <a:lstStyle/>
          <a:p>
            <a:pPr algn="ctr" indent="0" marL="0">
              <a:buNone/>
            </a:pPr>
            <a:r>
              <a:rPr lang="en-US" sz="1800" b="1" dirty="0">
                <a:solidFill>
                  <a:schemeClr val="tx2"/>
                </a:solidFill>
              </a:rPr>
              <a:t>What you see</a:t>
            </a:r>
            <a:endParaRPr lang="en-US" sz="1800" dirty="0"/>
          </a:p>
        </p:txBody>
      </p:sp>
      <p:sp>
        <p:nvSpPr>
          <p:cNvPr id="7" name="part 1 role"/>
          <p:cNvSpPr txBox="1"/>
          <p:nvPr/>
        </p:nvSpPr>
        <p:spPr>
          <a:xfrm>
            <a:off x="594360" y="2670048"/>
            <a:ext cx="1508760" cy="640080"/>
          </a:xfrm>
          <a:prstGeom prst="rect">
            <a:avLst/>
          </a:prstGeom>
          <a:noFill/>
          <a:ln/>
        </p:spPr>
        <p:txBody>
          <a:bodyPr wrap="square" lIns="0" tIns="0" rIns="0" bIns="0" rtlCol="0" anchor="t"/>
          <a:lstStyle/>
          <a:p>
            <a:pPr algn="ctr" indent="0" marL="0">
              <a:buNone/>
            </a:pPr>
            <a:r>
              <a:rPr lang="en-US" sz="1400" dirty="0">
                <a:solidFill>
                  <a:schemeClr val="tx1"/>
                </a:solidFill>
              </a:rPr>
              <a:t>The web page</a:t>
            </a:r>
            <a:endParaRPr lang="en-US" sz="1400" dirty="0"/>
          </a:p>
        </p:txBody>
      </p:sp>
      <p:sp>
        <p:nvSpPr>
          <p:cNvPr id="8" name="part 1 tech"/>
          <p:cNvSpPr txBox="1"/>
          <p:nvPr/>
        </p:nvSpPr>
        <p:spPr>
          <a:xfrm>
            <a:off x="548640" y="3337560"/>
            <a:ext cx="1600200" cy="274320"/>
          </a:xfrm>
          <a:prstGeom prst="rect">
            <a:avLst/>
          </a:prstGeom>
          <a:noFill/>
          <a:ln/>
        </p:spPr>
        <p:txBody>
          <a:bodyPr wrap="square" lIns="0" tIns="0" rIns="0" bIns="0" rtlCol="0" anchor="ctr"/>
          <a:lstStyle/>
          <a:p>
            <a:pPr algn="ctr" indent="0" marL="0">
              <a:buNone/>
            </a:pPr>
            <a:r>
              <a:rPr lang="en-US" sz="1200" b="1" dirty="0">
                <a:solidFill>
                  <a:schemeClr val="accent1"/>
                </a:solidFill>
              </a:rPr>
              <a:t>React</a:t>
            </a:r>
            <a:endParaRPr lang="en-US" sz="1200" dirty="0"/>
          </a:p>
        </p:txBody>
      </p:sp>
      <p:sp>
        <p:nvSpPr>
          <p:cNvPr id="9" name="arrow 1"/>
          <p:cNvSpPr/>
          <p:nvPr/>
        </p:nvSpPr>
        <p:spPr>
          <a:xfrm>
            <a:off x="2304288" y="2395728"/>
            <a:ext cx="237744" cy="274320"/>
          </a:xfrm>
          <a:prstGeom prst="rightArrow">
            <a:avLst/>
          </a:prstGeom>
          <a:solidFill>
            <a:schemeClr val="accent6"/>
          </a:solidFill>
          <a:ln w="12700">
            <a:solidFill>
              <a:schemeClr val="accent6"/>
            </a:solidFill>
            <a:prstDash val="solid"/>
          </a:ln>
        </p:spPr>
      </p:sp>
      <p:sp>
        <p:nvSpPr>
          <p:cNvPr id="10" name="part 2 card"/>
          <p:cNvSpPr/>
          <p:nvPr/>
        </p:nvSpPr>
        <p:spPr>
          <a:xfrm>
            <a:off x="2606040" y="1371600"/>
            <a:ext cx="1783080" cy="2331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 name="part 2 circle"/>
          <p:cNvSpPr/>
          <p:nvPr/>
        </p:nvSpPr>
        <p:spPr>
          <a:xfrm>
            <a:off x="3177540" y="1554480"/>
            <a:ext cx="640080" cy="640080"/>
          </a:xfrm>
          <a:prstGeom prst="ellipse">
            <a:avLst/>
          </a:prstGeom>
          <a:solidFill>
            <a:schemeClr val="accent1"/>
          </a:solidFill>
          <a:ln w="12700">
            <a:solidFill>
              <a:schemeClr val="accent1"/>
            </a:solidFill>
            <a:prstDash val="solid"/>
          </a:ln>
        </p:spPr>
      </p:sp>
      <p:pic>
        <p:nvPicPr>
          <p:cNvPr id="12" name="part 2 icon" descr="part 2">    </p:cNvPr>
          <p:cNvPicPr>
            <a:picLocks noChangeAspect="1"/>
          </p:cNvPicPr>
          <p:nvPr/>
        </p:nvPicPr>
        <p:blipFill>
          <a:blip r:embed="rId2"/>
          <a:stretch>
            <a:fillRect/>
          </a:stretch>
        </p:blipFill>
        <p:spPr>
          <a:xfrm>
            <a:off x="3350362" y="1727302"/>
            <a:ext cx="294437" cy="294437"/>
          </a:xfrm>
          <a:prstGeom prst="rect">
            <a:avLst/>
          </a:prstGeom>
        </p:spPr>
      </p:pic>
      <p:sp>
        <p:nvSpPr>
          <p:cNvPr id="13" name="part 2 name"/>
          <p:cNvSpPr txBox="1"/>
          <p:nvPr/>
        </p:nvSpPr>
        <p:spPr>
          <a:xfrm>
            <a:off x="2697480" y="2286000"/>
            <a:ext cx="1600200" cy="365760"/>
          </a:xfrm>
          <a:prstGeom prst="rect">
            <a:avLst/>
          </a:prstGeom>
          <a:noFill/>
          <a:ln/>
        </p:spPr>
        <p:txBody>
          <a:bodyPr wrap="square" lIns="0" tIns="0" rIns="0" bIns="0" rtlCol="0" anchor="ctr"/>
          <a:lstStyle/>
          <a:p>
            <a:pPr algn="ctr" indent="0" marL="0">
              <a:buNone/>
            </a:pPr>
            <a:r>
              <a:rPr lang="en-US" sz="1800" b="1" dirty="0">
                <a:solidFill>
                  <a:schemeClr val="tx2"/>
                </a:solidFill>
              </a:rPr>
              <a:t>The doorman</a:t>
            </a:r>
            <a:endParaRPr lang="en-US" sz="1800" dirty="0"/>
          </a:p>
        </p:txBody>
      </p:sp>
      <p:sp>
        <p:nvSpPr>
          <p:cNvPr id="14" name="part 2 role"/>
          <p:cNvSpPr txBox="1"/>
          <p:nvPr/>
        </p:nvSpPr>
        <p:spPr>
          <a:xfrm>
            <a:off x="2743200" y="2670048"/>
            <a:ext cx="1508760" cy="640080"/>
          </a:xfrm>
          <a:prstGeom prst="rect">
            <a:avLst/>
          </a:prstGeom>
          <a:noFill/>
          <a:ln/>
        </p:spPr>
        <p:txBody>
          <a:bodyPr wrap="square" lIns="0" tIns="0" rIns="0" bIns="0" rtlCol="0" anchor="t"/>
          <a:lstStyle/>
          <a:p>
            <a:pPr algn="ctr" indent="0" marL="0">
              <a:buNone/>
            </a:pPr>
            <a:r>
              <a:rPr lang="en-US" sz="1400" dirty="0">
                <a:solidFill>
                  <a:schemeClr val="tx1"/>
                </a:solidFill>
              </a:rPr>
              <a:t>Hands out the page, passes requests on</a:t>
            </a:r>
            <a:endParaRPr lang="en-US" sz="1400" dirty="0"/>
          </a:p>
        </p:txBody>
      </p:sp>
      <p:sp>
        <p:nvSpPr>
          <p:cNvPr id="15" name="part 2 tech"/>
          <p:cNvSpPr txBox="1"/>
          <p:nvPr/>
        </p:nvSpPr>
        <p:spPr>
          <a:xfrm>
            <a:off x="2697480" y="3337560"/>
            <a:ext cx="1600200" cy="274320"/>
          </a:xfrm>
          <a:prstGeom prst="rect">
            <a:avLst/>
          </a:prstGeom>
          <a:noFill/>
          <a:ln/>
        </p:spPr>
        <p:txBody>
          <a:bodyPr wrap="square" lIns="0" tIns="0" rIns="0" bIns="0" rtlCol="0" anchor="ctr"/>
          <a:lstStyle/>
          <a:p>
            <a:pPr algn="ctr" indent="0" marL="0">
              <a:buNone/>
            </a:pPr>
            <a:r>
              <a:rPr lang="en-US" sz="1200" b="1" dirty="0">
                <a:solidFill>
                  <a:schemeClr val="accent1"/>
                </a:solidFill>
              </a:rPr>
              <a:t>Nginx</a:t>
            </a:r>
            <a:endParaRPr lang="en-US" sz="1200" dirty="0"/>
          </a:p>
        </p:txBody>
      </p:sp>
      <p:sp>
        <p:nvSpPr>
          <p:cNvPr id="16" name="arrow 2"/>
          <p:cNvSpPr/>
          <p:nvPr/>
        </p:nvSpPr>
        <p:spPr>
          <a:xfrm>
            <a:off x="4453128" y="2395728"/>
            <a:ext cx="237744" cy="274320"/>
          </a:xfrm>
          <a:prstGeom prst="rightArrow">
            <a:avLst/>
          </a:prstGeom>
          <a:solidFill>
            <a:schemeClr val="accent6"/>
          </a:solidFill>
          <a:ln w="12700">
            <a:solidFill>
              <a:schemeClr val="accent6"/>
            </a:solidFill>
            <a:prstDash val="solid"/>
          </a:ln>
        </p:spPr>
      </p:sp>
      <p:sp>
        <p:nvSpPr>
          <p:cNvPr id="17" name="part 3 card"/>
          <p:cNvSpPr/>
          <p:nvPr/>
        </p:nvSpPr>
        <p:spPr>
          <a:xfrm>
            <a:off x="4754880" y="1371600"/>
            <a:ext cx="1783080" cy="2331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8" name="part 3 circle"/>
          <p:cNvSpPr/>
          <p:nvPr/>
        </p:nvSpPr>
        <p:spPr>
          <a:xfrm>
            <a:off x="5326380" y="1554480"/>
            <a:ext cx="640080" cy="640080"/>
          </a:xfrm>
          <a:prstGeom prst="ellipse">
            <a:avLst/>
          </a:prstGeom>
          <a:solidFill>
            <a:schemeClr val="accent1"/>
          </a:solidFill>
          <a:ln w="12700">
            <a:solidFill>
              <a:schemeClr val="accent1"/>
            </a:solidFill>
            <a:prstDash val="solid"/>
          </a:ln>
        </p:spPr>
      </p:sp>
      <p:pic>
        <p:nvPicPr>
          <p:cNvPr id="19" name="part 3 icon" descr="part 3">    </p:cNvPr>
          <p:cNvPicPr>
            <a:picLocks noChangeAspect="1"/>
          </p:cNvPicPr>
          <p:nvPr/>
        </p:nvPicPr>
        <p:blipFill>
          <a:blip r:embed="rId3"/>
          <a:stretch>
            <a:fillRect/>
          </a:stretch>
        </p:blipFill>
        <p:spPr>
          <a:xfrm>
            <a:off x="5499202" y="1727302"/>
            <a:ext cx="294437" cy="294437"/>
          </a:xfrm>
          <a:prstGeom prst="rect">
            <a:avLst/>
          </a:prstGeom>
        </p:spPr>
      </p:pic>
      <p:sp>
        <p:nvSpPr>
          <p:cNvPr id="20" name="part 3 name"/>
          <p:cNvSpPr txBox="1"/>
          <p:nvPr/>
        </p:nvSpPr>
        <p:spPr>
          <a:xfrm>
            <a:off x="4846320" y="2286000"/>
            <a:ext cx="1600200" cy="365760"/>
          </a:xfrm>
          <a:prstGeom prst="rect">
            <a:avLst/>
          </a:prstGeom>
          <a:noFill/>
          <a:ln/>
        </p:spPr>
        <p:txBody>
          <a:bodyPr wrap="square" lIns="0" tIns="0" rIns="0" bIns="0" rtlCol="0" anchor="ctr"/>
          <a:lstStyle/>
          <a:p>
            <a:pPr algn="ctr" indent="0" marL="0">
              <a:buNone/>
            </a:pPr>
            <a:r>
              <a:rPr lang="en-US" sz="1800" b="1" dirty="0">
                <a:solidFill>
                  <a:schemeClr val="tx2"/>
                </a:solidFill>
              </a:rPr>
              <a:t>The brain</a:t>
            </a:r>
            <a:endParaRPr lang="en-US" sz="1800" dirty="0"/>
          </a:p>
        </p:txBody>
      </p:sp>
      <p:sp>
        <p:nvSpPr>
          <p:cNvPr id="21" name="part 3 role"/>
          <p:cNvSpPr txBox="1"/>
          <p:nvPr/>
        </p:nvSpPr>
        <p:spPr>
          <a:xfrm>
            <a:off x="4892040" y="2670048"/>
            <a:ext cx="1508760" cy="640080"/>
          </a:xfrm>
          <a:prstGeom prst="rect">
            <a:avLst/>
          </a:prstGeom>
          <a:noFill/>
          <a:ln/>
        </p:spPr>
        <p:txBody>
          <a:bodyPr wrap="square" lIns="0" tIns="0" rIns="0" bIns="0" rtlCol="0" anchor="t"/>
          <a:lstStyle/>
          <a:p>
            <a:pPr algn="ctr" indent="0" marL="0">
              <a:buNone/>
            </a:pPr>
            <a:r>
              <a:rPr lang="en-US" sz="1400" dirty="0">
                <a:solidFill>
                  <a:schemeClr val="tx1"/>
                </a:solidFill>
              </a:rPr>
              <a:t>Rules for stock, totals and orders</a:t>
            </a:r>
            <a:endParaRPr lang="en-US" sz="1400" dirty="0"/>
          </a:p>
        </p:txBody>
      </p:sp>
      <p:sp>
        <p:nvSpPr>
          <p:cNvPr id="22" name="part 3 tech"/>
          <p:cNvSpPr txBox="1"/>
          <p:nvPr/>
        </p:nvSpPr>
        <p:spPr>
          <a:xfrm>
            <a:off x="4846320" y="3337560"/>
            <a:ext cx="1600200" cy="274320"/>
          </a:xfrm>
          <a:prstGeom prst="rect">
            <a:avLst/>
          </a:prstGeom>
          <a:noFill/>
          <a:ln/>
        </p:spPr>
        <p:txBody>
          <a:bodyPr wrap="square" lIns="0" tIns="0" rIns="0" bIns="0" rtlCol="0" anchor="ctr"/>
          <a:lstStyle/>
          <a:p>
            <a:pPr algn="ctr" indent="0" marL="0">
              <a:buNone/>
            </a:pPr>
            <a:r>
              <a:rPr lang="en-US" sz="1200" b="1" dirty="0">
                <a:solidFill>
                  <a:schemeClr val="accent1"/>
                </a:solidFill>
              </a:rPr>
              <a:t>FastAPI</a:t>
            </a:r>
            <a:endParaRPr lang="en-US" sz="1200" dirty="0"/>
          </a:p>
        </p:txBody>
      </p:sp>
      <p:sp>
        <p:nvSpPr>
          <p:cNvPr id="23" name="arrow 3"/>
          <p:cNvSpPr/>
          <p:nvPr/>
        </p:nvSpPr>
        <p:spPr>
          <a:xfrm>
            <a:off x="6601968" y="2395728"/>
            <a:ext cx="237744" cy="274320"/>
          </a:xfrm>
          <a:prstGeom prst="rightArrow">
            <a:avLst/>
          </a:prstGeom>
          <a:solidFill>
            <a:schemeClr val="accent6"/>
          </a:solidFill>
          <a:ln w="12700">
            <a:solidFill>
              <a:schemeClr val="accent6"/>
            </a:solidFill>
            <a:prstDash val="solid"/>
          </a:ln>
        </p:spPr>
      </p:sp>
      <p:sp>
        <p:nvSpPr>
          <p:cNvPr id="24" name="part 4 card"/>
          <p:cNvSpPr/>
          <p:nvPr/>
        </p:nvSpPr>
        <p:spPr>
          <a:xfrm>
            <a:off x="6903720" y="1371600"/>
            <a:ext cx="1783080" cy="2331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5" name="part 4 circle"/>
          <p:cNvSpPr/>
          <p:nvPr/>
        </p:nvSpPr>
        <p:spPr>
          <a:xfrm>
            <a:off x="7475220" y="1554480"/>
            <a:ext cx="640080" cy="640080"/>
          </a:xfrm>
          <a:prstGeom prst="ellipse">
            <a:avLst/>
          </a:prstGeom>
          <a:solidFill>
            <a:schemeClr val="accent1"/>
          </a:solidFill>
          <a:ln w="12700">
            <a:solidFill>
              <a:schemeClr val="accent1"/>
            </a:solidFill>
            <a:prstDash val="solid"/>
          </a:ln>
        </p:spPr>
      </p:sp>
      <p:pic>
        <p:nvPicPr>
          <p:cNvPr id="26" name="part 4 icon" descr="part 4">    </p:cNvPr>
          <p:cNvPicPr>
            <a:picLocks noChangeAspect="1"/>
          </p:cNvPicPr>
          <p:nvPr/>
        </p:nvPicPr>
        <p:blipFill>
          <a:blip r:embed="rId4"/>
          <a:stretch>
            <a:fillRect/>
          </a:stretch>
        </p:blipFill>
        <p:spPr>
          <a:xfrm>
            <a:off x="7648042" y="1727302"/>
            <a:ext cx="294437" cy="294437"/>
          </a:xfrm>
          <a:prstGeom prst="rect">
            <a:avLst/>
          </a:prstGeom>
        </p:spPr>
      </p:pic>
      <p:sp>
        <p:nvSpPr>
          <p:cNvPr id="27" name="part 4 name"/>
          <p:cNvSpPr txBox="1"/>
          <p:nvPr/>
        </p:nvSpPr>
        <p:spPr>
          <a:xfrm>
            <a:off x="6995160" y="2286000"/>
            <a:ext cx="1600200" cy="365760"/>
          </a:xfrm>
          <a:prstGeom prst="rect">
            <a:avLst/>
          </a:prstGeom>
          <a:noFill/>
          <a:ln/>
        </p:spPr>
        <p:txBody>
          <a:bodyPr wrap="square" lIns="0" tIns="0" rIns="0" bIns="0" rtlCol="0" anchor="ctr"/>
          <a:lstStyle/>
          <a:p>
            <a:pPr algn="ctr" indent="0" marL="0">
              <a:buNone/>
            </a:pPr>
            <a:r>
              <a:rPr lang="en-US" sz="1800" b="1" dirty="0">
                <a:solidFill>
                  <a:schemeClr val="tx2"/>
                </a:solidFill>
              </a:rPr>
              <a:t>The memory</a:t>
            </a:r>
            <a:endParaRPr lang="en-US" sz="1800" dirty="0"/>
          </a:p>
        </p:txBody>
      </p:sp>
      <p:sp>
        <p:nvSpPr>
          <p:cNvPr id="28" name="part 4 role"/>
          <p:cNvSpPr txBox="1"/>
          <p:nvPr/>
        </p:nvSpPr>
        <p:spPr>
          <a:xfrm>
            <a:off x="7040880" y="2670048"/>
            <a:ext cx="1508760" cy="640080"/>
          </a:xfrm>
          <a:prstGeom prst="rect">
            <a:avLst/>
          </a:prstGeom>
          <a:noFill/>
          <a:ln/>
        </p:spPr>
        <p:txBody>
          <a:bodyPr wrap="square" lIns="0" tIns="0" rIns="0" bIns="0" rtlCol="0" anchor="t"/>
          <a:lstStyle/>
          <a:p>
            <a:pPr algn="ctr" indent="0" marL="0">
              <a:buNone/>
            </a:pPr>
            <a:r>
              <a:rPr lang="en-US" sz="1400" dirty="0">
                <a:solidFill>
                  <a:schemeClr val="tx1"/>
                </a:solidFill>
              </a:rPr>
              <a:t>Stores everything safely</a:t>
            </a:r>
            <a:endParaRPr lang="en-US" sz="1400" dirty="0"/>
          </a:p>
        </p:txBody>
      </p:sp>
      <p:sp>
        <p:nvSpPr>
          <p:cNvPr id="29" name="part 4 tech"/>
          <p:cNvSpPr txBox="1"/>
          <p:nvPr/>
        </p:nvSpPr>
        <p:spPr>
          <a:xfrm>
            <a:off x="6995160" y="3337560"/>
            <a:ext cx="1600200" cy="274320"/>
          </a:xfrm>
          <a:prstGeom prst="rect">
            <a:avLst/>
          </a:prstGeom>
          <a:noFill/>
          <a:ln/>
        </p:spPr>
        <p:txBody>
          <a:bodyPr wrap="square" lIns="0" tIns="0" rIns="0" bIns="0" rtlCol="0" anchor="ctr"/>
          <a:lstStyle/>
          <a:p>
            <a:pPr algn="ctr" indent="0" marL="0">
              <a:buNone/>
            </a:pPr>
            <a:r>
              <a:rPr lang="en-US" sz="1200" b="1" dirty="0">
                <a:solidFill>
                  <a:schemeClr val="accent1"/>
                </a:solidFill>
              </a:rPr>
              <a:t>PostgreSQL</a:t>
            </a:r>
            <a:endParaRPr lang="en-US" sz="1200" dirty="0"/>
          </a:p>
        </p:txBody>
      </p:sp>
      <p:sp>
        <p:nvSpPr>
          <p:cNvPr id="30" name="containers note"/>
          <p:cNvSpPr txBox="1"/>
          <p:nvPr/>
        </p:nvSpPr>
        <p:spPr>
          <a:xfrm>
            <a:off x="457200" y="3977640"/>
            <a:ext cx="8229600" cy="548640"/>
          </a:xfrm>
          <a:prstGeom prst="rect">
            <a:avLst/>
          </a:prstGeom>
          <a:noFill/>
          <a:ln/>
        </p:spPr>
        <p:txBody>
          <a:bodyPr wrap="square" lIns="0" tIns="0" rIns="0" bIns="0" rtlCol="0" anchor="ctr"/>
          <a:lstStyle/>
          <a:p>
            <a:pPr indent="0" marL="0">
              <a:buNone/>
            </a:pPr>
            <a:r>
              <a:rPr lang="en-US" sz="1600" dirty="0">
                <a:solidFill>
                  <a:schemeClr val="tx1"/>
                </a:solidFill>
              </a:rPr>
              <a:t>Each part lives in its own container, so any one of them can be changed or replaced without touching the others.</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How we built it, step by step</a:t>
            </a:r>
            <a:endParaRPr lang="en-US" sz="3400" dirty="0"/>
          </a:p>
        </p:txBody>
      </p:sp>
      <p:sp>
        <p:nvSpPr>
          <p:cNvPr id="3" name="step 1 card"/>
          <p:cNvSpPr/>
          <p:nvPr/>
        </p:nvSpPr>
        <p:spPr>
          <a:xfrm>
            <a:off x="457200" y="1280160"/>
            <a:ext cx="2587752" cy="960120"/>
          </a:xfrm>
          <a:prstGeom prst="roundRect">
            <a:avLst>
              <a:gd name="adj" fmla="val 9524"/>
            </a:avLst>
          </a:prstGeom>
          <a:solidFill>
            <a:schemeClr val="bg2"/>
          </a:solidFill>
          <a:ln w="12700">
            <a:solidFill>
              <a:schemeClr val="bg2"/>
            </a:solidFill>
            <a:prstDash val="solid"/>
          </a:ln>
        </p:spPr>
      </p:sp>
      <p:sp>
        <p:nvSpPr>
          <p:cNvPr id="4" name="step 1 circle"/>
          <p:cNvSpPr/>
          <p:nvPr/>
        </p:nvSpPr>
        <p:spPr>
          <a:xfrm>
            <a:off x="594360" y="1485900"/>
            <a:ext cx="548640" cy="548640"/>
          </a:xfrm>
          <a:prstGeom prst="ellipse">
            <a:avLst/>
          </a:prstGeom>
          <a:solidFill>
            <a:schemeClr val="accent1"/>
          </a:solidFill>
          <a:ln w="12700">
            <a:solidFill>
              <a:schemeClr val="accent1"/>
            </a:solidFill>
            <a:prstDash val="solid"/>
          </a:ln>
        </p:spPr>
      </p:sp>
      <p:pic>
        <p:nvPicPr>
          <p:cNvPr id="5" name="step 1 icon" descr="step 1">    </p:cNvPr>
          <p:cNvPicPr>
            <a:picLocks noChangeAspect="1"/>
          </p:cNvPicPr>
          <p:nvPr/>
        </p:nvPicPr>
        <p:blipFill>
          <a:blip r:embed="rId1"/>
          <a:stretch>
            <a:fillRect/>
          </a:stretch>
        </p:blipFill>
        <p:spPr>
          <a:xfrm>
            <a:off x="742493" y="1634033"/>
            <a:ext cx="252374" cy="252374"/>
          </a:xfrm>
          <a:prstGeom prst="rect">
            <a:avLst/>
          </a:prstGeom>
        </p:spPr>
      </p:pic>
      <p:sp>
        <p:nvSpPr>
          <p:cNvPr id="6" name="step 1 title"/>
          <p:cNvSpPr txBox="1"/>
          <p:nvPr/>
        </p:nvSpPr>
        <p:spPr>
          <a:xfrm>
            <a:off x="1280160" y="1435608"/>
            <a:ext cx="1673352" cy="329184"/>
          </a:xfrm>
          <a:prstGeom prst="rect">
            <a:avLst/>
          </a:prstGeom>
          <a:noFill/>
          <a:ln/>
        </p:spPr>
        <p:txBody>
          <a:bodyPr wrap="square" lIns="0" tIns="0" rIns="0" bIns="0" rtlCol="0" anchor="ctr"/>
          <a:lstStyle/>
          <a:p>
            <a:pPr indent="0" marL="0">
              <a:buNone/>
            </a:pPr>
            <a:r>
              <a:rPr lang="en-US" sz="1600" b="1" dirty="0">
                <a:solidFill>
                  <a:schemeClr val="tx2"/>
                </a:solidFill>
              </a:rPr>
              <a:t>Build the app</a:t>
            </a:r>
            <a:endParaRPr lang="en-US" sz="1600" dirty="0"/>
          </a:p>
        </p:txBody>
      </p:sp>
      <p:sp>
        <p:nvSpPr>
          <p:cNvPr id="7" name="step 1 text"/>
          <p:cNvSpPr txBox="1"/>
          <p:nvPr/>
        </p:nvSpPr>
        <p:spPr>
          <a:xfrm>
            <a:off x="1280160" y="1764792"/>
            <a:ext cx="1673352" cy="365760"/>
          </a:xfrm>
          <a:prstGeom prst="rect">
            <a:avLst/>
          </a:prstGeom>
          <a:noFill/>
          <a:ln/>
        </p:spPr>
        <p:txBody>
          <a:bodyPr wrap="square" lIns="0" tIns="0" rIns="0" bIns="0" rtlCol="0" anchor="t"/>
          <a:lstStyle/>
          <a:p>
            <a:pPr indent="0" marL="0">
              <a:buNone/>
            </a:pPr>
            <a:r>
              <a:rPr lang="en-US" sz="1200" dirty="0">
                <a:solidFill>
                  <a:schemeClr val="tx1"/>
                </a:solidFill>
              </a:rPr>
              <a:t>Screen, brain and memory</a:t>
            </a:r>
            <a:endParaRPr lang="en-US" sz="1200" dirty="0"/>
          </a:p>
        </p:txBody>
      </p:sp>
      <p:sp>
        <p:nvSpPr>
          <p:cNvPr id="8" name="step 2 card"/>
          <p:cNvSpPr/>
          <p:nvPr/>
        </p:nvSpPr>
        <p:spPr>
          <a:xfrm>
            <a:off x="3278124" y="1280160"/>
            <a:ext cx="2587752" cy="960120"/>
          </a:xfrm>
          <a:prstGeom prst="roundRect">
            <a:avLst>
              <a:gd name="adj" fmla="val 9524"/>
            </a:avLst>
          </a:prstGeom>
          <a:solidFill>
            <a:schemeClr val="bg2"/>
          </a:solidFill>
          <a:ln w="12700">
            <a:solidFill>
              <a:schemeClr val="bg2"/>
            </a:solidFill>
            <a:prstDash val="solid"/>
          </a:ln>
        </p:spPr>
      </p:sp>
      <p:sp>
        <p:nvSpPr>
          <p:cNvPr id="9" name="step 2 circle"/>
          <p:cNvSpPr/>
          <p:nvPr/>
        </p:nvSpPr>
        <p:spPr>
          <a:xfrm>
            <a:off x="3415284" y="1485900"/>
            <a:ext cx="548640" cy="548640"/>
          </a:xfrm>
          <a:prstGeom prst="ellipse">
            <a:avLst/>
          </a:prstGeom>
          <a:solidFill>
            <a:schemeClr val="accent1"/>
          </a:solidFill>
          <a:ln w="12700">
            <a:solidFill>
              <a:schemeClr val="accent1"/>
            </a:solidFill>
            <a:prstDash val="solid"/>
          </a:ln>
        </p:spPr>
      </p:sp>
      <p:pic>
        <p:nvPicPr>
          <p:cNvPr id="10" name="step 2 icon" descr="step 2">    </p:cNvPr>
          <p:cNvPicPr>
            <a:picLocks noChangeAspect="1"/>
          </p:cNvPicPr>
          <p:nvPr/>
        </p:nvPicPr>
        <p:blipFill>
          <a:blip r:embed="rId2"/>
          <a:stretch>
            <a:fillRect/>
          </a:stretch>
        </p:blipFill>
        <p:spPr>
          <a:xfrm>
            <a:off x="3563417" y="1634033"/>
            <a:ext cx="252374" cy="252374"/>
          </a:xfrm>
          <a:prstGeom prst="rect">
            <a:avLst/>
          </a:prstGeom>
        </p:spPr>
      </p:pic>
      <p:sp>
        <p:nvSpPr>
          <p:cNvPr id="11" name="step 2 title"/>
          <p:cNvSpPr txBox="1"/>
          <p:nvPr/>
        </p:nvSpPr>
        <p:spPr>
          <a:xfrm>
            <a:off x="4101084" y="1435608"/>
            <a:ext cx="1673352" cy="329184"/>
          </a:xfrm>
          <a:prstGeom prst="rect">
            <a:avLst/>
          </a:prstGeom>
          <a:noFill/>
          <a:ln/>
        </p:spPr>
        <p:txBody>
          <a:bodyPr wrap="square" lIns="0" tIns="0" rIns="0" bIns="0" rtlCol="0" anchor="ctr"/>
          <a:lstStyle/>
          <a:p>
            <a:pPr indent="0" marL="0">
              <a:buNone/>
            </a:pPr>
            <a:r>
              <a:rPr lang="en-US" sz="1600" b="1" dirty="0">
                <a:solidFill>
                  <a:schemeClr val="tx2"/>
                </a:solidFill>
              </a:rPr>
              <a:t>Test it</a:t>
            </a:r>
            <a:endParaRPr lang="en-US" sz="1600" dirty="0"/>
          </a:p>
        </p:txBody>
      </p:sp>
      <p:sp>
        <p:nvSpPr>
          <p:cNvPr id="12" name="step 2 text"/>
          <p:cNvSpPr txBox="1"/>
          <p:nvPr/>
        </p:nvSpPr>
        <p:spPr>
          <a:xfrm>
            <a:off x="4101084" y="1764792"/>
            <a:ext cx="1673352" cy="365760"/>
          </a:xfrm>
          <a:prstGeom prst="rect">
            <a:avLst/>
          </a:prstGeom>
          <a:noFill/>
          <a:ln/>
        </p:spPr>
        <p:txBody>
          <a:bodyPr wrap="square" lIns="0" tIns="0" rIns="0" bIns="0" rtlCol="0" anchor="t"/>
          <a:lstStyle/>
          <a:p>
            <a:pPr indent="0" marL="0">
              <a:buNone/>
            </a:pPr>
            <a:r>
              <a:rPr lang="en-US" sz="1200" dirty="0">
                <a:solidFill>
                  <a:schemeClr val="tx1"/>
                </a:solidFill>
              </a:rPr>
              <a:t>31 automatic checks</a:t>
            </a:r>
            <a:endParaRPr lang="en-US" sz="1200" dirty="0"/>
          </a:p>
        </p:txBody>
      </p:sp>
      <p:sp>
        <p:nvSpPr>
          <p:cNvPr id="13" name="step 3 card"/>
          <p:cNvSpPr/>
          <p:nvPr/>
        </p:nvSpPr>
        <p:spPr>
          <a:xfrm>
            <a:off x="6099048" y="1280160"/>
            <a:ext cx="2587752" cy="960120"/>
          </a:xfrm>
          <a:prstGeom prst="roundRect">
            <a:avLst>
              <a:gd name="adj" fmla="val 9524"/>
            </a:avLst>
          </a:prstGeom>
          <a:solidFill>
            <a:schemeClr val="bg2"/>
          </a:solidFill>
          <a:ln w="12700">
            <a:solidFill>
              <a:schemeClr val="bg2"/>
            </a:solidFill>
            <a:prstDash val="solid"/>
          </a:ln>
        </p:spPr>
      </p:sp>
      <p:sp>
        <p:nvSpPr>
          <p:cNvPr id="14" name="step 3 circle"/>
          <p:cNvSpPr/>
          <p:nvPr/>
        </p:nvSpPr>
        <p:spPr>
          <a:xfrm>
            <a:off x="6236208" y="1485900"/>
            <a:ext cx="548640" cy="548640"/>
          </a:xfrm>
          <a:prstGeom prst="ellipse">
            <a:avLst/>
          </a:prstGeom>
          <a:solidFill>
            <a:schemeClr val="accent1"/>
          </a:solidFill>
          <a:ln w="12700">
            <a:solidFill>
              <a:schemeClr val="accent1"/>
            </a:solidFill>
            <a:prstDash val="solid"/>
          </a:ln>
        </p:spPr>
      </p:sp>
      <p:pic>
        <p:nvPicPr>
          <p:cNvPr id="15" name="step 3 icon" descr="step 3">    </p:cNvPr>
          <p:cNvPicPr>
            <a:picLocks noChangeAspect="1"/>
          </p:cNvPicPr>
          <p:nvPr/>
        </p:nvPicPr>
        <p:blipFill>
          <a:blip r:embed="rId3"/>
          <a:stretch>
            <a:fillRect/>
          </a:stretch>
        </p:blipFill>
        <p:spPr>
          <a:xfrm>
            <a:off x="6384341" y="1634033"/>
            <a:ext cx="252374" cy="252374"/>
          </a:xfrm>
          <a:prstGeom prst="rect">
            <a:avLst/>
          </a:prstGeom>
        </p:spPr>
      </p:pic>
      <p:sp>
        <p:nvSpPr>
          <p:cNvPr id="16" name="step 3 title"/>
          <p:cNvSpPr txBox="1"/>
          <p:nvPr/>
        </p:nvSpPr>
        <p:spPr>
          <a:xfrm>
            <a:off x="6922008" y="1435608"/>
            <a:ext cx="1673352" cy="329184"/>
          </a:xfrm>
          <a:prstGeom prst="rect">
            <a:avLst/>
          </a:prstGeom>
          <a:noFill/>
          <a:ln/>
        </p:spPr>
        <p:txBody>
          <a:bodyPr wrap="square" lIns="0" tIns="0" rIns="0" bIns="0" rtlCol="0" anchor="ctr"/>
          <a:lstStyle/>
          <a:p>
            <a:pPr indent="0" marL="0">
              <a:buNone/>
            </a:pPr>
            <a:r>
              <a:rPr lang="en-US" sz="1600" b="1" dirty="0">
                <a:solidFill>
                  <a:schemeClr val="tx2"/>
                </a:solidFill>
              </a:rPr>
              <a:t>Save the history</a:t>
            </a:r>
            <a:endParaRPr lang="en-US" sz="1600" dirty="0"/>
          </a:p>
        </p:txBody>
      </p:sp>
      <p:sp>
        <p:nvSpPr>
          <p:cNvPr id="17" name="step 3 text"/>
          <p:cNvSpPr txBox="1"/>
          <p:nvPr/>
        </p:nvSpPr>
        <p:spPr>
          <a:xfrm>
            <a:off x="6922008" y="1764792"/>
            <a:ext cx="1673352" cy="365760"/>
          </a:xfrm>
          <a:prstGeom prst="rect">
            <a:avLst/>
          </a:prstGeom>
          <a:noFill/>
          <a:ln/>
        </p:spPr>
        <p:txBody>
          <a:bodyPr wrap="square" lIns="0" tIns="0" rIns="0" bIns="0" rtlCol="0" anchor="t"/>
          <a:lstStyle/>
          <a:p>
            <a:pPr indent="0" marL="0">
              <a:buNone/>
            </a:pPr>
            <a:r>
              <a:rPr lang="en-US" sz="1200" dirty="0">
                <a:solidFill>
                  <a:schemeClr val="tx1"/>
                </a:solidFill>
              </a:rPr>
              <a:t>Git and GitHub</a:t>
            </a:r>
            <a:endParaRPr lang="en-US" sz="1200" dirty="0"/>
          </a:p>
        </p:txBody>
      </p:sp>
      <p:sp>
        <p:nvSpPr>
          <p:cNvPr id="18" name="step 4 card"/>
          <p:cNvSpPr/>
          <p:nvPr/>
        </p:nvSpPr>
        <p:spPr>
          <a:xfrm>
            <a:off x="457200" y="2395728"/>
            <a:ext cx="2587752" cy="960120"/>
          </a:xfrm>
          <a:prstGeom prst="roundRect">
            <a:avLst>
              <a:gd name="adj" fmla="val 9524"/>
            </a:avLst>
          </a:prstGeom>
          <a:solidFill>
            <a:schemeClr val="bg2"/>
          </a:solidFill>
          <a:ln w="12700">
            <a:solidFill>
              <a:schemeClr val="bg2"/>
            </a:solidFill>
            <a:prstDash val="solid"/>
          </a:ln>
        </p:spPr>
      </p:sp>
      <p:sp>
        <p:nvSpPr>
          <p:cNvPr id="19" name="step 4 circle"/>
          <p:cNvSpPr/>
          <p:nvPr/>
        </p:nvSpPr>
        <p:spPr>
          <a:xfrm>
            <a:off x="594360" y="2601468"/>
            <a:ext cx="548640" cy="548640"/>
          </a:xfrm>
          <a:prstGeom prst="ellipse">
            <a:avLst/>
          </a:prstGeom>
          <a:solidFill>
            <a:schemeClr val="accent1"/>
          </a:solidFill>
          <a:ln w="12700">
            <a:solidFill>
              <a:schemeClr val="accent1"/>
            </a:solidFill>
            <a:prstDash val="solid"/>
          </a:ln>
        </p:spPr>
      </p:sp>
      <p:pic>
        <p:nvPicPr>
          <p:cNvPr id="20" name="step 4 icon" descr="step 4">    </p:cNvPr>
          <p:cNvPicPr>
            <a:picLocks noChangeAspect="1"/>
          </p:cNvPicPr>
          <p:nvPr/>
        </p:nvPicPr>
        <p:blipFill>
          <a:blip r:embed="rId4"/>
          <a:stretch>
            <a:fillRect/>
          </a:stretch>
        </p:blipFill>
        <p:spPr>
          <a:xfrm>
            <a:off x="742493" y="2749601"/>
            <a:ext cx="252374" cy="252374"/>
          </a:xfrm>
          <a:prstGeom prst="rect">
            <a:avLst/>
          </a:prstGeom>
        </p:spPr>
      </p:pic>
      <p:sp>
        <p:nvSpPr>
          <p:cNvPr id="21" name="step 4 title"/>
          <p:cNvSpPr txBox="1"/>
          <p:nvPr/>
        </p:nvSpPr>
        <p:spPr>
          <a:xfrm>
            <a:off x="1280160" y="2551176"/>
            <a:ext cx="1673352" cy="329184"/>
          </a:xfrm>
          <a:prstGeom prst="rect">
            <a:avLst/>
          </a:prstGeom>
          <a:noFill/>
          <a:ln/>
        </p:spPr>
        <p:txBody>
          <a:bodyPr wrap="square" lIns="0" tIns="0" rIns="0" bIns="0" rtlCol="0" anchor="ctr"/>
          <a:lstStyle/>
          <a:p>
            <a:pPr indent="0" marL="0">
              <a:buNone/>
            </a:pPr>
            <a:r>
              <a:rPr lang="en-US" sz="1600" b="1" dirty="0">
                <a:solidFill>
                  <a:schemeClr val="tx2"/>
                </a:solidFill>
              </a:rPr>
              <a:t>Package it</a:t>
            </a:r>
            <a:endParaRPr lang="en-US" sz="1600" dirty="0"/>
          </a:p>
        </p:txBody>
      </p:sp>
      <p:sp>
        <p:nvSpPr>
          <p:cNvPr id="22" name="step 4 text"/>
          <p:cNvSpPr txBox="1"/>
          <p:nvPr/>
        </p:nvSpPr>
        <p:spPr>
          <a:xfrm>
            <a:off x="1280160" y="2880360"/>
            <a:ext cx="1673352" cy="365760"/>
          </a:xfrm>
          <a:prstGeom prst="rect">
            <a:avLst/>
          </a:prstGeom>
          <a:noFill/>
          <a:ln/>
        </p:spPr>
        <p:txBody>
          <a:bodyPr wrap="square" lIns="0" tIns="0" rIns="0" bIns="0" rtlCol="0" anchor="t"/>
          <a:lstStyle/>
          <a:p>
            <a:pPr indent="0" marL="0">
              <a:buNone/>
            </a:pPr>
            <a:r>
              <a:rPr lang="en-US" sz="1200" dirty="0">
                <a:solidFill>
                  <a:schemeClr val="tx1"/>
                </a:solidFill>
              </a:rPr>
              <a:t>Containers run anywhere</a:t>
            </a:r>
            <a:endParaRPr lang="en-US" sz="1200" dirty="0"/>
          </a:p>
        </p:txBody>
      </p:sp>
      <p:sp>
        <p:nvSpPr>
          <p:cNvPr id="23" name="step 5 card"/>
          <p:cNvSpPr/>
          <p:nvPr/>
        </p:nvSpPr>
        <p:spPr>
          <a:xfrm>
            <a:off x="3278124" y="2395728"/>
            <a:ext cx="2587752" cy="960120"/>
          </a:xfrm>
          <a:prstGeom prst="roundRect">
            <a:avLst>
              <a:gd name="adj" fmla="val 9524"/>
            </a:avLst>
          </a:prstGeom>
          <a:solidFill>
            <a:schemeClr val="bg2"/>
          </a:solidFill>
          <a:ln w="12700">
            <a:solidFill>
              <a:schemeClr val="bg2"/>
            </a:solidFill>
            <a:prstDash val="solid"/>
          </a:ln>
        </p:spPr>
      </p:sp>
      <p:sp>
        <p:nvSpPr>
          <p:cNvPr id="24" name="step 5 circle"/>
          <p:cNvSpPr/>
          <p:nvPr/>
        </p:nvSpPr>
        <p:spPr>
          <a:xfrm>
            <a:off x="3415284" y="2601468"/>
            <a:ext cx="548640" cy="548640"/>
          </a:xfrm>
          <a:prstGeom prst="ellipse">
            <a:avLst/>
          </a:prstGeom>
          <a:solidFill>
            <a:schemeClr val="accent1"/>
          </a:solidFill>
          <a:ln w="12700">
            <a:solidFill>
              <a:schemeClr val="accent1"/>
            </a:solidFill>
            <a:prstDash val="solid"/>
          </a:ln>
        </p:spPr>
      </p:sp>
      <p:pic>
        <p:nvPicPr>
          <p:cNvPr id="25" name="step 5 icon" descr="step 5">    </p:cNvPr>
          <p:cNvPicPr>
            <a:picLocks noChangeAspect="1"/>
          </p:cNvPicPr>
          <p:nvPr/>
        </p:nvPicPr>
        <p:blipFill>
          <a:blip r:embed="rId5"/>
          <a:stretch>
            <a:fillRect/>
          </a:stretch>
        </p:blipFill>
        <p:spPr>
          <a:xfrm>
            <a:off x="3563417" y="2749601"/>
            <a:ext cx="252374" cy="252374"/>
          </a:xfrm>
          <a:prstGeom prst="rect">
            <a:avLst/>
          </a:prstGeom>
        </p:spPr>
      </p:pic>
      <p:sp>
        <p:nvSpPr>
          <p:cNvPr id="26" name="step 5 title"/>
          <p:cNvSpPr txBox="1"/>
          <p:nvPr/>
        </p:nvSpPr>
        <p:spPr>
          <a:xfrm>
            <a:off x="4101084" y="2551176"/>
            <a:ext cx="1673352" cy="329184"/>
          </a:xfrm>
          <a:prstGeom prst="rect">
            <a:avLst/>
          </a:prstGeom>
          <a:noFill/>
          <a:ln/>
        </p:spPr>
        <p:txBody>
          <a:bodyPr wrap="square" lIns="0" tIns="0" rIns="0" bIns="0" rtlCol="0" anchor="ctr"/>
          <a:lstStyle/>
          <a:p>
            <a:pPr indent="0" marL="0">
              <a:buNone/>
            </a:pPr>
            <a:r>
              <a:rPr lang="en-US" sz="1600" b="1" dirty="0">
                <a:solidFill>
                  <a:schemeClr val="tx2"/>
                </a:solidFill>
              </a:rPr>
              <a:t>Automate it</a:t>
            </a:r>
            <a:endParaRPr lang="en-US" sz="1600" dirty="0"/>
          </a:p>
        </p:txBody>
      </p:sp>
      <p:sp>
        <p:nvSpPr>
          <p:cNvPr id="27" name="step 5 text"/>
          <p:cNvSpPr txBox="1"/>
          <p:nvPr/>
        </p:nvSpPr>
        <p:spPr>
          <a:xfrm>
            <a:off x="4101084" y="2880360"/>
            <a:ext cx="1673352" cy="365760"/>
          </a:xfrm>
          <a:prstGeom prst="rect">
            <a:avLst/>
          </a:prstGeom>
          <a:noFill/>
          <a:ln/>
        </p:spPr>
        <p:txBody>
          <a:bodyPr wrap="square" lIns="0" tIns="0" rIns="0" bIns="0" rtlCol="0" anchor="t"/>
          <a:lstStyle/>
          <a:p>
            <a:pPr indent="0" marL="0">
              <a:buNone/>
            </a:pPr>
            <a:r>
              <a:rPr lang="en-US" sz="1200" dirty="0">
                <a:solidFill>
                  <a:schemeClr val="tx1"/>
                </a:solidFill>
              </a:rPr>
              <a:t>Every push is checked and built</a:t>
            </a:r>
            <a:endParaRPr lang="en-US" sz="1200" dirty="0"/>
          </a:p>
        </p:txBody>
      </p:sp>
      <p:sp>
        <p:nvSpPr>
          <p:cNvPr id="28" name="step 6 card"/>
          <p:cNvSpPr/>
          <p:nvPr/>
        </p:nvSpPr>
        <p:spPr>
          <a:xfrm>
            <a:off x="6099048" y="2395728"/>
            <a:ext cx="2587752" cy="960120"/>
          </a:xfrm>
          <a:prstGeom prst="roundRect">
            <a:avLst>
              <a:gd name="adj" fmla="val 9524"/>
            </a:avLst>
          </a:prstGeom>
          <a:solidFill>
            <a:schemeClr val="bg2"/>
          </a:solidFill>
          <a:ln w="12700">
            <a:solidFill>
              <a:schemeClr val="bg2"/>
            </a:solidFill>
            <a:prstDash val="solid"/>
          </a:ln>
        </p:spPr>
      </p:sp>
      <p:sp>
        <p:nvSpPr>
          <p:cNvPr id="29" name="step 6 circle"/>
          <p:cNvSpPr/>
          <p:nvPr/>
        </p:nvSpPr>
        <p:spPr>
          <a:xfrm>
            <a:off x="6236208" y="2601468"/>
            <a:ext cx="548640" cy="548640"/>
          </a:xfrm>
          <a:prstGeom prst="ellipse">
            <a:avLst/>
          </a:prstGeom>
          <a:solidFill>
            <a:schemeClr val="accent1"/>
          </a:solidFill>
          <a:ln w="12700">
            <a:solidFill>
              <a:schemeClr val="accent1"/>
            </a:solidFill>
            <a:prstDash val="solid"/>
          </a:ln>
        </p:spPr>
      </p:sp>
      <p:pic>
        <p:nvPicPr>
          <p:cNvPr id="30" name="step 6 icon" descr="step 6">    </p:cNvPr>
          <p:cNvPicPr>
            <a:picLocks noChangeAspect="1"/>
          </p:cNvPicPr>
          <p:nvPr/>
        </p:nvPicPr>
        <p:blipFill>
          <a:blip r:embed="rId6"/>
          <a:stretch>
            <a:fillRect/>
          </a:stretch>
        </p:blipFill>
        <p:spPr>
          <a:xfrm>
            <a:off x="6384341" y="2749601"/>
            <a:ext cx="252374" cy="252374"/>
          </a:xfrm>
          <a:prstGeom prst="rect">
            <a:avLst/>
          </a:prstGeom>
        </p:spPr>
      </p:pic>
      <p:sp>
        <p:nvSpPr>
          <p:cNvPr id="31" name="step 6 title"/>
          <p:cNvSpPr txBox="1"/>
          <p:nvPr/>
        </p:nvSpPr>
        <p:spPr>
          <a:xfrm>
            <a:off x="6922008" y="2551176"/>
            <a:ext cx="1673352" cy="329184"/>
          </a:xfrm>
          <a:prstGeom prst="rect">
            <a:avLst/>
          </a:prstGeom>
          <a:noFill/>
          <a:ln/>
        </p:spPr>
        <p:txBody>
          <a:bodyPr wrap="square" lIns="0" tIns="0" rIns="0" bIns="0" rtlCol="0" anchor="ctr"/>
          <a:lstStyle/>
          <a:p>
            <a:pPr indent="0" marL="0">
              <a:buNone/>
            </a:pPr>
            <a:r>
              <a:rPr lang="en-US" sz="1600" b="1" dirty="0">
                <a:solidFill>
                  <a:schemeClr val="tx2"/>
                </a:solidFill>
              </a:rPr>
              <a:t>Scan for risks</a:t>
            </a:r>
            <a:endParaRPr lang="en-US" sz="1600" dirty="0"/>
          </a:p>
        </p:txBody>
      </p:sp>
      <p:sp>
        <p:nvSpPr>
          <p:cNvPr id="32" name="step 6 text"/>
          <p:cNvSpPr txBox="1"/>
          <p:nvPr/>
        </p:nvSpPr>
        <p:spPr>
          <a:xfrm>
            <a:off x="6922008" y="2880360"/>
            <a:ext cx="1673352" cy="365760"/>
          </a:xfrm>
          <a:prstGeom prst="rect">
            <a:avLst/>
          </a:prstGeom>
          <a:noFill/>
          <a:ln/>
        </p:spPr>
        <p:txBody>
          <a:bodyPr wrap="square" lIns="0" tIns="0" rIns="0" bIns="0" rtlCol="0" anchor="t"/>
          <a:lstStyle/>
          <a:p>
            <a:pPr indent="0" marL="0">
              <a:buNone/>
            </a:pPr>
            <a:r>
              <a:rPr lang="en-US" sz="1200" dirty="0">
                <a:solidFill>
                  <a:schemeClr val="tx1"/>
                </a:solidFill>
              </a:rPr>
              <a:t>Trivy looks for security holes</a:t>
            </a:r>
            <a:endParaRPr lang="en-US" sz="1200" dirty="0"/>
          </a:p>
        </p:txBody>
      </p:sp>
      <p:sp>
        <p:nvSpPr>
          <p:cNvPr id="33" name="step 7 card"/>
          <p:cNvSpPr/>
          <p:nvPr/>
        </p:nvSpPr>
        <p:spPr>
          <a:xfrm>
            <a:off x="457200" y="3511296"/>
            <a:ext cx="2587752" cy="960120"/>
          </a:xfrm>
          <a:prstGeom prst="roundRect">
            <a:avLst>
              <a:gd name="adj" fmla="val 9524"/>
            </a:avLst>
          </a:prstGeom>
          <a:solidFill>
            <a:schemeClr val="bg2"/>
          </a:solidFill>
          <a:ln w="12700">
            <a:solidFill>
              <a:schemeClr val="bg2"/>
            </a:solidFill>
            <a:prstDash val="solid"/>
          </a:ln>
        </p:spPr>
      </p:sp>
      <p:sp>
        <p:nvSpPr>
          <p:cNvPr id="34" name="step 7 circle"/>
          <p:cNvSpPr/>
          <p:nvPr/>
        </p:nvSpPr>
        <p:spPr>
          <a:xfrm>
            <a:off x="594360" y="3717036"/>
            <a:ext cx="548640" cy="548640"/>
          </a:xfrm>
          <a:prstGeom prst="ellipse">
            <a:avLst/>
          </a:prstGeom>
          <a:solidFill>
            <a:schemeClr val="accent1"/>
          </a:solidFill>
          <a:ln w="12700">
            <a:solidFill>
              <a:schemeClr val="accent1"/>
            </a:solidFill>
            <a:prstDash val="solid"/>
          </a:ln>
        </p:spPr>
      </p:sp>
      <p:pic>
        <p:nvPicPr>
          <p:cNvPr id="35" name="step 7 icon" descr="step 7">    </p:cNvPr>
          <p:cNvPicPr>
            <a:picLocks noChangeAspect="1"/>
          </p:cNvPicPr>
          <p:nvPr/>
        </p:nvPicPr>
        <p:blipFill>
          <a:blip r:embed="rId7"/>
          <a:stretch>
            <a:fillRect/>
          </a:stretch>
        </p:blipFill>
        <p:spPr>
          <a:xfrm>
            <a:off x="742493" y="3865169"/>
            <a:ext cx="252374" cy="252374"/>
          </a:xfrm>
          <a:prstGeom prst="rect">
            <a:avLst/>
          </a:prstGeom>
        </p:spPr>
      </p:pic>
      <p:sp>
        <p:nvSpPr>
          <p:cNvPr id="36" name="step 7 title"/>
          <p:cNvSpPr txBox="1"/>
          <p:nvPr/>
        </p:nvSpPr>
        <p:spPr>
          <a:xfrm>
            <a:off x="1280160" y="3666744"/>
            <a:ext cx="1673352" cy="329184"/>
          </a:xfrm>
          <a:prstGeom prst="rect">
            <a:avLst/>
          </a:prstGeom>
          <a:noFill/>
          <a:ln/>
        </p:spPr>
        <p:txBody>
          <a:bodyPr wrap="square" lIns="0" tIns="0" rIns="0" bIns="0" rtlCol="0" anchor="ctr"/>
          <a:lstStyle/>
          <a:p>
            <a:pPr indent="0" marL="0">
              <a:buNone/>
            </a:pPr>
            <a:r>
              <a:rPr lang="en-US" sz="1600" b="1" dirty="0">
                <a:solidFill>
                  <a:schemeClr val="tx2"/>
                </a:solidFill>
              </a:rPr>
              <a:t>Plan the cloud</a:t>
            </a:r>
            <a:endParaRPr lang="en-US" sz="1600" dirty="0"/>
          </a:p>
        </p:txBody>
      </p:sp>
      <p:sp>
        <p:nvSpPr>
          <p:cNvPr id="37" name="step 7 text"/>
          <p:cNvSpPr txBox="1"/>
          <p:nvPr/>
        </p:nvSpPr>
        <p:spPr>
          <a:xfrm>
            <a:off x="1280160" y="3995928"/>
            <a:ext cx="1673352" cy="365760"/>
          </a:xfrm>
          <a:prstGeom prst="rect">
            <a:avLst/>
          </a:prstGeom>
          <a:noFill/>
          <a:ln/>
        </p:spPr>
        <p:txBody>
          <a:bodyPr wrap="square" lIns="0" tIns="0" rIns="0" bIns="0" rtlCol="0" anchor="t"/>
          <a:lstStyle/>
          <a:p>
            <a:pPr indent="0" marL="0">
              <a:buNone/>
            </a:pPr>
            <a:r>
              <a:rPr lang="en-US" sz="1200" dirty="0">
                <a:solidFill>
                  <a:schemeClr val="tx1"/>
                </a:solidFill>
              </a:rPr>
              <a:t>Terraform describes AWS as code</a:t>
            </a:r>
            <a:endParaRPr lang="en-US" sz="1200" dirty="0"/>
          </a:p>
        </p:txBody>
      </p:sp>
      <p:sp>
        <p:nvSpPr>
          <p:cNvPr id="38" name="step 8 card"/>
          <p:cNvSpPr/>
          <p:nvPr/>
        </p:nvSpPr>
        <p:spPr>
          <a:xfrm>
            <a:off x="3278124" y="3511296"/>
            <a:ext cx="2587752" cy="960120"/>
          </a:xfrm>
          <a:prstGeom prst="roundRect">
            <a:avLst>
              <a:gd name="adj" fmla="val 9524"/>
            </a:avLst>
          </a:prstGeom>
          <a:solidFill>
            <a:schemeClr val="bg2"/>
          </a:solidFill>
          <a:ln w="12700">
            <a:solidFill>
              <a:schemeClr val="bg2"/>
            </a:solidFill>
            <a:prstDash val="solid"/>
          </a:ln>
        </p:spPr>
      </p:sp>
      <p:sp>
        <p:nvSpPr>
          <p:cNvPr id="39" name="step 8 circle"/>
          <p:cNvSpPr/>
          <p:nvPr/>
        </p:nvSpPr>
        <p:spPr>
          <a:xfrm>
            <a:off x="3415284" y="3717036"/>
            <a:ext cx="548640" cy="548640"/>
          </a:xfrm>
          <a:prstGeom prst="ellipse">
            <a:avLst/>
          </a:prstGeom>
          <a:solidFill>
            <a:schemeClr val="accent1"/>
          </a:solidFill>
          <a:ln w="12700">
            <a:solidFill>
              <a:schemeClr val="accent1"/>
            </a:solidFill>
            <a:prstDash val="solid"/>
          </a:ln>
        </p:spPr>
      </p:sp>
      <p:pic>
        <p:nvPicPr>
          <p:cNvPr id="40" name="step 8 icon" descr="step 8">    </p:cNvPr>
          <p:cNvPicPr>
            <a:picLocks noChangeAspect="1"/>
          </p:cNvPicPr>
          <p:nvPr/>
        </p:nvPicPr>
        <p:blipFill>
          <a:blip r:embed="rId8"/>
          <a:stretch>
            <a:fillRect/>
          </a:stretch>
        </p:blipFill>
        <p:spPr>
          <a:xfrm>
            <a:off x="3563417" y="3865169"/>
            <a:ext cx="252374" cy="252374"/>
          </a:xfrm>
          <a:prstGeom prst="rect">
            <a:avLst/>
          </a:prstGeom>
        </p:spPr>
      </p:pic>
      <p:sp>
        <p:nvSpPr>
          <p:cNvPr id="41" name="step 8 title"/>
          <p:cNvSpPr txBox="1"/>
          <p:nvPr/>
        </p:nvSpPr>
        <p:spPr>
          <a:xfrm>
            <a:off x="4101084" y="3666744"/>
            <a:ext cx="1673352" cy="329184"/>
          </a:xfrm>
          <a:prstGeom prst="rect">
            <a:avLst/>
          </a:prstGeom>
          <a:noFill/>
          <a:ln/>
        </p:spPr>
        <p:txBody>
          <a:bodyPr wrap="square" lIns="0" tIns="0" rIns="0" bIns="0" rtlCol="0" anchor="ctr"/>
          <a:lstStyle/>
          <a:p>
            <a:pPr indent="0" marL="0">
              <a:buNone/>
            </a:pPr>
            <a:r>
              <a:rPr lang="en-US" sz="1600" b="1" dirty="0">
                <a:solidFill>
                  <a:schemeClr val="tx2"/>
                </a:solidFill>
              </a:rPr>
              <a:t>Run it at scale</a:t>
            </a:r>
            <a:endParaRPr lang="en-US" sz="1600" dirty="0"/>
          </a:p>
        </p:txBody>
      </p:sp>
      <p:sp>
        <p:nvSpPr>
          <p:cNvPr id="42" name="step 8 text"/>
          <p:cNvSpPr txBox="1"/>
          <p:nvPr/>
        </p:nvSpPr>
        <p:spPr>
          <a:xfrm>
            <a:off x="4101084" y="3995928"/>
            <a:ext cx="1673352" cy="365760"/>
          </a:xfrm>
          <a:prstGeom prst="rect">
            <a:avLst/>
          </a:prstGeom>
          <a:noFill/>
          <a:ln/>
        </p:spPr>
        <p:txBody>
          <a:bodyPr wrap="square" lIns="0" tIns="0" rIns="0" bIns="0" rtlCol="0" anchor="t"/>
          <a:lstStyle/>
          <a:p>
            <a:pPr indent="0" marL="0">
              <a:buNone/>
            </a:pPr>
            <a:r>
              <a:rPr lang="en-US" sz="1200" dirty="0">
                <a:solidFill>
                  <a:schemeClr val="tx1"/>
                </a:solidFill>
              </a:rPr>
              <a:t>Kubernetes keeps copies alive</a:t>
            </a:r>
            <a:endParaRPr lang="en-US" sz="1200" dirty="0"/>
          </a:p>
        </p:txBody>
      </p:sp>
      <p:sp>
        <p:nvSpPr>
          <p:cNvPr id="43" name="step 9 card"/>
          <p:cNvSpPr/>
          <p:nvPr/>
        </p:nvSpPr>
        <p:spPr>
          <a:xfrm>
            <a:off x="6099048" y="3511296"/>
            <a:ext cx="2587752" cy="960120"/>
          </a:xfrm>
          <a:prstGeom prst="roundRect">
            <a:avLst>
              <a:gd name="adj" fmla="val 9524"/>
            </a:avLst>
          </a:prstGeom>
          <a:solidFill>
            <a:schemeClr val="bg2"/>
          </a:solidFill>
          <a:ln w="12700">
            <a:solidFill>
              <a:schemeClr val="bg2"/>
            </a:solidFill>
            <a:prstDash val="solid"/>
          </a:ln>
        </p:spPr>
      </p:sp>
      <p:sp>
        <p:nvSpPr>
          <p:cNvPr id="44" name="step 9 circle"/>
          <p:cNvSpPr/>
          <p:nvPr/>
        </p:nvSpPr>
        <p:spPr>
          <a:xfrm>
            <a:off x="6236208" y="3717036"/>
            <a:ext cx="548640" cy="548640"/>
          </a:xfrm>
          <a:prstGeom prst="ellipse">
            <a:avLst/>
          </a:prstGeom>
          <a:solidFill>
            <a:schemeClr val="accent1"/>
          </a:solidFill>
          <a:ln w="12700">
            <a:solidFill>
              <a:schemeClr val="accent1"/>
            </a:solidFill>
            <a:prstDash val="solid"/>
          </a:ln>
        </p:spPr>
      </p:sp>
      <p:pic>
        <p:nvPicPr>
          <p:cNvPr id="45" name="step 9 icon" descr="step 9">    </p:cNvPr>
          <p:cNvPicPr>
            <a:picLocks noChangeAspect="1"/>
          </p:cNvPicPr>
          <p:nvPr/>
        </p:nvPicPr>
        <p:blipFill>
          <a:blip r:embed="rId9"/>
          <a:stretch>
            <a:fillRect/>
          </a:stretch>
        </p:blipFill>
        <p:spPr>
          <a:xfrm>
            <a:off x="6384341" y="3865169"/>
            <a:ext cx="252374" cy="252374"/>
          </a:xfrm>
          <a:prstGeom prst="rect">
            <a:avLst/>
          </a:prstGeom>
        </p:spPr>
      </p:pic>
      <p:sp>
        <p:nvSpPr>
          <p:cNvPr id="46" name="step 9 title"/>
          <p:cNvSpPr txBox="1"/>
          <p:nvPr/>
        </p:nvSpPr>
        <p:spPr>
          <a:xfrm>
            <a:off x="6922008" y="3666744"/>
            <a:ext cx="1673352" cy="329184"/>
          </a:xfrm>
          <a:prstGeom prst="rect">
            <a:avLst/>
          </a:prstGeom>
          <a:noFill/>
          <a:ln/>
        </p:spPr>
        <p:txBody>
          <a:bodyPr wrap="square" lIns="0" tIns="0" rIns="0" bIns="0" rtlCol="0" anchor="ctr"/>
          <a:lstStyle/>
          <a:p>
            <a:pPr indent="0" marL="0">
              <a:buNone/>
            </a:pPr>
            <a:r>
              <a:rPr lang="en-US" sz="1600" b="1" dirty="0">
                <a:solidFill>
                  <a:schemeClr val="tx2"/>
                </a:solidFill>
              </a:rPr>
              <a:t>Watch it</a:t>
            </a:r>
            <a:endParaRPr lang="en-US" sz="1600" dirty="0"/>
          </a:p>
        </p:txBody>
      </p:sp>
      <p:sp>
        <p:nvSpPr>
          <p:cNvPr id="47" name="step 9 text"/>
          <p:cNvSpPr txBox="1"/>
          <p:nvPr/>
        </p:nvSpPr>
        <p:spPr>
          <a:xfrm>
            <a:off x="6922008" y="3995928"/>
            <a:ext cx="1673352" cy="365760"/>
          </a:xfrm>
          <a:prstGeom prst="rect">
            <a:avLst/>
          </a:prstGeom>
          <a:noFill/>
          <a:ln/>
        </p:spPr>
        <p:txBody>
          <a:bodyPr wrap="square" lIns="0" tIns="0" rIns="0" bIns="0" rtlCol="0" anchor="t"/>
          <a:lstStyle/>
          <a:p>
            <a:pPr indent="0" marL="0">
              <a:buNone/>
            </a:pPr>
            <a:r>
              <a:rPr lang="en-US" sz="1200" dirty="0">
                <a:solidFill>
                  <a:schemeClr val="tx1"/>
                </a:solidFill>
              </a:rPr>
              <a:t>Prometheus and Grafana</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Why these choices?</a:t>
            </a:r>
            <a:endParaRPr lang="en-US" sz="3400" dirty="0"/>
          </a:p>
        </p:txBody>
      </p:sp>
      <p:graphicFrame>
        <p:nvGraphicFramePr>
          <p:cNvPr id="6" name="choices table"/>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194560"/>
                <a:gridCol w="2103120"/>
                <a:gridCol w="3931920"/>
              </a:tblGrid>
              <a:tr h="411480">
                <a:tc>
                  <a:txBody>
                    <a:bodyPr/>
                    <a:lstStyle/>
                    <a:p>
                      <a:pPr indent="0" marL="0">
                        <a:buNone/>
                      </a:pPr>
                      <a:r>
                        <a:rPr lang="en-US" sz="1400" b="1" dirty="0">
                          <a:solidFill>
                            <a:schemeClr val="bg1"/>
                          </a:solidFill>
                        </a:rPr>
                        <a:t>We chose</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Instead of</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Because</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tx2"/>
                    </a:solidFill>
                  </a:tcPr>
                </a:tc>
              </a:tr>
              <a:tr h="640080">
                <a:tc>
                  <a:txBody>
                    <a:bodyPr/>
                    <a:lstStyle/>
                    <a:p>
                      <a:pPr indent="0" marL="0">
                        <a:buNone/>
                      </a:pPr>
                      <a:r>
                        <a:rPr lang="en-US" sz="1400" b="1" dirty="0">
                          <a:solidFill>
                            <a:schemeClr val="tx1"/>
                          </a:solidFill>
                        </a:rPr>
                        <a:t>Separate screen and brain</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One big all-in-one app</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Each part can change or grow on its own</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r>
              <a:tr h="777240">
                <a:tc>
                  <a:txBody>
                    <a:bodyPr/>
                    <a:lstStyle/>
                    <a:p>
                      <a:pPr indent="0" marL="0">
                        <a:buNone/>
                      </a:pPr>
                      <a:r>
                        <a:rPr lang="en-US" sz="1400" b="1" dirty="0">
                          <a:solidFill>
                            <a:schemeClr val="tx1"/>
                          </a:solidFill>
                        </a:rPr>
                        <a:t>Kubernetes</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Docker Compose only</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Compose suits one laptop. Kubernetes keeps copies running and heals itself.</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r>
              <a:tr h="640080">
                <a:tc>
                  <a:txBody>
                    <a:bodyPr/>
                    <a:lstStyle/>
                    <a:p>
                      <a:pPr indent="0" marL="0">
                        <a:buNone/>
                      </a:pPr>
                      <a:r>
                        <a:rPr lang="en-US" sz="1400" b="1" dirty="0">
                          <a:solidFill>
                            <a:schemeClr val="tx1"/>
                          </a:solidFill>
                        </a:rPr>
                        <a:t>GitHub Actions</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 Jenkins server</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Built into GitHub, with nothing extra to run</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r>
              <a:tr h="777240">
                <a:tc>
                  <a:txBody>
                    <a:bodyPr/>
                    <a:lstStyle/>
                    <a:p>
                      <a:pPr indent="0" marL="0">
                        <a:buNone/>
                      </a:pPr>
                      <a:r>
                        <a:rPr lang="en-US" sz="1400" b="1" dirty="0">
                          <a:solidFill>
                            <a:schemeClr val="tx1"/>
                          </a:solidFill>
                        </a:rPr>
                        <a:t>Slim Alpine images</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Full Debian images</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Fewer packages means fewer security holes: 44 fewer in the backend</a:t>
                      </a:r>
                      <a:endParaRPr lang="en-US" sz="1400" dirty="0"/>
                    </a:p>
                  </a:txBody>
                  <a:tcPr marL="109728" marR="109728"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Proof 1: the automatic pipeline</a:t>
            </a:r>
            <a:endParaRPr lang="en-US" sz="3400" dirty="0"/>
          </a:p>
        </p:txBody>
      </p:sp>
      <p:sp>
        <p:nvSpPr>
          <p:cNvPr id="3" name="cicd screenshot frame"/>
          <p:cNvSpPr/>
          <p:nvPr/>
        </p:nvSpPr>
        <p:spPr>
          <a:xfrm>
            <a:off x="420624" y="1197864"/>
            <a:ext cx="7933211" cy="2953512"/>
          </a:xfrm>
          <a:prstGeom prst="rect">
            <a:avLst/>
          </a:prstGeom>
          <a:solidFill>
            <a:schemeClr val="bg1"/>
          </a:solidFill>
          <a:ln w="9525">
            <a:solidFill>
              <a:srgbClr val="D1D5DB"/>
            </a:solidFill>
            <a:prstDash val="solid"/>
          </a:ln>
          <a:effectLst>
            <a:outerShdw sx="100000" sy="100000" kx="0" ky="0" algn="bl" rotWithShape="0" blurRad="76200" dist="25400" dir="5400000">
              <a:srgbClr val="000000">
                <a:alpha val="12000"/>
              </a:srgbClr>
            </a:outerShdw>
          </a:effectLst>
        </p:spPr>
      </p:sp>
      <p:pic>
        <p:nvPicPr>
          <p:cNvPr id="4" name="cicd screenshot" descr="GitHub Actions run with backend-tests, frontend-build and docker all green">    </p:cNvPr>
          <p:cNvPicPr>
            <a:picLocks noChangeAspect="1"/>
          </p:cNvPicPr>
          <p:nvPr/>
        </p:nvPicPr>
        <p:blipFill>
          <a:blip r:embed="rId1"/>
          <a:stretch>
            <a:fillRect/>
          </a:stretch>
        </p:blipFill>
        <p:spPr>
          <a:xfrm>
            <a:off x="457200" y="1234440"/>
            <a:ext cx="7860059" cy="2880360"/>
          </a:xfrm>
          <a:prstGeom prst="rect">
            <a:avLst/>
          </a:prstGeom>
        </p:spPr>
      </p:pic>
      <p:sp>
        <p:nvSpPr>
          <p:cNvPr id="5" name="cicd caption"/>
          <p:cNvSpPr txBox="1"/>
          <p:nvPr/>
        </p:nvSpPr>
        <p:spPr>
          <a:xfrm>
            <a:off x="457200" y="4251960"/>
            <a:ext cx="8229600" cy="411480"/>
          </a:xfrm>
          <a:prstGeom prst="rect">
            <a:avLst/>
          </a:prstGeom>
          <a:noFill/>
          <a:ln/>
        </p:spPr>
        <p:txBody>
          <a:bodyPr wrap="square" lIns="0" tIns="0" rIns="0" bIns="0" rtlCol="0" anchor="t"/>
          <a:lstStyle/>
          <a:p>
            <a:pPr indent="0" marL="0">
              <a:buNone/>
            </a:pPr>
            <a:r>
              <a:rPr lang="en-US" sz="1400" b="1" dirty="0">
                <a:solidFill>
                  <a:schemeClr val="accent2"/>
                </a:solidFill>
              </a:rPr>
              <a:t>All green: </a:t>
            </a:r>
            <a:pPr indent="0" marL="0">
              <a:buNone/>
            </a:pPr>
            <a:r>
              <a:rPr lang="en-US" sz="1400" dirty="0">
                <a:solidFill>
                  <a:schemeClr val="tx1"/>
                </a:solidFill>
              </a:rPr>
              <a:t>tests and the frontend build run first, then the images are built and published.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Proof 2: the code lives on GitHub</a:t>
            </a:r>
            <a:endParaRPr lang="en-US" sz="3400" dirty="0"/>
          </a:p>
        </p:txBody>
      </p:sp>
      <p:sp>
        <p:nvSpPr>
          <p:cNvPr id="3" name="repo screenshot frame"/>
          <p:cNvSpPr/>
          <p:nvPr/>
        </p:nvSpPr>
        <p:spPr>
          <a:xfrm>
            <a:off x="420624" y="1243584"/>
            <a:ext cx="5340096" cy="3364992"/>
          </a:xfrm>
          <a:prstGeom prst="rect">
            <a:avLst/>
          </a:prstGeom>
          <a:solidFill>
            <a:schemeClr val="bg1"/>
          </a:solidFill>
          <a:ln w="9525">
            <a:solidFill>
              <a:srgbClr val="D1D5DB"/>
            </a:solidFill>
            <a:prstDash val="solid"/>
          </a:ln>
          <a:effectLst>
            <a:outerShdw sx="100000" sy="100000" kx="0" ky="0" algn="bl" rotWithShape="0" blurRad="76200" dist="25400" dir="5400000">
              <a:srgbClr val="000000">
                <a:alpha val="12000"/>
              </a:srgbClr>
            </a:outerShdw>
          </a:effectLst>
        </p:spPr>
      </p:sp>
      <p:pic>
        <p:nvPicPr>
          <p:cNvPr id="4" name="repo screenshot" descr="The public GitHub repository page for Devops-capstone">    </p:cNvPr>
          <p:cNvPicPr>
            <a:picLocks noChangeAspect="1"/>
          </p:cNvPicPr>
          <p:nvPr/>
        </p:nvPicPr>
        <p:blipFill>
          <a:blip r:embed="rId1"/>
          <a:stretch>
            <a:fillRect/>
          </a:stretch>
        </p:blipFill>
        <p:spPr>
          <a:xfrm>
            <a:off x="457200" y="1280160"/>
            <a:ext cx="5266944" cy="3291840"/>
          </a:xfrm>
          <a:prstGeom prst="rect">
            <a:avLst/>
          </a:prstGeom>
        </p:spPr>
      </p:pic>
      <p:sp>
        <p:nvSpPr>
          <p:cNvPr id="5" name="repo card"/>
          <p:cNvSpPr/>
          <p:nvPr/>
        </p:nvSpPr>
        <p:spPr>
          <a:xfrm>
            <a:off x="6263640" y="1280160"/>
            <a:ext cx="2423160" cy="3291840"/>
          </a:xfrm>
          <a:prstGeom prst="roundRect">
            <a:avLst>
              <a:gd name="adj" fmla="val 4528"/>
            </a:avLst>
          </a:prstGeom>
          <a:solidFill>
            <a:schemeClr val="bg2"/>
          </a:solidFill>
          <a:ln w="12700">
            <a:solidFill>
              <a:schemeClr val="bg2"/>
            </a:solidFill>
            <a:prstDash val="solid"/>
          </a:ln>
        </p:spPr>
      </p:sp>
      <p:sp>
        <p:nvSpPr>
          <p:cNvPr id="6" name="repo circle"/>
          <p:cNvSpPr/>
          <p:nvPr/>
        </p:nvSpPr>
        <p:spPr>
          <a:xfrm>
            <a:off x="6446520" y="1463040"/>
            <a:ext cx="457200" cy="457200"/>
          </a:xfrm>
          <a:prstGeom prst="ellipse">
            <a:avLst/>
          </a:prstGeom>
          <a:solidFill>
            <a:schemeClr val="accent1"/>
          </a:solidFill>
          <a:ln w="12700">
            <a:solidFill>
              <a:schemeClr val="accent1"/>
            </a:solidFill>
            <a:prstDash val="solid"/>
          </a:ln>
        </p:spPr>
      </p:sp>
      <p:pic>
        <p:nvPicPr>
          <p:cNvPr id="7" name="repo icon" descr="repo">    </p:cNvPr>
          <p:cNvPicPr>
            <a:picLocks noChangeAspect="1"/>
          </p:cNvPicPr>
          <p:nvPr/>
        </p:nvPicPr>
        <p:blipFill>
          <a:blip r:embed="rId2"/>
          <a:stretch>
            <a:fillRect/>
          </a:stretch>
        </p:blipFill>
        <p:spPr>
          <a:xfrm>
            <a:off x="6569964" y="1586484"/>
            <a:ext cx="210312" cy="210312"/>
          </a:xfrm>
          <a:prstGeom prst="rect">
            <a:avLst/>
          </a:prstGeom>
        </p:spPr>
      </p:pic>
      <p:sp>
        <p:nvSpPr>
          <p:cNvPr id="8" name="repo heading"/>
          <p:cNvSpPr txBox="1"/>
          <p:nvPr/>
        </p:nvSpPr>
        <p:spPr>
          <a:xfrm>
            <a:off x="7013448" y="1463040"/>
            <a:ext cx="1508760" cy="457200"/>
          </a:xfrm>
          <a:prstGeom prst="rect">
            <a:avLst/>
          </a:prstGeom>
          <a:noFill/>
          <a:ln/>
        </p:spPr>
        <p:txBody>
          <a:bodyPr wrap="square" lIns="0" tIns="0" rIns="0" bIns="0" rtlCol="0" anchor="ctr"/>
          <a:lstStyle/>
          <a:p>
            <a:pPr indent="0" marL="0">
              <a:buNone/>
            </a:pPr>
            <a:r>
              <a:rPr lang="en-US" sz="1600" b="1" dirty="0">
                <a:solidFill>
                  <a:schemeClr val="tx2"/>
                </a:solidFill>
              </a:rPr>
              <a:t>One public repo</a:t>
            </a:r>
            <a:endParaRPr lang="en-US" sz="1600" dirty="0"/>
          </a:p>
        </p:txBody>
      </p:sp>
      <p:sp>
        <p:nvSpPr>
          <p:cNvPr id="9" name="repo points"/>
          <p:cNvSpPr txBox="1"/>
          <p:nvPr/>
        </p:nvSpPr>
        <p:spPr>
          <a:xfrm>
            <a:off x="6446520" y="2103120"/>
            <a:ext cx="205740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Frontend, backend and deploy files together</a:t>
            </a:r>
            <a:endParaRPr lang="en-US" sz="1400" dirty="0"/>
          </a:p>
          <a:p>
            <a:pPr marL="342900" indent="-342900">
              <a:spcAft>
                <a:spcPts val="800"/>
              </a:spcAft>
              <a:buSzPct val="100000"/>
              <a:buChar char="•"/>
            </a:pPr>
            <a:r>
              <a:rPr lang="en-US" sz="1400" dirty="0">
                <a:solidFill>
                  <a:schemeClr val="tx1"/>
                </a:solidFill>
              </a:rPr>
              <a:t>Every change recorded as a commit</a:t>
            </a:r>
            <a:endParaRPr lang="en-US" sz="1400" dirty="0"/>
          </a:p>
          <a:p>
            <a:pPr marL="342900" indent="-342900">
              <a:spcAft>
                <a:spcPts val="800"/>
              </a:spcAft>
              <a:buSzPct val="100000"/>
              <a:buChar char="•"/>
            </a:pPr>
            <a:r>
              <a:rPr lang="en-US" sz="1400" dirty="0">
                <a:solidFill>
                  <a:schemeClr val="tx1"/>
                </a:solidFill>
              </a:rPr>
              <a:t>Open for anyone to review</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Proof 3: running on Kubernetes</a:t>
            </a:r>
            <a:endParaRPr lang="en-US" sz="3400" dirty="0"/>
          </a:p>
        </p:txBody>
      </p:sp>
      <p:sp>
        <p:nvSpPr>
          <p:cNvPr id="3" name="kubernetes terminal frame"/>
          <p:cNvSpPr/>
          <p:nvPr/>
        </p:nvSpPr>
        <p:spPr>
          <a:xfrm>
            <a:off x="420624" y="1243584"/>
            <a:ext cx="8020530" cy="2084832"/>
          </a:xfrm>
          <a:prstGeom prst="rect">
            <a:avLst/>
          </a:prstGeom>
          <a:solidFill>
            <a:schemeClr val="bg1"/>
          </a:solidFill>
          <a:ln w="9525">
            <a:solidFill>
              <a:srgbClr val="D1D5DB"/>
            </a:solidFill>
            <a:prstDash val="solid"/>
          </a:ln>
          <a:effectLst>
            <a:outerShdw sx="100000" sy="100000" kx="0" ky="0" algn="bl" rotWithShape="0" blurRad="76200" dist="25400" dir="5400000">
              <a:srgbClr val="000000">
                <a:alpha val="12000"/>
              </a:srgbClr>
            </a:outerShdw>
          </a:effectLst>
        </p:spPr>
      </p:sp>
      <p:pic>
        <p:nvPicPr>
          <p:cNvPr id="4" name="kubernetes terminal" descr="Terminal showing kubectl get pods, kubectl get svc and helm list">    </p:cNvPr>
          <p:cNvPicPr>
            <a:picLocks noChangeAspect="1"/>
          </p:cNvPicPr>
          <p:nvPr/>
        </p:nvPicPr>
        <p:blipFill>
          <a:blip r:embed="rId1"/>
          <a:stretch>
            <a:fillRect/>
          </a:stretch>
        </p:blipFill>
        <p:spPr>
          <a:xfrm>
            <a:off x="457200" y="1280160"/>
            <a:ext cx="7947378" cy="2011680"/>
          </a:xfrm>
          <a:prstGeom prst="rect">
            <a:avLst/>
          </a:prstGeom>
        </p:spPr>
      </p:pic>
      <p:sp>
        <p:nvSpPr>
          <p:cNvPr id="5" name="stat 1"/>
          <p:cNvSpPr txBox="1"/>
          <p:nvPr/>
        </p:nvSpPr>
        <p:spPr>
          <a:xfrm>
            <a:off x="457200" y="3520440"/>
            <a:ext cx="822960" cy="822960"/>
          </a:xfrm>
          <a:prstGeom prst="rect">
            <a:avLst/>
          </a:prstGeom>
          <a:noFill/>
          <a:ln/>
        </p:spPr>
        <p:txBody>
          <a:bodyPr wrap="square" lIns="0" tIns="0" rIns="0" bIns="0" rtlCol="0" anchor="ctr"/>
          <a:lstStyle/>
          <a:p>
            <a:pPr indent="0" marL="0">
              <a:buNone/>
            </a:pPr>
            <a:r>
              <a:rPr lang="en-US" sz="5400" b="1" dirty="0">
                <a:solidFill>
                  <a:schemeClr val="accent1"/>
                </a:solidFill>
              </a:rPr>
              <a:t>5</a:t>
            </a:r>
            <a:endParaRPr lang="en-US" sz="5400" dirty="0"/>
          </a:p>
        </p:txBody>
      </p:sp>
      <p:sp>
        <p:nvSpPr>
          <p:cNvPr id="6" name="stat 1 label"/>
          <p:cNvSpPr txBox="1"/>
          <p:nvPr/>
        </p:nvSpPr>
        <p:spPr>
          <a:xfrm>
            <a:off x="1325880" y="3520440"/>
            <a:ext cx="1783080" cy="822960"/>
          </a:xfrm>
          <a:prstGeom prst="rect">
            <a:avLst/>
          </a:prstGeom>
          <a:noFill/>
          <a:ln/>
        </p:spPr>
        <p:txBody>
          <a:bodyPr wrap="square" lIns="0" tIns="0" rIns="0" bIns="0" rtlCol="0" anchor="ctr"/>
          <a:lstStyle/>
          <a:p>
            <a:pPr indent="0" marL="0">
              <a:buNone/>
            </a:pPr>
            <a:r>
              <a:rPr lang="en-US" sz="1400" dirty="0">
                <a:solidFill>
                  <a:schemeClr val="tx1"/>
                </a:solidFill>
              </a:rPr>
              <a:t>pods Running</a:t>
            </a:r>
            <a:endParaRPr lang="en-US" sz="1400" dirty="0"/>
          </a:p>
        </p:txBody>
      </p:sp>
      <p:sp>
        <p:nvSpPr>
          <p:cNvPr id="7" name="stat 2"/>
          <p:cNvSpPr txBox="1"/>
          <p:nvPr/>
        </p:nvSpPr>
        <p:spPr>
          <a:xfrm>
            <a:off x="3291840" y="3520440"/>
            <a:ext cx="822960" cy="822960"/>
          </a:xfrm>
          <a:prstGeom prst="rect">
            <a:avLst/>
          </a:prstGeom>
          <a:noFill/>
          <a:ln/>
        </p:spPr>
        <p:txBody>
          <a:bodyPr wrap="square" lIns="0" tIns="0" rIns="0" bIns="0" rtlCol="0" anchor="ctr"/>
          <a:lstStyle/>
          <a:p>
            <a:pPr indent="0" marL="0">
              <a:buNone/>
            </a:pPr>
            <a:r>
              <a:rPr lang="en-US" sz="5400" b="1" dirty="0">
                <a:solidFill>
                  <a:schemeClr val="accent1"/>
                </a:solidFill>
              </a:rPr>
              <a:t>2</a:t>
            </a:r>
            <a:endParaRPr lang="en-US" sz="5400" dirty="0"/>
          </a:p>
        </p:txBody>
      </p:sp>
      <p:sp>
        <p:nvSpPr>
          <p:cNvPr id="8" name="stat 2 label"/>
          <p:cNvSpPr txBox="1"/>
          <p:nvPr/>
        </p:nvSpPr>
        <p:spPr>
          <a:xfrm>
            <a:off x="4160520" y="3520440"/>
            <a:ext cx="1783080" cy="822960"/>
          </a:xfrm>
          <a:prstGeom prst="rect">
            <a:avLst/>
          </a:prstGeom>
          <a:noFill/>
          <a:ln/>
        </p:spPr>
        <p:txBody>
          <a:bodyPr wrap="square" lIns="0" tIns="0" rIns="0" bIns="0" rtlCol="0" anchor="ctr"/>
          <a:lstStyle/>
          <a:p>
            <a:pPr indent="0" marL="0">
              <a:buNone/>
            </a:pPr>
            <a:r>
              <a:rPr lang="en-US" sz="1400" dirty="0">
                <a:solidFill>
                  <a:schemeClr val="tx1"/>
                </a:solidFill>
              </a:rPr>
              <a:t>copies each of the frontend and backend</a:t>
            </a:r>
            <a:endParaRPr lang="en-US" sz="1400" dirty="0"/>
          </a:p>
        </p:txBody>
      </p:sp>
      <p:sp>
        <p:nvSpPr>
          <p:cNvPr id="9" name="stat 3"/>
          <p:cNvSpPr txBox="1"/>
          <p:nvPr/>
        </p:nvSpPr>
        <p:spPr>
          <a:xfrm>
            <a:off x="6126480" y="3520440"/>
            <a:ext cx="822960" cy="822960"/>
          </a:xfrm>
          <a:prstGeom prst="rect">
            <a:avLst/>
          </a:prstGeom>
          <a:noFill/>
          <a:ln/>
        </p:spPr>
        <p:txBody>
          <a:bodyPr wrap="square" lIns="0" tIns="0" rIns="0" bIns="0" rtlCol="0" anchor="ctr"/>
          <a:lstStyle/>
          <a:p>
            <a:pPr indent="0" marL="0">
              <a:buNone/>
            </a:pPr>
            <a:r>
              <a:rPr lang="en-US" sz="5400" b="1" dirty="0">
                <a:solidFill>
                  <a:schemeClr val="accent1"/>
                </a:solidFill>
              </a:rPr>
              <a:t>0</a:t>
            </a:r>
            <a:endParaRPr lang="en-US" sz="5400" dirty="0"/>
          </a:p>
        </p:txBody>
      </p:sp>
      <p:sp>
        <p:nvSpPr>
          <p:cNvPr id="10" name="stat 3 label"/>
          <p:cNvSpPr txBox="1"/>
          <p:nvPr/>
        </p:nvSpPr>
        <p:spPr>
          <a:xfrm>
            <a:off x="6995160" y="3520440"/>
            <a:ext cx="1783080" cy="822960"/>
          </a:xfrm>
          <a:prstGeom prst="rect">
            <a:avLst/>
          </a:prstGeom>
          <a:noFill/>
          <a:ln/>
        </p:spPr>
        <p:txBody>
          <a:bodyPr wrap="square" lIns="0" tIns="0" rIns="0" bIns="0" rtlCol="0" anchor="ctr"/>
          <a:lstStyle/>
          <a:p>
            <a:pPr indent="0" marL="0">
              <a:buNone/>
            </a:pPr>
            <a:r>
              <a:rPr lang="en-US" sz="1400" dirty="0">
                <a:solidFill>
                  <a:schemeClr val="tx1"/>
                </a:solidFill>
              </a:rPr>
              <a:t>restarts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The app, through Kubernetes</a:t>
            </a:r>
            <a:endParaRPr lang="en-US" sz="3400" dirty="0"/>
          </a:p>
        </p:txBody>
      </p:sp>
      <p:sp>
        <p:nvSpPr>
          <p:cNvPr id="3" name="app via ingress screenshot frame"/>
          <p:cNvSpPr/>
          <p:nvPr/>
        </p:nvSpPr>
        <p:spPr>
          <a:xfrm>
            <a:off x="420624" y="1243584"/>
            <a:ext cx="5559552" cy="3321627"/>
          </a:xfrm>
          <a:prstGeom prst="rect">
            <a:avLst/>
          </a:prstGeom>
          <a:solidFill>
            <a:schemeClr val="bg1"/>
          </a:solidFill>
          <a:ln w="9525">
            <a:solidFill>
              <a:srgbClr val="D1D5DB"/>
            </a:solidFill>
            <a:prstDash val="solid"/>
          </a:ln>
          <a:effectLst>
            <a:outerShdw sx="100000" sy="100000" kx="0" ky="0" algn="bl" rotWithShape="0" blurRad="76200" dist="25400" dir="5400000">
              <a:srgbClr val="000000">
                <a:alpha val="12000"/>
              </a:srgbClr>
            </a:outerShdw>
          </a:effectLst>
        </p:spPr>
      </p:sp>
      <p:pic>
        <p:nvPicPr>
          <p:cNvPr id="4" name="app via ingress screenshot" descr="The Products page of the app opened through the Kubernetes ingress">    </p:cNvPr>
          <p:cNvPicPr>
            <a:picLocks noChangeAspect="1"/>
          </p:cNvPicPr>
          <p:nvPr/>
        </p:nvPicPr>
        <p:blipFill>
          <a:blip r:embed="rId1"/>
          <a:stretch>
            <a:fillRect/>
          </a:stretch>
        </p:blipFill>
        <p:spPr>
          <a:xfrm>
            <a:off x="457200" y="1280160"/>
            <a:ext cx="5486400" cy="3248475"/>
          </a:xfrm>
          <a:prstGeom prst="rect">
            <a:avLst/>
          </a:prstGeom>
        </p:spPr>
      </p:pic>
      <p:sp>
        <p:nvSpPr>
          <p:cNvPr id="5" name="ingress card"/>
          <p:cNvSpPr/>
          <p:nvPr/>
        </p:nvSpPr>
        <p:spPr>
          <a:xfrm>
            <a:off x="6263640" y="1280160"/>
            <a:ext cx="2423160" cy="3291840"/>
          </a:xfrm>
          <a:prstGeom prst="roundRect">
            <a:avLst>
              <a:gd name="adj" fmla="val 4528"/>
            </a:avLst>
          </a:prstGeom>
          <a:solidFill>
            <a:schemeClr val="bg2"/>
          </a:solidFill>
          <a:ln w="12700">
            <a:solidFill>
              <a:schemeClr val="bg2"/>
            </a:solidFill>
            <a:prstDash val="solid"/>
          </a:ln>
        </p:spPr>
      </p:sp>
      <p:sp>
        <p:nvSpPr>
          <p:cNvPr id="6" name="ingress circle"/>
          <p:cNvSpPr/>
          <p:nvPr/>
        </p:nvSpPr>
        <p:spPr>
          <a:xfrm>
            <a:off x="6446520" y="1463040"/>
            <a:ext cx="457200" cy="457200"/>
          </a:xfrm>
          <a:prstGeom prst="ellipse">
            <a:avLst/>
          </a:prstGeom>
          <a:solidFill>
            <a:schemeClr val="accent1"/>
          </a:solidFill>
          <a:ln w="12700">
            <a:solidFill>
              <a:schemeClr val="accent1"/>
            </a:solidFill>
            <a:prstDash val="solid"/>
          </a:ln>
        </p:spPr>
      </p:sp>
      <p:pic>
        <p:nvPicPr>
          <p:cNvPr id="7" name="ingress icon" descr="ingress">    </p:cNvPr>
          <p:cNvPicPr>
            <a:picLocks noChangeAspect="1"/>
          </p:cNvPicPr>
          <p:nvPr/>
        </p:nvPicPr>
        <p:blipFill>
          <a:blip r:embed="rId2"/>
          <a:stretch>
            <a:fillRect/>
          </a:stretch>
        </p:blipFill>
        <p:spPr>
          <a:xfrm>
            <a:off x="6569964" y="1586484"/>
            <a:ext cx="210312" cy="210312"/>
          </a:xfrm>
          <a:prstGeom prst="rect">
            <a:avLst/>
          </a:prstGeom>
        </p:spPr>
      </p:pic>
      <p:sp>
        <p:nvSpPr>
          <p:cNvPr id="8" name="ingress heading"/>
          <p:cNvSpPr txBox="1"/>
          <p:nvPr/>
        </p:nvSpPr>
        <p:spPr>
          <a:xfrm>
            <a:off x="7013448" y="1463040"/>
            <a:ext cx="1508760" cy="457200"/>
          </a:xfrm>
          <a:prstGeom prst="rect">
            <a:avLst/>
          </a:prstGeom>
          <a:noFill/>
          <a:ln/>
        </p:spPr>
        <p:txBody>
          <a:bodyPr wrap="square" lIns="0" tIns="0" rIns="0" bIns="0" rtlCol="0" anchor="ctr"/>
          <a:lstStyle/>
          <a:p>
            <a:pPr indent="0" marL="0">
              <a:buNone/>
            </a:pPr>
            <a:r>
              <a:rPr lang="en-US" sz="1600" b="1" dirty="0">
                <a:solidFill>
                  <a:schemeClr val="tx2"/>
                </a:solidFill>
              </a:rPr>
              <a:t>The front door</a:t>
            </a:r>
            <a:endParaRPr lang="en-US" sz="1600" dirty="0"/>
          </a:p>
        </p:txBody>
      </p:sp>
      <p:sp>
        <p:nvSpPr>
          <p:cNvPr id="9" name="ingress points"/>
          <p:cNvSpPr txBox="1"/>
          <p:nvPr/>
        </p:nvSpPr>
        <p:spPr>
          <a:xfrm>
            <a:off x="6446520" y="2103120"/>
            <a:ext cx="205740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An Ingress sends / to the page and /api to the backend</a:t>
            </a:r>
            <a:endParaRPr lang="en-US" sz="1400" dirty="0"/>
          </a:p>
          <a:p>
            <a:pPr marL="342900" indent="-342900">
              <a:spcAft>
                <a:spcPts val="800"/>
              </a:spcAft>
              <a:buSzPct val="100000"/>
              <a:buChar char="•"/>
            </a:pPr>
            <a:r>
              <a:rPr lang="en-US" sz="1400" dirty="0">
                <a:solidFill>
                  <a:schemeClr val="tx1"/>
                </a:solidFill>
              </a:rPr>
              <a:t>Same app, now served by the cluster</a:t>
            </a:r>
            <a:endParaRPr lang="en-US" sz="1400" dirty="0"/>
          </a:p>
          <a:p>
            <a:pPr marL="342900" indent="-342900">
              <a:spcAft>
                <a:spcPts val="800"/>
              </a:spcAft>
              <a:buSzPct val="100000"/>
              <a:buChar char="•"/>
            </a:pPr>
            <a:r>
              <a:rPr lang="en-US" sz="1400" dirty="0">
                <a:solidFill>
                  <a:schemeClr val="tx1"/>
                </a:solidFill>
              </a:rPr>
              <a:t>Data comes from the database pod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Proof 4: Docker Compose</a:t>
            </a:r>
            <a:endParaRPr lang="en-US" sz="3400" dirty="0"/>
          </a:p>
        </p:txBody>
      </p:sp>
      <p:sp>
        <p:nvSpPr>
          <p:cNvPr id="3" name="compose screenshot frame"/>
          <p:cNvSpPr/>
          <p:nvPr/>
        </p:nvSpPr>
        <p:spPr>
          <a:xfrm>
            <a:off x="420624" y="1243584"/>
            <a:ext cx="4828032" cy="3330960"/>
          </a:xfrm>
          <a:prstGeom prst="rect">
            <a:avLst/>
          </a:prstGeom>
          <a:solidFill>
            <a:schemeClr val="bg1"/>
          </a:solidFill>
          <a:ln w="9525">
            <a:solidFill>
              <a:srgbClr val="D1D5DB"/>
            </a:solidFill>
            <a:prstDash val="solid"/>
          </a:ln>
          <a:effectLst>
            <a:outerShdw sx="100000" sy="100000" kx="0" ky="0" algn="bl" rotWithShape="0" blurRad="76200" dist="25400" dir="5400000">
              <a:srgbClr val="000000">
                <a:alpha val="12000"/>
              </a:srgbClr>
            </a:outerShdw>
          </a:effectLst>
        </p:spPr>
      </p:sp>
      <p:pic>
        <p:nvPicPr>
          <p:cNvPr id="4" name="compose screenshot" descr="Terminal output of docker compose up --build starting the database, backend and frontend">    </p:cNvPr>
          <p:cNvPicPr>
            <a:picLocks noChangeAspect="1"/>
          </p:cNvPicPr>
          <p:nvPr/>
        </p:nvPicPr>
        <p:blipFill>
          <a:blip r:embed="rId1"/>
          <a:stretch>
            <a:fillRect/>
          </a:stretch>
        </p:blipFill>
        <p:spPr>
          <a:xfrm>
            <a:off x="457200" y="1280160"/>
            <a:ext cx="4754880" cy="3257808"/>
          </a:xfrm>
          <a:prstGeom prst="rect">
            <a:avLst/>
          </a:prstGeom>
        </p:spPr>
      </p:pic>
      <p:sp>
        <p:nvSpPr>
          <p:cNvPr id="5" name="ps card"/>
          <p:cNvSpPr/>
          <p:nvPr/>
        </p:nvSpPr>
        <p:spPr>
          <a:xfrm>
            <a:off x="5532120" y="1280160"/>
            <a:ext cx="3154680" cy="3291840"/>
          </a:xfrm>
          <a:prstGeom prst="roundRect">
            <a:avLst>
              <a:gd name="adj" fmla="val 3478"/>
            </a:avLst>
          </a:prstGeom>
          <a:solidFill>
            <a:schemeClr val="tx2"/>
          </a:solidFill>
          <a:ln w="12700">
            <a:solidFill>
              <a:schemeClr val="tx2"/>
            </a:solidFill>
            <a:prstDash val="solid"/>
          </a:ln>
        </p:spPr>
      </p:sp>
      <p:sp>
        <p:nvSpPr>
          <p:cNvPr id="6" name="ps heading"/>
          <p:cNvSpPr txBox="1"/>
          <p:nvPr/>
        </p:nvSpPr>
        <p:spPr>
          <a:xfrm>
            <a:off x="5715000" y="1417320"/>
            <a:ext cx="2834640" cy="365760"/>
          </a:xfrm>
          <a:prstGeom prst="rect">
            <a:avLst/>
          </a:prstGeom>
          <a:noFill/>
          <a:ln/>
        </p:spPr>
        <p:txBody>
          <a:bodyPr wrap="square" lIns="0" tIns="0" rIns="0" bIns="0" rtlCol="0" anchor="ctr"/>
          <a:lstStyle/>
          <a:p>
            <a:pPr indent="0" marL="0">
              <a:buNone/>
            </a:pPr>
            <a:r>
              <a:rPr lang="en-US" sz="1400" b="1" dirty="0">
                <a:solidFill>
                  <a:schemeClr val="bg2"/>
                </a:solidFill>
              </a:rPr>
              <a:t>docker compose ps</a:t>
            </a:r>
            <a:endParaRPr lang="en-US" sz="1400" dirty="0"/>
          </a:p>
        </p:txBody>
      </p:sp>
      <p:sp>
        <p:nvSpPr>
          <p:cNvPr id="7" name="ps output"/>
          <p:cNvSpPr txBox="1"/>
          <p:nvPr/>
        </p:nvSpPr>
        <p:spPr>
          <a:xfrm>
            <a:off x="5715000" y="1874520"/>
            <a:ext cx="2834640" cy="914400"/>
          </a:xfrm>
          <a:prstGeom prst="rect">
            <a:avLst/>
          </a:prstGeom>
          <a:noFill/>
          <a:ln/>
        </p:spPr>
        <p:txBody>
          <a:bodyPr wrap="square" lIns="0" tIns="0" rIns="0" bIns="0" rtlCol="0" anchor="t"/>
          <a:lstStyle/>
          <a:p>
            <a:pPr indent="0" marL="0">
              <a:buNone/>
            </a:pPr>
            <a:r>
              <a:rPr lang="en-US" sz="1100" dirty="0">
                <a:solidFill>
                  <a:schemeClr val="accent2"/>
                </a:solidFill>
                <a:latin typeface="Courier New" pitchFamily="34" charset="0"/>
                <a:ea typeface="Courier New" pitchFamily="34" charset="-122"/>
                <a:cs typeface="Courier New" pitchFamily="34" charset="-120"/>
              </a:rPr>
              <a:t>backend    Up           port 8000</a:t>
            </a:r>
            <a:endParaRPr lang="en-US" sz="1100" dirty="0"/>
          </a:p>
          <a:p>
            <a:pPr indent="0" marL="0">
              <a:buNone/>
            </a:pPr>
            <a:r>
              <a:rPr lang="en-US" sz="1100" dirty="0">
                <a:solidFill>
                  <a:schemeClr val="accent2"/>
                </a:solidFill>
                <a:latin typeface="Courier New" pitchFamily="34" charset="0"/>
                <a:ea typeface="Courier New" pitchFamily="34" charset="-122"/>
                <a:cs typeface="Courier New" pitchFamily="34" charset="-120"/>
              </a:rPr>
              <a:t>db         Up (healthy) private</a:t>
            </a:r>
            <a:endParaRPr lang="en-US" sz="1100" dirty="0"/>
          </a:p>
          <a:p>
            <a:pPr indent="0" marL="0">
              <a:buNone/>
            </a:pPr>
            <a:r>
              <a:rPr lang="en-US" sz="1100" dirty="0">
                <a:solidFill>
                  <a:schemeClr val="accent2"/>
                </a:solidFill>
                <a:latin typeface="Courier New" pitchFamily="34" charset="0"/>
                <a:ea typeface="Courier New" pitchFamily="34" charset="-122"/>
                <a:cs typeface="Courier New" pitchFamily="34" charset="-120"/>
              </a:rPr>
              <a:t>frontend   Up           port 3000</a:t>
            </a:r>
            <a:endParaRPr lang="en-US" sz="1100" dirty="0"/>
          </a:p>
        </p:txBody>
      </p:sp>
      <p:sp>
        <p:nvSpPr>
          <p:cNvPr id="8" name="compose points"/>
          <p:cNvSpPr txBox="1"/>
          <p:nvPr/>
        </p:nvSpPr>
        <p:spPr>
          <a:xfrm>
            <a:off x="5715000" y="2926080"/>
            <a:ext cx="283464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One command starts all three</a:t>
            </a:r>
            <a:endParaRPr lang="en-US" sz="1400" dirty="0"/>
          </a:p>
          <a:p>
            <a:pPr marL="342900" indent="-342900">
              <a:spcAft>
                <a:spcPts val="800"/>
              </a:spcAft>
              <a:buSzPct val="100000"/>
              <a:buChar char="•"/>
            </a:pPr>
            <a:r>
              <a:rPr lang="en-US" sz="1400" dirty="0">
                <a:solidFill>
                  <a:schemeClr val="bg1"/>
                </a:solidFill>
              </a:rPr>
              <a:t>The database is kept private from the frontend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Watching it live</a:t>
            </a:r>
            <a:endParaRPr lang="en-US" sz="3400" dirty="0"/>
          </a:p>
        </p:txBody>
      </p:sp>
      <p:sp>
        <p:nvSpPr>
          <p:cNvPr id="3" name="grafana screenshot frame"/>
          <p:cNvSpPr/>
          <p:nvPr/>
        </p:nvSpPr>
        <p:spPr>
          <a:xfrm>
            <a:off x="420624" y="1243584"/>
            <a:ext cx="5559552" cy="3324782"/>
          </a:xfrm>
          <a:prstGeom prst="rect">
            <a:avLst/>
          </a:prstGeom>
          <a:solidFill>
            <a:schemeClr val="bg1"/>
          </a:solidFill>
          <a:ln w="9525">
            <a:solidFill>
              <a:srgbClr val="D1D5DB"/>
            </a:solidFill>
            <a:prstDash val="solid"/>
          </a:ln>
          <a:effectLst>
            <a:outerShdw sx="100000" sy="100000" kx="0" ky="0" algn="bl" rotWithShape="0" blurRad="76200" dist="25400" dir="5400000">
              <a:srgbClr val="000000">
                <a:alpha val="12000"/>
              </a:srgbClr>
            </a:outerShdw>
          </a:effectLst>
        </p:spPr>
      </p:sp>
      <p:pic>
        <p:nvPicPr>
          <p:cNvPr id="4" name="grafana screenshot" descr="Grafana dashboard with requests per second, error rate, latency and memory panels">    </p:cNvPr>
          <p:cNvPicPr>
            <a:picLocks noChangeAspect="1"/>
          </p:cNvPicPr>
          <p:nvPr/>
        </p:nvPicPr>
        <p:blipFill>
          <a:blip r:embed="rId1"/>
          <a:stretch>
            <a:fillRect/>
          </a:stretch>
        </p:blipFill>
        <p:spPr>
          <a:xfrm>
            <a:off x="457200" y="1280160"/>
            <a:ext cx="5486400" cy="3251630"/>
          </a:xfrm>
          <a:prstGeom prst="rect">
            <a:avLst/>
          </a:prstGeom>
        </p:spPr>
      </p:pic>
      <p:sp>
        <p:nvSpPr>
          <p:cNvPr id="5" name="grafana card"/>
          <p:cNvSpPr/>
          <p:nvPr/>
        </p:nvSpPr>
        <p:spPr>
          <a:xfrm>
            <a:off x="6263640" y="1280160"/>
            <a:ext cx="2423160" cy="3291840"/>
          </a:xfrm>
          <a:prstGeom prst="roundRect">
            <a:avLst>
              <a:gd name="adj" fmla="val 4528"/>
            </a:avLst>
          </a:prstGeom>
          <a:solidFill>
            <a:schemeClr val="bg2"/>
          </a:solidFill>
          <a:ln w="12700">
            <a:solidFill>
              <a:schemeClr val="bg2"/>
            </a:solidFill>
            <a:prstDash val="solid"/>
          </a:ln>
        </p:spPr>
      </p:sp>
      <p:sp>
        <p:nvSpPr>
          <p:cNvPr id="6" name="grafana circle"/>
          <p:cNvSpPr/>
          <p:nvPr/>
        </p:nvSpPr>
        <p:spPr>
          <a:xfrm>
            <a:off x="6446520" y="1463040"/>
            <a:ext cx="457200" cy="457200"/>
          </a:xfrm>
          <a:prstGeom prst="ellipse">
            <a:avLst/>
          </a:prstGeom>
          <a:solidFill>
            <a:schemeClr val="accent1"/>
          </a:solidFill>
          <a:ln w="12700">
            <a:solidFill>
              <a:schemeClr val="accent1"/>
            </a:solidFill>
            <a:prstDash val="solid"/>
          </a:ln>
        </p:spPr>
      </p:sp>
      <p:pic>
        <p:nvPicPr>
          <p:cNvPr id="7" name="grafana icon" descr="grafana">    </p:cNvPr>
          <p:cNvPicPr>
            <a:picLocks noChangeAspect="1"/>
          </p:cNvPicPr>
          <p:nvPr/>
        </p:nvPicPr>
        <p:blipFill>
          <a:blip r:embed="rId2"/>
          <a:stretch>
            <a:fillRect/>
          </a:stretch>
        </p:blipFill>
        <p:spPr>
          <a:xfrm>
            <a:off x="6569964" y="1586484"/>
            <a:ext cx="210312" cy="210312"/>
          </a:xfrm>
          <a:prstGeom prst="rect">
            <a:avLst/>
          </a:prstGeom>
        </p:spPr>
      </p:pic>
      <p:sp>
        <p:nvSpPr>
          <p:cNvPr id="8" name="grafana heading"/>
          <p:cNvSpPr txBox="1"/>
          <p:nvPr/>
        </p:nvSpPr>
        <p:spPr>
          <a:xfrm>
            <a:off x="7013448" y="1463040"/>
            <a:ext cx="1508760" cy="457200"/>
          </a:xfrm>
          <a:prstGeom prst="rect">
            <a:avLst/>
          </a:prstGeom>
          <a:noFill/>
          <a:ln/>
        </p:spPr>
        <p:txBody>
          <a:bodyPr wrap="square" lIns="0" tIns="0" rIns="0" bIns="0" rtlCol="0" anchor="ctr"/>
          <a:lstStyle/>
          <a:p>
            <a:pPr indent="0" marL="0">
              <a:buNone/>
            </a:pPr>
            <a:r>
              <a:rPr lang="en-US" sz="1600" b="1" dirty="0">
                <a:solidFill>
                  <a:schemeClr val="tx2"/>
                </a:solidFill>
              </a:rPr>
              <a:t>Four live graphs</a:t>
            </a:r>
            <a:endParaRPr lang="en-US" sz="1600" dirty="0"/>
          </a:p>
        </p:txBody>
      </p:sp>
      <p:sp>
        <p:nvSpPr>
          <p:cNvPr id="9" name="grafana points"/>
          <p:cNvSpPr txBox="1"/>
          <p:nvPr/>
        </p:nvSpPr>
        <p:spPr>
          <a:xfrm>
            <a:off x="6446520" y="2103120"/>
            <a:ext cx="205740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How many requests, and to where</a:t>
            </a:r>
            <a:endParaRPr lang="en-US" sz="1400" dirty="0"/>
          </a:p>
          <a:p>
            <a:pPr marL="342900" indent="-342900">
              <a:spcAft>
                <a:spcPts val="800"/>
              </a:spcAft>
              <a:buSzPct val="100000"/>
              <a:buChar char="•"/>
            </a:pPr>
            <a:r>
              <a:rPr lang="en-US" sz="1400" dirty="0">
                <a:solidFill>
                  <a:schemeClr val="tx1"/>
                </a:solidFill>
              </a:rPr>
              <a:t>How many fail</a:t>
            </a:r>
            <a:endParaRPr lang="en-US" sz="1400" dirty="0"/>
          </a:p>
          <a:p>
            <a:pPr marL="342900" indent="-342900">
              <a:spcAft>
                <a:spcPts val="800"/>
              </a:spcAft>
              <a:buSzPct val="100000"/>
              <a:buChar char="•"/>
            </a:pPr>
            <a:r>
              <a:rPr lang="en-US" sz="1400" dirty="0">
                <a:solidFill>
                  <a:schemeClr val="tx1"/>
                </a:solidFill>
              </a:rPr>
              <a:t>How fast it answers</a:t>
            </a:r>
            <a:endParaRPr lang="en-US" sz="1400" dirty="0"/>
          </a:p>
          <a:p>
            <a:pPr marL="342900" indent="-342900">
              <a:spcAft>
                <a:spcPts val="800"/>
              </a:spcAft>
              <a:buSzPct val="100000"/>
              <a:buChar char="•"/>
            </a:pPr>
            <a:r>
              <a:rPr lang="en-US" sz="1400" dirty="0">
                <a:solidFill>
                  <a:schemeClr val="tx1"/>
                </a:solidFill>
              </a:rPr>
              <a:t>How much memory it uses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Safety nets built in</a:t>
            </a:r>
            <a:endParaRPr lang="en-US" sz="3400" dirty="0"/>
          </a:p>
        </p:txBody>
      </p:sp>
      <p:sp>
        <p:nvSpPr>
          <p:cNvPr id="3" name="net 1 card"/>
          <p:cNvSpPr/>
          <p:nvPr/>
        </p:nvSpPr>
        <p:spPr>
          <a:xfrm>
            <a:off x="457200" y="1371600"/>
            <a:ext cx="2560320" cy="2697480"/>
          </a:xfrm>
          <a:prstGeom prst="roundRect">
            <a:avLst>
              <a:gd name="adj" fmla="val 428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net 1 number"/>
          <p:cNvSpPr txBox="1"/>
          <p:nvPr/>
        </p:nvSpPr>
        <p:spPr>
          <a:xfrm>
            <a:off x="594360" y="1508760"/>
            <a:ext cx="2286000" cy="914400"/>
          </a:xfrm>
          <a:prstGeom prst="rect">
            <a:avLst/>
          </a:prstGeom>
          <a:noFill/>
          <a:ln/>
        </p:spPr>
        <p:txBody>
          <a:bodyPr wrap="square" lIns="0" tIns="0" rIns="0" bIns="0" rtlCol="0" anchor="ctr"/>
          <a:lstStyle/>
          <a:p>
            <a:pPr algn="l" indent="0" marL="0">
              <a:buNone/>
            </a:pPr>
            <a:r>
              <a:rPr lang="en-US" sz="4400" b="1" dirty="0">
                <a:solidFill>
                  <a:schemeClr val="accent1"/>
                </a:solidFill>
              </a:rPr>
              <a:t>31</a:t>
            </a:r>
            <a:endParaRPr lang="en-US" sz="4400" dirty="0"/>
          </a:p>
        </p:txBody>
      </p:sp>
      <p:sp>
        <p:nvSpPr>
          <p:cNvPr id="5" name="net 1 title"/>
          <p:cNvSpPr txBox="1"/>
          <p:nvPr/>
        </p:nvSpPr>
        <p:spPr>
          <a:xfrm>
            <a:off x="594360" y="2468880"/>
            <a:ext cx="2286000" cy="548640"/>
          </a:xfrm>
          <a:prstGeom prst="rect">
            <a:avLst/>
          </a:prstGeom>
          <a:noFill/>
          <a:ln/>
        </p:spPr>
        <p:txBody>
          <a:bodyPr wrap="square" lIns="0" tIns="0" rIns="0" bIns="0" rtlCol="0" anchor="t"/>
          <a:lstStyle/>
          <a:p>
            <a:pPr indent="0" marL="0">
              <a:buNone/>
            </a:pPr>
            <a:r>
              <a:rPr lang="en-US" sz="1800" b="1" dirty="0">
                <a:solidFill>
                  <a:schemeClr val="tx2"/>
                </a:solidFill>
              </a:rPr>
              <a:t>automatic tests</a:t>
            </a:r>
            <a:endParaRPr lang="en-US" sz="1800" dirty="0"/>
          </a:p>
        </p:txBody>
      </p:sp>
      <p:sp>
        <p:nvSpPr>
          <p:cNvPr id="6" name="net 1 text"/>
          <p:cNvSpPr txBox="1"/>
          <p:nvPr/>
        </p:nvSpPr>
        <p:spPr>
          <a:xfrm>
            <a:off x="594360" y="3108960"/>
            <a:ext cx="2286000" cy="822960"/>
          </a:xfrm>
          <a:prstGeom prst="rect">
            <a:avLst/>
          </a:prstGeom>
          <a:noFill/>
          <a:ln/>
        </p:spPr>
        <p:txBody>
          <a:bodyPr wrap="square" lIns="0" tIns="0" rIns="0" bIns="0" rtlCol="0" anchor="t"/>
          <a:lstStyle/>
          <a:p>
            <a:pPr indent="0" marL="0">
              <a:buNone/>
            </a:pPr>
            <a:r>
              <a:rPr lang="en-US" sz="1400" dirty="0">
                <a:solidFill>
                  <a:schemeClr val="tx1"/>
                </a:solidFill>
              </a:rPr>
              <a:t>Must pass before anything is built</a:t>
            </a:r>
            <a:endParaRPr lang="en-US" sz="1400" dirty="0"/>
          </a:p>
        </p:txBody>
      </p:sp>
      <p:sp>
        <p:nvSpPr>
          <p:cNvPr id="7" name="net 2 card"/>
          <p:cNvSpPr/>
          <p:nvPr/>
        </p:nvSpPr>
        <p:spPr>
          <a:xfrm>
            <a:off x="3291840" y="1371600"/>
            <a:ext cx="2560320" cy="2697480"/>
          </a:xfrm>
          <a:prstGeom prst="roundRect">
            <a:avLst>
              <a:gd name="adj" fmla="val 428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8" name="net 2 number"/>
          <p:cNvSpPr txBox="1"/>
          <p:nvPr/>
        </p:nvSpPr>
        <p:spPr>
          <a:xfrm>
            <a:off x="3429000" y="1508760"/>
            <a:ext cx="2286000" cy="914400"/>
          </a:xfrm>
          <a:prstGeom prst="rect">
            <a:avLst/>
          </a:prstGeom>
          <a:noFill/>
          <a:ln/>
        </p:spPr>
        <p:txBody>
          <a:bodyPr wrap="square" lIns="0" tIns="0" rIns="0" bIns="0" rtlCol="0" anchor="ctr"/>
          <a:lstStyle/>
          <a:p>
            <a:pPr algn="l" indent="0" marL="0">
              <a:buNone/>
            </a:pPr>
            <a:r>
              <a:rPr lang="en-US" sz="4400" b="1" dirty="0">
                <a:solidFill>
                  <a:schemeClr val="accent1"/>
                </a:solidFill>
              </a:rPr>
              <a:t>88 to 0</a:t>
            </a:r>
            <a:endParaRPr lang="en-US" sz="4400" dirty="0"/>
          </a:p>
        </p:txBody>
      </p:sp>
      <p:sp>
        <p:nvSpPr>
          <p:cNvPr id="9" name="net 2 title"/>
          <p:cNvSpPr txBox="1"/>
          <p:nvPr/>
        </p:nvSpPr>
        <p:spPr>
          <a:xfrm>
            <a:off x="3429000" y="2468880"/>
            <a:ext cx="2286000" cy="548640"/>
          </a:xfrm>
          <a:prstGeom prst="rect">
            <a:avLst/>
          </a:prstGeom>
          <a:noFill/>
          <a:ln/>
        </p:spPr>
        <p:txBody>
          <a:bodyPr wrap="square" lIns="0" tIns="0" rIns="0" bIns="0" rtlCol="0" anchor="t"/>
          <a:lstStyle/>
          <a:p>
            <a:pPr indent="0" marL="0">
              <a:buNone/>
            </a:pPr>
            <a:r>
              <a:rPr lang="en-US" sz="1800" b="1" dirty="0">
                <a:solidFill>
                  <a:schemeClr val="tx2"/>
                </a:solidFill>
              </a:rPr>
              <a:t>serious security findings</a:t>
            </a:r>
            <a:endParaRPr lang="en-US" sz="1800" dirty="0"/>
          </a:p>
        </p:txBody>
      </p:sp>
      <p:sp>
        <p:nvSpPr>
          <p:cNvPr id="10" name="net 2 text"/>
          <p:cNvSpPr txBox="1"/>
          <p:nvPr/>
        </p:nvSpPr>
        <p:spPr>
          <a:xfrm>
            <a:off x="3429000" y="3108960"/>
            <a:ext cx="2286000" cy="822960"/>
          </a:xfrm>
          <a:prstGeom prst="rect">
            <a:avLst/>
          </a:prstGeom>
          <a:noFill/>
          <a:ln/>
        </p:spPr>
        <p:txBody>
          <a:bodyPr wrap="square" lIns="0" tIns="0" rIns="0" bIns="0" rtlCol="0" anchor="t"/>
          <a:lstStyle/>
          <a:p>
            <a:pPr indent="0" marL="0">
              <a:buNone/>
            </a:pPr>
            <a:r>
              <a:rPr lang="en-US" sz="1400" dirty="0">
                <a:solidFill>
                  <a:schemeClr val="tx1"/>
                </a:solidFill>
              </a:rPr>
              <a:t>Found by Trivy, then fixed in both images</a:t>
            </a:r>
            <a:endParaRPr lang="en-US" sz="1400" dirty="0"/>
          </a:p>
        </p:txBody>
      </p:sp>
      <p:sp>
        <p:nvSpPr>
          <p:cNvPr id="11" name="net 3 card"/>
          <p:cNvSpPr/>
          <p:nvPr/>
        </p:nvSpPr>
        <p:spPr>
          <a:xfrm>
            <a:off x="6126480" y="1371600"/>
            <a:ext cx="2560320" cy="2697480"/>
          </a:xfrm>
          <a:prstGeom prst="roundRect">
            <a:avLst>
              <a:gd name="adj" fmla="val 428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net 3 number"/>
          <p:cNvSpPr txBox="1"/>
          <p:nvPr/>
        </p:nvSpPr>
        <p:spPr>
          <a:xfrm>
            <a:off x="6263640" y="1508760"/>
            <a:ext cx="2286000" cy="914400"/>
          </a:xfrm>
          <a:prstGeom prst="rect">
            <a:avLst/>
          </a:prstGeom>
          <a:noFill/>
          <a:ln/>
        </p:spPr>
        <p:txBody>
          <a:bodyPr wrap="square" lIns="0" tIns="0" rIns="0" bIns="0" rtlCol="0" anchor="ctr"/>
          <a:lstStyle/>
          <a:p>
            <a:pPr algn="l" indent="0" marL="0">
              <a:buNone/>
            </a:pPr>
            <a:r>
              <a:rPr lang="en-US" sz="4400" b="1" dirty="0">
                <a:solidFill>
                  <a:schemeClr val="accent1"/>
                </a:solidFill>
              </a:rPr>
              <a:t>2</a:t>
            </a:r>
            <a:endParaRPr lang="en-US" sz="4400" dirty="0"/>
          </a:p>
        </p:txBody>
      </p:sp>
      <p:sp>
        <p:nvSpPr>
          <p:cNvPr id="13" name="net 3 title"/>
          <p:cNvSpPr txBox="1"/>
          <p:nvPr/>
        </p:nvSpPr>
        <p:spPr>
          <a:xfrm>
            <a:off x="6263640" y="2468880"/>
            <a:ext cx="2286000" cy="548640"/>
          </a:xfrm>
          <a:prstGeom prst="rect">
            <a:avLst/>
          </a:prstGeom>
          <a:noFill/>
          <a:ln/>
        </p:spPr>
        <p:txBody>
          <a:bodyPr wrap="square" lIns="0" tIns="0" rIns="0" bIns="0" rtlCol="0" anchor="t"/>
          <a:lstStyle/>
          <a:p>
            <a:pPr indent="0" marL="0">
              <a:buNone/>
            </a:pPr>
            <a:r>
              <a:rPr lang="en-US" sz="1800" b="1" dirty="0">
                <a:solidFill>
                  <a:schemeClr val="tx2"/>
                </a:solidFill>
              </a:rPr>
              <a:t>copies of the app running</a:t>
            </a:r>
            <a:endParaRPr lang="en-US" sz="1800" dirty="0"/>
          </a:p>
        </p:txBody>
      </p:sp>
      <p:sp>
        <p:nvSpPr>
          <p:cNvPr id="14" name="net 3 text"/>
          <p:cNvSpPr txBox="1"/>
          <p:nvPr/>
        </p:nvSpPr>
        <p:spPr>
          <a:xfrm>
            <a:off x="6263640" y="3108960"/>
            <a:ext cx="2286000" cy="822960"/>
          </a:xfrm>
          <a:prstGeom prst="rect">
            <a:avLst/>
          </a:prstGeom>
          <a:noFill/>
          <a:ln/>
        </p:spPr>
        <p:txBody>
          <a:bodyPr wrap="square" lIns="0" tIns="0" rIns="0" bIns="0" rtlCol="0" anchor="t"/>
          <a:lstStyle/>
          <a:p>
            <a:pPr indent="0" marL="0">
              <a:buNone/>
            </a:pPr>
            <a:r>
              <a:rPr lang="en-US" sz="1400" dirty="0">
                <a:solidFill>
                  <a:schemeClr val="tx1"/>
                </a:solidFill>
              </a:rPr>
              <a:t>If one crashes, the other keeps serving</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188720"/>
          </a:xfrm>
          <a:prstGeom prst="rect">
            <a:avLst/>
          </a:prstGeom>
          <a:noFill/>
          <a:ln/>
        </p:spPr>
        <p:txBody>
          <a:bodyPr wrap="square" lIns="0" tIns="0" rIns="0" bIns="0" rtlCol="0" anchor="ctr"/>
          <a:lstStyle/>
          <a:p>
            <a:pPr algn="l" indent="0" marL="0">
              <a:buNone/>
            </a:pPr>
            <a:r>
              <a:rPr lang="en-US" sz="4400" b="1" dirty="0">
                <a:solidFill>
                  <a:schemeClr val="bg1"/>
                </a:solidFill>
              </a:rPr>
              <a:t>From laptop to the cloud</a:t>
            </a:r>
            <a:endParaRPr lang="en-US" sz="4400" dirty="0"/>
          </a:p>
        </p:txBody>
      </p:sp>
      <p:sp>
        <p:nvSpPr>
          <p:cNvPr id="3" name="Text 0"/>
          <p:cNvSpPr/>
          <p:nvPr>
            <p:ph idx="101" type="body" hasCustomPrompt="1"/>
          </p:nvPr>
        </p:nvSpPr>
        <p:spPr>
          <a:xfrm>
            <a:off x="640080" y="2697480"/>
            <a:ext cx="7498080" cy="1005840"/>
          </a:xfrm>
          <a:prstGeom prst="rect">
            <a:avLst/>
          </a:prstGeom>
          <a:noFill/>
          <a:ln/>
        </p:spPr>
        <p:txBody>
          <a:bodyPr wrap="square" lIns="0" tIns="0" rIns="0" bIns="0" rtlCol="0" anchor="t"/>
          <a:lstStyle/>
          <a:p>
            <a:pPr algn="l" indent="0" marL="0">
              <a:buNone/>
            </a:pPr>
            <a:r>
              <a:rPr lang="en-US" sz="2000" dirty="0">
                <a:solidFill>
                  <a:schemeClr val="bg2"/>
                </a:solidFill>
              </a:rPr>
              <a:t>Push code, and it is tested, scanned, published, deployed and watched.</a:t>
            </a:r>
            <a:endParaRPr lang="en-US" sz="2000" dirty="0"/>
          </a:p>
          <a:p>
            <a:pPr algn="l" indent="0" marL="0">
              <a:buNone/>
            </a:pPr>
            <a:r>
              <a:rPr lang="en-US" sz="2000" dirty="0">
                <a:solidFill>
                  <a:schemeClr val="bg2"/>
                </a:solidFill>
              </a:rPr>
              <a:t>Next: auto-scaling, a permanent database volume and a staging environment.</a:t>
            </a:r>
            <a:endParaRPr lang="en-US" sz="2000" dirty="0"/>
          </a:p>
        </p:txBody>
      </p:sp>
      <p:sp>
        <p:nvSpPr>
          <p:cNvPr id="4" name="thanks"/>
          <p:cNvSpPr txBox="1"/>
          <p:nvPr/>
        </p:nvSpPr>
        <p:spPr>
          <a:xfrm>
            <a:off x="640080" y="4343400"/>
            <a:ext cx="4572000" cy="457200"/>
          </a:xfrm>
          <a:prstGeom prst="rect">
            <a:avLst/>
          </a:prstGeom>
          <a:noFill/>
          <a:ln/>
        </p:spPr>
        <p:txBody>
          <a:bodyPr wrap="square" lIns="0" tIns="0" rIns="0" bIns="0" rtlCol="0" anchor="ctr"/>
          <a:lstStyle/>
          <a:p>
            <a:pPr indent="0" marL="0">
              <a:buNone/>
            </a:pPr>
            <a:r>
              <a:rPr lang="en-US" sz="2400" b="1" dirty="0">
                <a:solidFill>
                  <a:schemeClr val="accent3"/>
                </a:solidFill>
              </a:rPr>
              <a:t>Thank you</a:t>
            </a:r>
            <a:endParaRPr lang="en-US" sz="2400" dirty="0"/>
          </a:p>
        </p:txBody>
      </p:sp>
    </p:spTree>
  </p:cSld>
  <p:clrMapOvr>
    <a:masterClrMapping/>
  </p:clrMapOvr>
</p:sld>
</file>

<file path=ppt/theme/theme1.xml><?xml version="1.0" encoding="utf-8"?>
<a:theme xmlns:a="http://schemas.openxmlformats.org/drawingml/2006/main" name="Ecommerce Admin">
  <a:themeElements>
    <a:clrScheme name="Ecommerce Admin">
      <a:dk1>
        <a:srgbClr val="1B1F2A"/>
      </a:dk1>
      <a:lt1>
        <a:srgbClr val="FFFFFF"/>
      </a:lt1>
      <a:dk2>
        <a:srgbClr val="1E2235"/>
      </a:dk2>
      <a:lt2>
        <a:srgbClr val="F4F5F9"/>
      </a:lt2>
      <a:accent1>
        <a:srgbClr val="4F46E5"/>
      </a:accent1>
      <a:accent2>
        <a:srgbClr val="10B981"/>
      </a:accent2>
      <a:accent3>
        <a:srgbClr val="F59E0B"/>
      </a:accent3>
      <a:accent4>
        <a:srgbClr val="EF4444"/>
      </a:accent4>
      <a:accent5>
        <a:srgbClr val="3B82F6"/>
      </a:accent5>
      <a:accent6>
        <a:srgbClr val="6B7280"/>
      </a:accent6>
      <a:hlink>
        <a:srgbClr val="4F46E5"/>
      </a:hlink>
      <a:folHlink>
        <a:srgbClr val="6B7280"/>
      </a:folHlink>
    </a:clrScheme>
    <a:fontScheme name="Ecommerce Admi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Ecommerce Admin - DevOps Capstone</dc:title>
  <dc:subject>PptxGenJS Presentation</dc:subject>
  <dc:creator>Naverdo Sandeep</dc:creator>
  <cp:lastModifiedBy>Naverdo Sandeep</cp:lastModifiedBy>
  <cp:revision>1</cp:revision>
  <dcterms:created xsi:type="dcterms:W3CDTF">2026-10-16T18:21:46Z</dcterms:created>
  <dcterms:modified xsi:type="dcterms:W3CDTF">2026-10-16T18:21:46Z</dcterms:modified>
</cp:coreProperties>
</file>