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790e517-6526-489f-a790-0f22a03efdd7}">
          <p14:sldIdLst>
            <p14:sldId id="256"/>
            <p14:sldId id="257"/>
            <p14:sldId id="258"/>
            <p14:sldId id="259"/>
          </p14:sldIdLst>
        </p14:section>
        <p14:section name="How we built it" id="{3f88bcd3-ca6b-6933-6474-32949cad6a3f}">
          <p14:sldIdLst>
            <p14:sldId id="260"/>
            <p14:sldId id="261"/>
          </p14:sldIdLst>
        </p14:section>
        <p14:section name="Proof" id="{fc2c5265-4521-54b6-e525-50a3be227e29}">
          <p14:sldIdLst>
            <p14:sldId id="262"/>
            <p14:sldId id="263"/>
            <p14:sldId id="264"/>
            <p14:sldId id="265"/>
            <p14:sldId id="266"/>
            <p14:sldId id="267"/>
            <p14:sldId id="268"/>
          </p14:sldIdLst>
        </p14:section>
        <p14:section name="Wrap-up" id="{db931d9d-305b-41f4-777b-445439918970}">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this is Ecommerce Admin. It is a small web app a shop owner uses to manage products, customers and orders. The interesting part is everything around the app: how it is tested, packaged, secured, deployed and watched.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shop owner needs to know what they sell and how much is left, who their customers are and what they ordered, and how the business is doing. The app puts all three on one screen, and it works on a phone too. Why build it? Because spreadsheets get messy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itself uses React for the screen, FastAPI for the logic, PostgreSQL for storage and Nginx to serve the page. Around it: Docker packages it, GitHub Actions automates it, Trivy scans for security problems, Terraform describes the cloud setup, Kubernetes and Helm run it, and Prometheus and Grafana watch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restaurant. The web page is the menu you read. Nginx is the doorman who passes your order on. FastAPI is the kitchen that applies the rules. PostgreSQL is the pantry book that remembers everything. Each one runs in its own container, so any one can be changed without touching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it in this order. First the app, then tests so we can trust it, then Git so every change is recorded. Containers make it run the same everywhere. A pipeline tests and builds on every push, and a scanner checks for security problems. Terraform describes the cloud setup, Kubernetes runs it, and Prometheus with Grafana lets us watch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the main decisions and what we passed on. Splitting the screen and the brain lets each change independently. Compose is fine on one laptop, but Kubernetes restarts failures and scales. GitHub Actions needs no extra server. And slim Alpine images removed dozens of security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GitHub Actions after a push to main. Tests and the frontend build run first. Only if they pass do the Docker images get built and published, each tagged with the commit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in one public GitHub repository: the frontend, the backend, the pipeline and the deployment files. Each milestone is its own commit, so the history shows how the project grew.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app runs on a local Kubernetes cluster, installed with one Helm command. Five pods, all Running. The frontend and backend each have two copies, so if one fails the other keeps serving.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app, opened through the cluster's front door, called an Ingress. Requests for the page go to the frontend, and requests starting with slash api go to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one machine, a single command, docker compose up, starts the database, backend and frontend. The database sits on a private network that the frontend cannot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describes the AWS setup as code: a private network with two public subnets and a Kubernetes cluster called EKS. One command created all fifteen resources, and the same code can remove them again, so nothing is left running up a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Prometheus collects numbers from the backend every few seconds and Grafana draws them. This dashboard shows traffic, errors, speed and memory, so we can spot problems as they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safety nets. Thirty-one automatic tests gate every change. The security scanner found 88 serious issues across the two images, and we fixed them all. And Kubernetes keeps two copies of the frontend and backend, so one crash does not take the app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a developer pushes code, the pipeline tests and scans it and publishes images, we deploy them to Kubernetes, and Grafana shows how it is doing. Next steps would be automatic deploys and a staging environment.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7316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Ecommerce Admin  |  DevOps capstone</a:t>
            </a:r>
            <a:endParaRPr lang="en-US" sz="1000" dirty="0"/>
          </a:p>
        </p:txBody>
      </p:sp>
      <p:sp>
        <p:nvSpPr>
          <p:cNvPr id="3" name="Text 1"/>
          <p:cNvSpPr/>
          <p:nvPr>
            <p:ph idx="101" type="title" hasCustomPrompt="1"/>
          </p:nvPr>
        </p:nvSpPr>
        <p:spPr>
          <a:xfrm>
            <a:off x="457200" y="320040"/>
            <a:ext cx="8229600"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2697480"/>
            <a:ext cx="7498080" cy="10058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slideLayout" Target="../slideLayouts/slideLayout2.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188720"/>
          </a:xfrm>
          <a:prstGeom prst="rect">
            <a:avLst/>
          </a:prstGeom>
          <a:noFill/>
          <a:ln/>
        </p:spPr>
        <p:txBody>
          <a:bodyPr wrap="square" lIns="0" tIns="0" rIns="0" bIns="0" rtlCol="0" anchor="ctr"/>
          <a:lstStyle/>
          <a:p>
            <a:pPr algn="l" indent="0" marL="0">
              <a:buNone/>
            </a:pPr>
            <a:r>
              <a:rPr lang="en-US" sz="4400" b="1" dirty="0">
                <a:solidFill>
                  <a:schemeClr val="bg1"/>
                </a:solidFill>
              </a:rPr>
              <a:t>Ecommerce Admin</a:t>
            </a:r>
            <a:endParaRPr lang="en-US" sz="4400" dirty="0"/>
          </a:p>
        </p:txBody>
      </p:sp>
      <p:sp>
        <p:nvSpPr>
          <p:cNvPr id="3" name="Text 0"/>
          <p:cNvSpPr/>
          <p:nvPr>
            <p:ph idx="101" type="body" hasCustomPrompt="1"/>
          </p:nvPr>
        </p:nvSpPr>
        <p:spPr>
          <a:xfrm>
            <a:off x="640080" y="2697480"/>
            <a:ext cx="7498080" cy="1005840"/>
          </a:xfrm>
          <a:prstGeom prst="rect">
            <a:avLst/>
          </a:prstGeom>
          <a:noFill/>
          <a:ln/>
        </p:spPr>
        <p:txBody>
          <a:bodyPr wrap="square" lIns="0" tIns="0" rIns="0" bIns="0" rtlCol="0" anchor="t"/>
          <a:lstStyle/>
          <a:p>
            <a:pPr algn="l" indent="0" marL="0">
              <a:buNone/>
            </a:pPr>
            <a:r>
              <a:rPr lang="en-US" sz="2000" dirty="0">
                <a:solidFill>
                  <a:schemeClr val="bg2"/>
                </a:solidFill>
              </a:rPr>
              <a:t>A small store-management app, taken from a laptop to a monitored, cloud-ready system</a:t>
            </a:r>
            <a:endParaRPr lang="en-US" sz="2000" dirty="0"/>
          </a:p>
        </p:txBody>
      </p:sp>
      <p:sp>
        <p:nvSpPr>
          <p:cNvPr id="4" name="byline"/>
          <p:cNvSpPr txBox="1"/>
          <p:nvPr/>
        </p:nvSpPr>
        <p:spPr>
          <a:xfrm>
            <a:off x="640080" y="4297680"/>
            <a:ext cx="7315200" cy="320040"/>
          </a:xfrm>
          <a:prstGeom prst="rect">
            <a:avLst/>
          </a:prstGeom>
          <a:noFill/>
          <a:ln/>
        </p:spPr>
        <p:txBody>
          <a:bodyPr wrap="square" lIns="0" tIns="0" rIns="0" bIns="0" rtlCol="0" anchor="ctr"/>
          <a:lstStyle/>
          <a:p>
            <a:pPr indent="0" marL="0">
              <a:buNone/>
            </a:pPr>
            <a:r>
              <a:rPr lang="en-US" sz="1400" dirty="0">
                <a:solidFill>
                  <a:schemeClr val="bg2"/>
                </a:solidFill>
              </a:rPr>
              <a:t>DevOps &amp; Cloud capstone  |  Naverdo Sandeep</a:t>
            </a:r>
            <a:endParaRPr lang="en-US" sz="1400" dirty="0"/>
          </a:p>
        </p:txBody>
      </p:sp>
      <p:sp>
        <p:nvSpPr>
          <p:cNvPr id="5" name="store circle"/>
          <p:cNvSpPr/>
          <p:nvPr/>
        </p:nvSpPr>
        <p:spPr>
          <a:xfrm>
            <a:off x="7635240" y="502920"/>
            <a:ext cx="822960" cy="822960"/>
          </a:xfrm>
          <a:prstGeom prst="ellipse">
            <a:avLst/>
          </a:prstGeom>
          <a:solidFill>
            <a:schemeClr val="accent1"/>
          </a:solidFill>
          <a:ln w="12700">
            <a:solidFill>
              <a:schemeClr val="accent1"/>
            </a:solidFill>
            <a:prstDash val="solid"/>
          </a:ln>
        </p:spPr>
      </p:sp>
      <p:pic>
        <p:nvPicPr>
          <p:cNvPr id="6" name="store icon" descr="store">    </p:cNvPr>
          <p:cNvPicPr>
            <a:picLocks noChangeAspect="1"/>
          </p:cNvPicPr>
          <p:nvPr/>
        </p:nvPicPr>
        <p:blipFill>
          <a:blip r:embed="rId1"/>
          <a:stretch>
            <a:fillRect/>
          </a:stretch>
        </p:blipFill>
        <p:spPr>
          <a:xfrm>
            <a:off x="7857439" y="725119"/>
            <a:ext cx="378562" cy="3785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One place to run an online store</a:t>
            </a:r>
            <a:endParaRPr lang="en-US" sz="3400" dirty="0"/>
          </a:p>
        </p:txBody>
      </p:sp>
      <p:sp>
        <p:nvSpPr>
          <p:cNvPr id="3" name="feature 1 circle"/>
          <p:cNvSpPr/>
          <p:nvPr/>
        </p:nvSpPr>
        <p:spPr>
          <a:xfrm>
            <a:off x="457200" y="1371600"/>
            <a:ext cx="640080" cy="640080"/>
          </a:xfrm>
          <a:prstGeom prst="ellipse">
            <a:avLst/>
          </a:prstGeom>
          <a:solidFill>
            <a:schemeClr val="accent1"/>
          </a:solidFill>
          <a:ln w="12700">
            <a:solidFill>
              <a:schemeClr val="accent1"/>
            </a:solidFill>
            <a:prstDash val="solid"/>
          </a:ln>
        </p:spPr>
      </p:sp>
      <p:pic>
        <p:nvPicPr>
          <p:cNvPr id="4" name="feature 1 icon" descr="feature 1">    </p:cNvPr>
          <p:cNvPicPr>
            <a:picLocks noChangeAspect="1"/>
          </p:cNvPicPr>
          <p:nvPr/>
        </p:nvPicPr>
        <p:blipFill>
          <a:blip r:embed="rId1"/>
          <a:stretch>
            <a:fillRect/>
          </a:stretch>
        </p:blipFill>
        <p:spPr>
          <a:xfrm>
            <a:off x="630022" y="1544422"/>
            <a:ext cx="294437" cy="294437"/>
          </a:xfrm>
          <a:prstGeom prst="rect">
            <a:avLst/>
          </a:prstGeom>
        </p:spPr>
      </p:pic>
      <p:sp>
        <p:nvSpPr>
          <p:cNvPr id="5" name="feature 1 title"/>
          <p:cNvSpPr txBox="1"/>
          <p:nvPr/>
        </p:nvSpPr>
        <p:spPr>
          <a:xfrm>
            <a:off x="1325880" y="1371600"/>
            <a:ext cx="7223760" cy="320040"/>
          </a:xfrm>
          <a:prstGeom prst="rect">
            <a:avLst/>
          </a:prstGeom>
          <a:noFill/>
          <a:ln/>
        </p:spPr>
        <p:txBody>
          <a:bodyPr wrap="square" lIns="0" tIns="0" rIns="0" bIns="0" rtlCol="0" anchor="ctr"/>
          <a:lstStyle/>
          <a:p>
            <a:pPr indent="0" marL="0">
              <a:buNone/>
            </a:pPr>
            <a:r>
              <a:rPr lang="en-US" sz="2000" b="1" dirty="0">
                <a:solidFill>
                  <a:schemeClr val="tx2"/>
                </a:solidFill>
              </a:rPr>
              <a:t>Products and stock</a:t>
            </a:r>
            <a:endParaRPr lang="en-US" sz="2000" dirty="0"/>
          </a:p>
        </p:txBody>
      </p:sp>
      <p:sp>
        <p:nvSpPr>
          <p:cNvPr id="6" name="feature 1 text"/>
          <p:cNvSpPr txBox="1"/>
          <p:nvPr/>
        </p:nvSpPr>
        <p:spPr>
          <a:xfrm>
            <a:off x="1325880" y="1709928"/>
            <a:ext cx="7223760" cy="365760"/>
          </a:xfrm>
          <a:prstGeom prst="rect">
            <a:avLst/>
          </a:prstGeom>
          <a:noFill/>
          <a:ln/>
        </p:spPr>
        <p:txBody>
          <a:bodyPr wrap="square" lIns="0" tIns="0" rIns="0" bIns="0" rtlCol="0" anchor="ctr"/>
          <a:lstStyle/>
          <a:p>
            <a:pPr indent="0" marL="0">
              <a:buNone/>
            </a:pPr>
            <a:r>
              <a:rPr lang="en-US" sz="1600" dirty="0">
                <a:solidFill>
                  <a:schemeClr val="tx1"/>
                </a:solidFill>
              </a:rPr>
              <a:t>Prices, items, what is running low</a:t>
            </a:r>
            <a:endParaRPr lang="en-US" sz="1600" dirty="0"/>
          </a:p>
        </p:txBody>
      </p:sp>
      <p:sp>
        <p:nvSpPr>
          <p:cNvPr id="7" name="feature 2 circle"/>
          <p:cNvSpPr/>
          <p:nvPr/>
        </p:nvSpPr>
        <p:spPr>
          <a:xfrm>
            <a:off x="457200" y="2286000"/>
            <a:ext cx="640080" cy="640080"/>
          </a:xfrm>
          <a:prstGeom prst="ellipse">
            <a:avLst/>
          </a:prstGeom>
          <a:solidFill>
            <a:schemeClr val="accent1"/>
          </a:solidFill>
          <a:ln w="12700">
            <a:solidFill>
              <a:schemeClr val="accent1"/>
            </a:solidFill>
            <a:prstDash val="solid"/>
          </a:ln>
        </p:spPr>
      </p:sp>
      <p:pic>
        <p:nvPicPr>
          <p:cNvPr id="8" name="feature 2 icon" descr="feature 2">    </p:cNvPr>
          <p:cNvPicPr>
            <a:picLocks noChangeAspect="1"/>
          </p:cNvPicPr>
          <p:nvPr/>
        </p:nvPicPr>
        <p:blipFill>
          <a:blip r:embed="rId2"/>
          <a:stretch>
            <a:fillRect/>
          </a:stretch>
        </p:blipFill>
        <p:spPr>
          <a:xfrm>
            <a:off x="630022" y="2458822"/>
            <a:ext cx="294437" cy="294437"/>
          </a:xfrm>
          <a:prstGeom prst="rect">
            <a:avLst/>
          </a:prstGeom>
        </p:spPr>
      </p:pic>
      <p:sp>
        <p:nvSpPr>
          <p:cNvPr id="9" name="feature 2 title"/>
          <p:cNvSpPr txBox="1"/>
          <p:nvPr/>
        </p:nvSpPr>
        <p:spPr>
          <a:xfrm>
            <a:off x="1325880" y="2286000"/>
            <a:ext cx="7223760" cy="320040"/>
          </a:xfrm>
          <a:prstGeom prst="rect">
            <a:avLst/>
          </a:prstGeom>
          <a:noFill/>
          <a:ln/>
        </p:spPr>
        <p:txBody>
          <a:bodyPr wrap="square" lIns="0" tIns="0" rIns="0" bIns="0" rtlCol="0" anchor="ctr"/>
          <a:lstStyle/>
          <a:p>
            <a:pPr indent="0" marL="0">
              <a:buNone/>
            </a:pPr>
            <a:r>
              <a:rPr lang="en-US" sz="2000" b="1" dirty="0">
                <a:solidFill>
                  <a:schemeClr val="tx2"/>
                </a:solidFill>
              </a:rPr>
              <a:t>Customers and orders</a:t>
            </a:r>
            <a:endParaRPr lang="en-US" sz="2000" dirty="0"/>
          </a:p>
        </p:txBody>
      </p:sp>
      <p:sp>
        <p:nvSpPr>
          <p:cNvPr id="10" name="feature 2 text"/>
          <p:cNvSpPr txBox="1"/>
          <p:nvPr/>
        </p:nvSpPr>
        <p:spPr>
          <a:xfrm>
            <a:off x="1325880" y="2624328"/>
            <a:ext cx="7223760" cy="365760"/>
          </a:xfrm>
          <a:prstGeom prst="rect">
            <a:avLst/>
          </a:prstGeom>
          <a:noFill/>
          <a:ln/>
        </p:spPr>
        <p:txBody>
          <a:bodyPr wrap="square" lIns="0" tIns="0" rIns="0" bIns="0" rtlCol="0" anchor="ctr"/>
          <a:lstStyle/>
          <a:p>
            <a:pPr indent="0" marL="0">
              <a:buNone/>
            </a:pPr>
            <a:r>
              <a:rPr lang="en-US" sz="1600" dirty="0">
                <a:solidFill>
                  <a:schemeClr val="tx1"/>
                </a:solidFill>
              </a:rPr>
              <a:t>Orders update stock automatically</a:t>
            </a:r>
            <a:endParaRPr lang="en-US" sz="1600" dirty="0"/>
          </a:p>
        </p:txBody>
      </p:sp>
      <p:sp>
        <p:nvSpPr>
          <p:cNvPr id="11" name="feature 3 circle"/>
          <p:cNvSpPr/>
          <p:nvPr/>
        </p:nvSpPr>
        <p:spPr>
          <a:xfrm>
            <a:off x="457200" y="3200400"/>
            <a:ext cx="640080" cy="640080"/>
          </a:xfrm>
          <a:prstGeom prst="ellipse">
            <a:avLst/>
          </a:prstGeom>
          <a:solidFill>
            <a:schemeClr val="accent1"/>
          </a:solidFill>
          <a:ln w="12700">
            <a:solidFill>
              <a:schemeClr val="accent1"/>
            </a:solidFill>
            <a:prstDash val="solid"/>
          </a:ln>
        </p:spPr>
      </p:sp>
      <p:pic>
        <p:nvPicPr>
          <p:cNvPr id="12" name="feature 3 icon" descr="feature 3">    </p:cNvPr>
          <p:cNvPicPr>
            <a:picLocks noChangeAspect="1"/>
          </p:cNvPicPr>
          <p:nvPr/>
        </p:nvPicPr>
        <p:blipFill>
          <a:blip r:embed="rId3"/>
          <a:stretch>
            <a:fillRect/>
          </a:stretch>
        </p:blipFill>
        <p:spPr>
          <a:xfrm>
            <a:off x="630022" y="3373222"/>
            <a:ext cx="294437" cy="294437"/>
          </a:xfrm>
          <a:prstGeom prst="rect">
            <a:avLst/>
          </a:prstGeom>
        </p:spPr>
      </p:pic>
      <p:sp>
        <p:nvSpPr>
          <p:cNvPr id="13" name="feature 3 title"/>
          <p:cNvSpPr txBox="1"/>
          <p:nvPr/>
        </p:nvSpPr>
        <p:spPr>
          <a:xfrm>
            <a:off x="1325880" y="3200400"/>
            <a:ext cx="7223760" cy="320040"/>
          </a:xfrm>
          <a:prstGeom prst="rect">
            <a:avLst/>
          </a:prstGeom>
          <a:noFill/>
          <a:ln/>
        </p:spPr>
        <p:txBody>
          <a:bodyPr wrap="square" lIns="0" tIns="0" rIns="0" bIns="0" rtlCol="0" anchor="ctr"/>
          <a:lstStyle/>
          <a:p>
            <a:pPr indent="0" marL="0">
              <a:buNone/>
            </a:pPr>
            <a:r>
              <a:rPr lang="en-US" sz="2000" b="1" dirty="0">
                <a:solidFill>
                  <a:schemeClr val="tx2"/>
                </a:solidFill>
              </a:rPr>
              <a:t>Sales dashboard</a:t>
            </a:r>
            <a:endParaRPr lang="en-US" sz="2000" dirty="0"/>
          </a:p>
        </p:txBody>
      </p:sp>
      <p:sp>
        <p:nvSpPr>
          <p:cNvPr id="14" name="feature 3 text"/>
          <p:cNvSpPr txBox="1"/>
          <p:nvPr/>
        </p:nvSpPr>
        <p:spPr>
          <a:xfrm>
            <a:off x="1325880" y="3538728"/>
            <a:ext cx="7223760" cy="365760"/>
          </a:xfrm>
          <a:prstGeom prst="rect">
            <a:avLst/>
          </a:prstGeom>
          <a:noFill/>
          <a:ln/>
        </p:spPr>
        <p:txBody>
          <a:bodyPr wrap="square" lIns="0" tIns="0" rIns="0" bIns="0" rtlCol="0" anchor="ctr"/>
          <a:lstStyle/>
          <a:p>
            <a:pPr indent="0" marL="0">
              <a:buNone/>
            </a:pPr>
            <a:r>
              <a:rPr lang="en-US" sz="1600" dirty="0">
                <a:solidFill>
                  <a:schemeClr val="tx1"/>
                </a:solidFill>
              </a:rPr>
              <a:t>Revenue and best sellers at a glance</a:t>
            </a:r>
            <a:endParaRPr lang="en-US" sz="1600" dirty="0"/>
          </a:p>
        </p:txBody>
      </p:sp>
      <p:sp>
        <p:nvSpPr>
          <p:cNvPr id="15" name="why text"/>
          <p:cNvSpPr txBox="1"/>
          <p:nvPr/>
        </p:nvSpPr>
        <p:spPr>
          <a:xfrm>
            <a:off x="457200" y="4206240"/>
            <a:ext cx="8229600" cy="411480"/>
          </a:xfrm>
          <a:prstGeom prst="rect">
            <a:avLst/>
          </a:prstGeom>
          <a:noFill/>
          <a:ln/>
        </p:spPr>
        <p:txBody>
          <a:bodyPr wrap="square" lIns="0" tIns="0" rIns="0" bIns="0" rtlCol="0" anchor="ctr"/>
          <a:lstStyle/>
          <a:p>
            <a:pPr indent="0" marL="0">
              <a:buNone/>
            </a:pPr>
            <a:r>
              <a:rPr lang="en-US" sz="1800" b="1" dirty="0">
                <a:solidFill>
                  <a:schemeClr val="accent1"/>
                </a:solidFill>
              </a:rPr>
              <a:t>Why: </a:t>
            </a:r>
            <a:pPr indent="0" marL="0">
              <a:buNone/>
            </a:pPr>
            <a:r>
              <a:rPr lang="en-US" sz="1800" dirty="0">
                <a:solidFill>
                  <a:schemeClr val="tx1"/>
                </a:solidFill>
              </a:rPr>
              <a:t>one simple screen instead of spreadsheets</a:t>
            </a:r>
            <a:endParaRPr lang="en-US" sz="18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The tech stack</a:t>
            </a:r>
            <a:endParaRPr lang="en-US" sz="3400" dirty="0"/>
          </a:p>
        </p:txBody>
      </p:sp>
      <p:sp>
        <p:nvSpPr>
          <p:cNvPr id="3" name="The app label"/>
          <p:cNvSpPr txBox="1"/>
          <p:nvPr/>
        </p:nvSpPr>
        <p:spPr>
          <a:xfrm>
            <a:off x="457200" y="1280160"/>
            <a:ext cx="2743200" cy="320040"/>
          </a:xfrm>
          <a:prstGeom prst="rect">
            <a:avLst/>
          </a:prstGeom>
          <a:noFill/>
          <a:ln/>
        </p:spPr>
        <p:txBody>
          <a:bodyPr wrap="square" lIns="0" tIns="0" rIns="0" bIns="0" rtlCol="0" anchor="ctr"/>
          <a:lstStyle/>
          <a:p>
            <a:pPr indent="0" marL="0">
              <a:buNone/>
            </a:pPr>
            <a:r>
              <a:rPr lang="en-US" sz="1800" b="1" dirty="0">
                <a:solidFill>
                  <a:schemeClr val="tx2"/>
                </a:solidFill>
              </a:rPr>
              <a:t>The app</a:t>
            </a:r>
            <a:endParaRPr lang="en-US" sz="1800" dirty="0"/>
          </a:p>
        </p:txBody>
      </p:sp>
      <p:sp>
        <p:nvSpPr>
          <p:cNvPr id="4" name="The app sub"/>
          <p:cNvSpPr txBox="1"/>
          <p:nvPr/>
        </p:nvSpPr>
        <p:spPr>
          <a:xfrm>
            <a:off x="2011680" y="1280160"/>
            <a:ext cx="5486400" cy="320040"/>
          </a:xfrm>
          <a:prstGeom prst="rect">
            <a:avLst/>
          </a:prstGeom>
          <a:noFill/>
          <a:ln/>
        </p:spPr>
        <p:txBody>
          <a:bodyPr wrap="square" lIns="0" tIns="0" rIns="0" bIns="0" rtlCol="0" anchor="ctr"/>
          <a:lstStyle/>
          <a:p>
            <a:pPr indent="0" marL="0">
              <a:buNone/>
            </a:pPr>
            <a:r>
              <a:rPr lang="en-US" sz="1400" dirty="0">
                <a:solidFill>
                  <a:schemeClr val="accent6"/>
                </a:solidFill>
              </a:rPr>
              <a:t>What the shop owner uses</a:t>
            </a:r>
            <a:endParaRPr lang="en-US" sz="1400" dirty="0"/>
          </a:p>
        </p:txBody>
      </p:sp>
      <p:sp>
        <p:nvSpPr>
          <p:cNvPr id="5" name="React chip"/>
          <p:cNvSpPr/>
          <p:nvPr/>
        </p:nvSpPr>
        <p:spPr>
          <a:xfrm>
            <a:off x="457200" y="1737360"/>
            <a:ext cx="1920240" cy="502920"/>
          </a:xfrm>
          <a:prstGeom prst="roundRect">
            <a:avLst>
              <a:gd name="adj" fmla="val 18182"/>
            </a:avLst>
          </a:prstGeom>
          <a:solidFill>
            <a:schemeClr val="bg2"/>
          </a:solidFill>
          <a:ln w="12700">
            <a:solidFill>
              <a:schemeClr val="bg2"/>
            </a:solidFill>
            <a:prstDash val="solid"/>
          </a:ln>
        </p:spPr>
      </p:sp>
      <p:sp>
        <p:nvSpPr>
          <p:cNvPr id="6" name="React circle"/>
          <p:cNvSpPr/>
          <p:nvPr/>
        </p:nvSpPr>
        <p:spPr>
          <a:xfrm>
            <a:off x="548640" y="1810512"/>
            <a:ext cx="356616" cy="356616"/>
          </a:xfrm>
          <a:prstGeom prst="ellipse">
            <a:avLst/>
          </a:prstGeom>
          <a:solidFill>
            <a:schemeClr val="accent1"/>
          </a:solidFill>
          <a:ln w="12700">
            <a:solidFill>
              <a:schemeClr val="accent1"/>
            </a:solidFill>
            <a:prstDash val="solid"/>
          </a:ln>
        </p:spPr>
      </p:sp>
      <p:pic>
        <p:nvPicPr>
          <p:cNvPr id="7" name="React icon" descr="React">    </p:cNvPr>
          <p:cNvPicPr>
            <a:picLocks noChangeAspect="1"/>
          </p:cNvPicPr>
          <p:nvPr/>
        </p:nvPicPr>
        <p:blipFill>
          <a:blip r:embed="rId1"/>
          <a:stretch>
            <a:fillRect/>
          </a:stretch>
        </p:blipFill>
        <p:spPr>
          <a:xfrm>
            <a:off x="644926" y="1906798"/>
            <a:ext cx="164043" cy="164043"/>
          </a:xfrm>
          <a:prstGeom prst="rect">
            <a:avLst/>
          </a:prstGeom>
        </p:spPr>
      </p:pic>
      <p:sp>
        <p:nvSpPr>
          <p:cNvPr id="8" name="React name"/>
          <p:cNvSpPr txBox="1"/>
          <p:nvPr/>
        </p:nvSpPr>
        <p:spPr>
          <a:xfrm>
            <a:off x="987552" y="1737360"/>
            <a:ext cx="1325880" cy="502920"/>
          </a:xfrm>
          <a:prstGeom prst="rect">
            <a:avLst/>
          </a:prstGeom>
          <a:noFill/>
          <a:ln/>
        </p:spPr>
        <p:txBody>
          <a:bodyPr wrap="square" lIns="0" tIns="0" rIns="0" bIns="0" rtlCol="0" anchor="ctr"/>
          <a:lstStyle/>
          <a:p>
            <a:pPr indent="0" marL="0">
              <a:buNone/>
            </a:pPr>
            <a:r>
              <a:rPr lang="en-US" sz="1400" b="1" dirty="0">
                <a:solidFill>
                  <a:schemeClr val="tx2"/>
                </a:solidFill>
              </a:rPr>
              <a:t>React</a:t>
            </a:r>
            <a:endParaRPr lang="en-US" sz="1400" dirty="0"/>
          </a:p>
        </p:txBody>
      </p:sp>
      <p:sp>
        <p:nvSpPr>
          <p:cNvPr id="9" name="FastAPI chip"/>
          <p:cNvSpPr/>
          <p:nvPr/>
        </p:nvSpPr>
        <p:spPr>
          <a:xfrm>
            <a:off x="2560320" y="1737360"/>
            <a:ext cx="1920240" cy="502920"/>
          </a:xfrm>
          <a:prstGeom prst="roundRect">
            <a:avLst>
              <a:gd name="adj" fmla="val 18182"/>
            </a:avLst>
          </a:prstGeom>
          <a:solidFill>
            <a:schemeClr val="bg2"/>
          </a:solidFill>
          <a:ln w="12700">
            <a:solidFill>
              <a:schemeClr val="bg2"/>
            </a:solidFill>
            <a:prstDash val="solid"/>
          </a:ln>
        </p:spPr>
      </p:sp>
      <p:sp>
        <p:nvSpPr>
          <p:cNvPr id="10" name="FastAPI circle"/>
          <p:cNvSpPr/>
          <p:nvPr/>
        </p:nvSpPr>
        <p:spPr>
          <a:xfrm>
            <a:off x="2651760" y="1810512"/>
            <a:ext cx="356616" cy="356616"/>
          </a:xfrm>
          <a:prstGeom prst="ellipse">
            <a:avLst/>
          </a:prstGeom>
          <a:solidFill>
            <a:schemeClr val="accent1"/>
          </a:solidFill>
          <a:ln w="12700">
            <a:solidFill>
              <a:schemeClr val="accent1"/>
            </a:solidFill>
            <a:prstDash val="solid"/>
          </a:ln>
        </p:spPr>
      </p:sp>
      <p:pic>
        <p:nvPicPr>
          <p:cNvPr id="11" name="FastAPI icon" descr="FastAPI">    </p:cNvPr>
          <p:cNvPicPr>
            <a:picLocks noChangeAspect="1"/>
          </p:cNvPicPr>
          <p:nvPr/>
        </p:nvPicPr>
        <p:blipFill>
          <a:blip r:embed="rId2"/>
          <a:stretch>
            <a:fillRect/>
          </a:stretch>
        </p:blipFill>
        <p:spPr>
          <a:xfrm>
            <a:off x="2748046" y="1906798"/>
            <a:ext cx="164043" cy="164043"/>
          </a:xfrm>
          <a:prstGeom prst="rect">
            <a:avLst/>
          </a:prstGeom>
        </p:spPr>
      </p:pic>
      <p:sp>
        <p:nvSpPr>
          <p:cNvPr id="12" name="FastAPI name"/>
          <p:cNvSpPr txBox="1"/>
          <p:nvPr/>
        </p:nvSpPr>
        <p:spPr>
          <a:xfrm>
            <a:off x="3090672" y="1737360"/>
            <a:ext cx="1325880" cy="502920"/>
          </a:xfrm>
          <a:prstGeom prst="rect">
            <a:avLst/>
          </a:prstGeom>
          <a:noFill/>
          <a:ln/>
        </p:spPr>
        <p:txBody>
          <a:bodyPr wrap="square" lIns="0" tIns="0" rIns="0" bIns="0" rtlCol="0" anchor="ctr"/>
          <a:lstStyle/>
          <a:p>
            <a:pPr indent="0" marL="0">
              <a:buNone/>
            </a:pPr>
            <a:r>
              <a:rPr lang="en-US" sz="1400" b="1" dirty="0">
                <a:solidFill>
                  <a:schemeClr val="tx2"/>
                </a:solidFill>
              </a:rPr>
              <a:t>FastAPI</a:t>
            </a:r>
            <a:endParaRPr lang="en-US" sz="1400" dirty="0"/>
          </a:p>
        </p:txBody>
      </p:sp>
      <p:sp>
        <p:nvSpPr>
          <p:cNvPr id="13" name="PostgreSQL chip"/>
          <p:cNvSpPr/>
          <p:nvPr/>
        </p:nvSpPr>
        <p:spPr>
          <a:xfrm>
            <a:off x="4663440" y="1737360"/>
            <a:ext cx="1920240" cy="502920"/>
          </a:xfrm>
          <a:prstGeom prst="roundRect">
            <a:avLst>
              <a:gd name="adj" fmla="val 18182"/>
            </a:avLst>
          </a:prstGeom>
          <a:solidFill>
            <a:schemeClr val="bg2"/>
          </a:solidFill>
          <a:ln w="12700">
            <a:solidFill>
              <a:schemeClr val="bg2"/>
            </a:solidFill>
            <a:prstDash val="solid"/>
          </a:ln>
        </p:spPr>
      </p:sp>
      <p:sp>
        <p:nvSpPr>
          <p:cNvPr id="14" name="PostgreSQL circle"/>
          <p:cNvSpPr/>
          <p:nvPr/>
        </p:nvSpPr>
        <p:spPr>
          <a:xfrm>
            <a:off x="4754880" y="1810512"/>
            <a:ext cx="356616" cy="356616"/>
          </a:xfrm>
          <a:prstGeom prst="ellipse">
            <a:avLst/>
          </a:prstGeom>
          <a:solidFill>
            <a:schemeClr val="accent1"/>
          </a:solidFill>
          <a:ln w="12700">
            <a:solidFill>
              <a:schemeClr val="accent1"/>
            </a:solidFill>
            <a:prstDash val="solid"/>
          </a:ln>
        </p:spPr>
      </p:sp>
      <p:pic>
        <p:nvPicPr>
          <p:cNvPr id="15" name="PostgreSQL icon" descr="PostgreSQL">    </p:cNvPr>
          <p:cNvPicPr>
            <a:picLocks noChangeAspect="1"/>
          </p:cNvPicPr>
          <p:nvPr/>
        </p:nvPicPr>
        <p:blipFill>
          <a:blip r:embed="rId3"/>
          <a:stretch>
            <a:fillRect/>
          </a:stretch>
        </p:blipFill>
        <p:spPr>
          <a:xfrm>
            <a:off x="4851166" y="1906798"/>
            <a:ext cx="164043" cy="164043"/>
          </a:xfrm>
          <a:prstGeom prst="rect">
            <a:avLst/>
          </a:prstGeom>
        </p:spPr>
      </p:pic>
      <p:sp>
        <p:nvSpPr>
          <p:cNvPr id="16" name="PostgreSQL name"/>
          <p:cNvSpPr txBox="1"/>
          <p:nvPr/>
        </p:nvSpPr>
        <p:spPr>
          <a:xfrm>
            <a:off x="5193792" y="1737360"/>
            <a:ext cx="1325880" cy="502920"/>
          </a:xfrm>
          <a:prstGeom prst="rect">
            <a:avLst/>
          </a:prstGeom>
          <a:noFill/>
          <a:ln/>
        </p:spPr>
        <p:txBody>
          <a:bodyPr wrap="square" lIns="0" tIns="0" rIns="0" bIns="0" rtlCol="0" anchor="ctr"/>
          <a:lstStyle/>
          <a:p>
            <a:pPr indent="0" marL="0">
              <a:buNone/>
            </a:pPr>
            <a:r>
              <a:rPr lang="en-US" sz="1400" b="1" dirty="0">
                <a:solidFill>
                  <a:schemeClr val="tx2"/>
                </a:solidFill>
              </a:rPr>
              <a:t>PostgreSQL</a:t>
            </a:r>
            <a:endParaRPr lang="en-US" sz="1400" dirty="0"/>
          </a:p>
        </p:txBody>
      </p:sp>
      <p:sp>
        <p:nvSpPr>
          <p:cNvPr id="17" name="Nginx chip"/>
          <p:cNvSpPr/>
          <p:nvPr/>
        </p:nvSpPr>
        <p:spPr>
          <a:xfrm>
            <a:off x="6766560" y="1737360"/>
            <a:ext cx="1920240" cy="502920"/>
          </a:xfrm>
          <a:prstGeom prst="roundRect">
            <a:avLst>
              <a:gd name="adj" fmla="val 18182"/>
            </a:avLst>
          </a:prstGeom>
          <a:solidFill>
            <a:schemeClr val="bg2"/>
          </a:solidFill>
          <a:ln w="12700">
            <a:solidFill>
              <a:schemeClr val="bg2"/>
            </a:solidFill>
            <a:prstDash val="solid"/>
          </a:ln>
        </p:spPr>
      </p:sp>
      <p:sp>
        <p:nvSpPr>
          <p:cNvPr id="18" name="Nginx circle"/>
          <p:cNvSpPr/>
          <p:nvPr/>
        </p:nvSpPr>
        <p:spPr>
          <a:xfrm>
            <a:off x="6858000" y="1810512"/>
            <a:ext cx="356616" cy="356616"/>
          </a:xfrm>
          <a:prstGeom prst="ellipse">
            <a:avLst/>
          </a:prstGeom>
          <a:solidFill>
            <a:schemeClr val="accent1"/>
          </a:solidFill>
          <a:ln w="12700">
            <a:solidFill>
              <a:schemeClr val="accent1"/>
            </a:solidFill>
            <a:prstDash val="solid"/>
          </a:ln>
        </p:spPr>
      </p:sp>
      <p:pic>
        <p:nvPicPr>
          <p:cNvPr id="19" name="Nginx icon" descr="Nginx">    </p:cNvPr>
          <p:cNvPicPr>
            <a:picLocks noChangeAspect="1"/>
          </p:cNvPicPr>
          <p:nvPr/>
        </p:nvPicPr>
        <p:blipFill>
          <a:blip r:embed="rId4"/>
          <a:stretch>
            <a:fillRect/>
          </a:stretch>
        </p:blipFill>
        <p:spPr>
          <a:xfrm>
            <a:off x="6954286" y="1906798"/>
            <a:ext cx="164043" cy="164043"/>
          </a:xfrm>
          <a:prstGeom prst="rect">
            <a:avLst/>
          </a:prstGeom>
        </p:spPr>
      </p:pic>
      <p:sp>
        <p:nvSpPr>
          <p:cNvPr id="20" name="Nginx name"/>
          <p:cNvSpPr txBox="1"/>
          <p:nvPr/>
        </p:nvSpPr>
        <p:spPr>
          <a:xfrm>
            <a:off x="7296912" y="1737360"/>
            <a:ext cx="1325880" cy="502920"/>
          </a:xfrm>
          <a:prstGeom prst="rect">
            <a:avLst/>
          </a:prstGeom>
          <a:noFill/>
          <a:ln/>
        </p:spPr>
        <p:txBody>
          <a:bodyPr wrap="square" lIns="0" tIns="0" rIns="0" bIns="0" rtlCol="0" anchor="ctr"/>
          <a:lstStyle/>
          <a:p>
            <a:pPr indent="0" marL="0">
              <a:buNone/>
            </a:pPr>
            <a:r>
              <a:rPr lang="en-US" sz="1400" b="1" dirty="0">
                <a:solidFill>
                  <a:schemeClr val="tx2"/>
                </a:solidFill>
              </a:rPr>
              <a:t>Nginx</a:t>
            </a:r>
            <a:endParaRPr lang="en-US" sz="1400" dirty="0"/>
          </a:p>
        </p:txBody>
      </p:sp>
      <p:sp>
        <p:nvSpPr>
          <p:cNvPr id="21" name="Delivery label"/>
          <p:cNvSpPr txBox="1"/>
          <p:nvPr/>
        </p:nvSpPr>
        <p:spPr>
          <a:xfrm>
            <a:off x="457200" y="2560320"/>
            <a:ext cx="2743200" cy="320040"/>
          </a:xfrm>
          <a:prstGeom prst="rect">
            <a:avLst/>
          </a:prstGeom>
          <a:noFill/>
          <a:ln/>
        </p:spPr>
        <p:txBody>
          <a:bodyPr wrap="square" lIns="0" tIns="0" rIns="0" bIns="0" rtlCol="0" anchor="ctr"/>
          <a:lstStyle/>
          <a:p>
            <a:pPr indent="0" marL="0">
              <a:buNone/>
            </a:pPr>
            <a:r>
              <a:rPr lang="en-US" sz="1800" b="1" dirty="0">
                <a:solidFill>
                  <a:schemeClr val="tx2"/>
                </a:solidFill>
              </a:rPr>
              <a:t>Delivery</a:t>
            </a:r>
            <a:endParaRPr lang="en-US" sz="1800" dirty="0"/>
          </a:p>
        </p:txBody>
      </p:sp>
      <p:sp>
        <p:nvSpPr>
          <p:cNvPr id="22" name="Delivery sub"/>
          <p:cNvSpPr txBox="1"/>
          <p:nvPr/>
        </p:nvSpPr>
        <p:spPr>
          <a:xfrm>
            <a:off x="2011680" y="2560320"/>
            <a:ext cx="5486400" cy="320040"/>
          </a:xfrm>
          <a:prstGeom prst="rect">
            <a:avLst/>
          </a:prstGeom>
          <a:noFill/>
          <a:ln/>
        </p:spPr>
        <p:txBody>
          <a:bodyPr wrap="square" lIns="0" tIns="0" rIns="0" bIns="0" rtlCol="0" anchor="ctr"/>
          <a:lstStyle/>
          <a:p>
            <a:pPr indent="0" marL="0">
              <a:buNone/>
            </a:pPr>
            <a:r>
              <a:rPr lang="en-US" sz="1400" dirty="0">
                <a:solidFill>
                  <a:schemeClr val="accent6"/>
                </a:solidFill>
              </a:rPr>
              <a:t>Getting it live and keeping it healthy</a:t>
            </a:r>
            <a:endParaRPr lang="en-US" sz="1400" dirty="0"/>
          </a:p>
        </p:txBody>
      </p:sp>
      <p:sp>
        <p:nvSpPr>
          <p:cNvPr id="23" name="Docker chip"/>
          <p:cNvSpPr/>
          <p:nvPr/>
        </p:nvSpPr>
        <p:spPr>
          <a:xfrm>
            <a:off x="457200" y="3017520"/>
            <a:ext cx="1920240" cy="502920"/>
          </a:xfrm>
          <a:prstGeom prst="roundRect">
            <a:avLst>
              <a:gd name="adj" fmla="val 18182"/>
            </a:avLst>
          </a:prstGeom>
          <a:solidFill>
            <a:schemeClr val="bg2"/>
          </a:solidFill>
          <a:ln w="12700">
            <a:solidFill>
              <a:schemeClr val="bg2"/>
            </a:solidFill>
            <a:prstDash val="solid"/>
          </a:ln>
        </p:spPr>
      </p:sp>
      <p:sp>
        <p:nvSpPr>
          <p:cNvPr id="24" name="Docker circle"/>
          <p:cNvSpPr/>
          <p:nvPr/>
        </p:nvSpPr>
        <p:spPr>
          <a:xfrm>
            <a:off x="548640" y="3090672"/>
            <a:ext cx="356616" cy="356616"/>
          </a:xfrm>
          <a:prstGeom prst="ellipse">
            <a:avLst/>
          </a:prstGeom>
          <a:solidFill>
            <a:schemeClr val="accent1"/>
          </a:solidFill>
          <a:ln w="12700">
            <a:solidFill>
              <a:schemeClr val="accent1"/>
            </a:solidFill>
            <a:prstDash val="solid"/>
          </a:ln>
        </p:spPr>
      </p:sp>
      <p:pic>
        <p:nvPicPr>
          <p:cNvPr id="25" name="Docker icon" descr="Docker">    </p:cNvPr>
          <p:cNvPicPr>
            <a:picLocks noChangeAspect="1"/>
          </p:cNvPicPr>
          <p:nvPr/>
        </p:nvPicPr>
        <p:blipFill>
          <a:blip r:embed="rId5"/>
          <a:stretch>
            <a:fillRect/>
          </a:stretch>
        </p:blipFill>
        <p:spPr>
          <a:xfrm>
            <a:off x="644926" y="3186958"/>
            <a:ext cx="164043" cy="164043"/>
          </a:xfrm>
          <a:prstGeom prst="rect">
            <a:avLst/>
          </a:prstGeom>
        </p:spPr>
      </p:pic>
      <p:sp>
        <p:nvSpPr>
          <p:cNvPr id="26" name="Docker name"/>
          <p:cNvSpPr txBox="1"/>
          <p:nvPr/>
        </p:nvSpPr>
        <p:spPr>
          <a:xfrm>
            <a:off x="987552" y="3017520"/>
            <a:ext cx="1325880" cy="502920"/>
          </a:xfrm>
          <a:prstGeom prst="rect">
            <a:avLst/>
          </a:prstGeom>
          <a:noFill/>
          <a:ln/>
        </p:spPr>
        <p:txBody>
          <a:bodyPr wrap="square" lIns="0" tIns="0" rIns="0" bIns="0" rtlCol="0" anchor="ctr"/>
          <a:lstStyle/>
          <a:p>
            <a:pPr indent="0" marL="0">
              <a:buNone/>
            </a:pPr>
            <a:r>
              <a:rPr lang="en-US" sz="1400" b="1" dirty="0">
                <a:solidFill>
                  <a:schemeClr val="tx2"/>
                </a:solidFill>
              </a:rPr>
              <a:t>Docker</a:t>
            </a:r>
            <a:endParaRPr lang="en-US" sz="1400" dirty="0"/>
          </a:p>
        </p:txBody>
      </p:sp>
      <p:sp>
        <p:nvSpPr>
          <p:cNvPr id="27" name="GitHub Actions chip"/>
          <p:cNvSpPr/>
          <p:nvPr/>
        </p:nvSpPr>
        <p:spPr>
          <a:xfrm>
            <a:off x="2560320" y="3017520"/>
            <a:ext cx="1920240" cy="502920"/>
          </a:xfrm>
          <a:prstGeom prst="roundRect">
            <a:avLst>
              <a:gd name="adj" fmla="val 18182"/>
            </a:avLst>
          </a:prstGeom>
          <a:solidFill>
            <a:schemeClr val="bg2"/>
          </a:solidFill>
          <a:ln w="12700">
            <a:solidFill>
              <a:schemeClr val="bg2"/>
            </a:solidFill>
            <a:prstDash val="solid"/>
          </a:ln>
        </p:spPr>
      </p:sp>
      <p:sp>
        <p:nvSpPr>
          <p:cNvPr id="28" name="GitHub Actions circle"/>
          <p:cNvSpPr/>
          <p:nvPr/>
        </p:nvSpPr>
        <p:spPr>
          <a:xfrm>
            <a:off x="2651760" y="3090672"/>
            <a:ext cx="356616" cy="356616"/>
          </a:xfrm>
          <a:prstGeom prst="ellipse">
            <a:avLst/>
          </a:prstGeom>
          <a:solidFill>
            <a:schemeClr val="accent1"/>
          </a:solidFill>
          <a:ln w="12700">
            <a:solidFill>
              <a:schemeClr val="accent1"/>
            </a:solidFill>
            <a:prstDash val="solid"/>
          </a:ln>
        </p:spPr>
      </p:sp>
      <p:pic>
        <p:nvPicPr>
          <p:cNvPr id="29" name="GitHub Actions icon" descr="GitHub Actions">    </p:cNvPr>
          <p:cNvPicPr>
            <a:picLocks noChangeAspect="1"/>
          </p:cNvPicPr>
          <p:nvPr/>
        </p:nvPicPr>
        <p:blipFill>
          <a:blip r:embed="rId6"/>
          <a:stretch>
            <a:fillRect/>
          </a:stretch>
        </p:blipFill>
        <p:spPr>
          <a:xfrm>
            <a:off x="2748046" y="3186958"/>
            <a:ext cx="164043" cy="164043"/>
          </a:xfrm>
          <a:prstGeom prst="rect">
            <a:avLst/>
          </a:prstGeom>
        </p:spPr>
      </p:pic>
      <p:sp>
        <p:nvSpPr>
          <p:cNvPr id="30" name="GitHub Actions name"/>
          <p:cNvSpPr txBox="1"/>
          <p:nvPr/>
        </p:nvSpPr>
        <p:spPr>
          <a:xfrm>
            <a:off x="3090672" y="3017520"/>
            <a:ext cx="1325880" cy="502920"/>
          </a:xfrm>
          <a:prstGeom prst="rect">
            <a:avLst/>
          </a:prstGeom>
          <a:noFill/>
          <a:ln/>
        </p:spPr>
        <p:txBody>
          <a:bodyPr wrap="square" lIns="0" tIns="0" rIns="0" bIns="0" rtlCol="0" anchor="ctr"/>
          <a:lstStyle/>
          <a:p>
            <a:pPr indent="0" marL="0">
              <a:buNone/>
            </a:pPr>
            <a:r>
              <a:rPr lang="en-US" sz="1400" b="1" dirty="0">
                <a:solidFill>
                  <a:schemeClr val="tx2"/>
                </a:solidFill>
              </a:rPr>
              <a:t>GitHub Actions</a:t>
            </a:r>
            <a:endParaRPr lang="en-US" sz="1400" dirty="0"/>
          </a:p>
        </p:txBody>
      </p:sp>
      <p:sp>
        <p:nvSpPr>
          <p:cNvPr id="31" name="Trivy chip"/>
          <p:cNvSpPr/>
          <p:nvPr/>
        </p:nvSpPr>
        <p:spPr>
          <a:xfrm>
            <a:off x="4663440" y="3017520"/>
            <a:ext cx="1920240" cy="502920"/>
          </a:xfrm>
          <a:prstGeom prst="roundRect">
            <a:avLst>
              <a:gd name="adj" fmla="val 18182"/>
            </a:avLst>
          </a:prstGeom>
          <a:solidFill>
            <a:schemeClr val="bg2"/>
          </a:solidFill>
          <a:ln w="12700">
            <a:solidFill>
              <a:schemeClr val="bg2"/>
            </a:solidFill>
            <a:prstDash val="solid"/>
          </a:ln>
        </p:spPr>
      </p:sp>
      <p:sp>
        <p:nvSpPr>
          <p:cNvPr id="32" name="Trivy circle"/>
          <p:cNvSpPr/>
          <p:nvPr/>
        </p:nvSpPr>
        <p:spPr>
          <a:xfrm>
            <a:off x="4754880" y="3090672"/>
            <a:ext cx="356616" cy="356616"/>
          </a:xfrm>
          <a:prstGeom prst="ellipse">
            <a:avLst/>
          </a:prstGeom>
          <a:solidFill>
            <a:schemeClr val="accent1"/>
          </a:solidFill>
          <a:ln w="12700">
            <a:solidFill>
              <a:schemeClr val="accent1"/>
            </a:solidFill>
            <a:prstDash val="solid"/>
          </a:ln>
        </p:spPr>
      </p:sp>
      <p:pic>
        <p:nvPicPr>
          <p:cNvPr id="33" name="Trivy icon" descr="Trivy">    </p:cNvPr>
          <p:cNvPicPr>
            <a:picLocks noChangeAspect="1"/>
          </p:cNvPicPr>
          <p:nvPr/>
        </p:nvPicPr>
        <p:blipFill>
          <a:blip r:embed="rId7"/>
          <a:stretch>
            <a:fillRect/>
          </a:stretch>
        </p:blipFill>
        <p:spPr>
          <a:xfrm>
            <a:off x="4851166" y="3186958"/>
            <a:ext cx="164043" cy="164043"/>
          </a:xfrm>
          <a:prstGeom prst="rect">
            <a:avLst/>
          </a:prstGeom>
        </p:spPr>
      </p:pic>
      <p:sp>
        <p:nvSpPr>
          <p:cNvPr id="34" name="Trivy name"/>
          <p:cNvSpPr txBox="1"/>
          <p:nvPr/>
        </p:nvSpPr>
        <p:spPr>
          <a:xfrm>
            <a:off x="5193792" y="3017520"/>
            <a:ext cx="1325880" cy="502920"/>
          </a:xfrm>
          <a:prstGeom prst="rect">
            <a:avLst/>
          </a:prstGeom>
          <a:noFill/>
          <a:ln/>
        </p:spPr>
        <p:txBody>
          <a:bodyPr wrap="square" lIns="0" tIns="0" rIns="0" bIns="0" rtlCol="0" anchor="ctr"/>
          <a:lstStyle/>
          <a:p>
            <a:pPr indent="0" marL="0">
              <a:buNone/>
            </a:pPr>
            <a:r>
              <a:rPr lang="en-US" sz="1400" b="1" dirty="0">
                <a:solidFill>
                  <a:schemeClr val="tx2"/>
                </a:solidFill>
              </a:rPr>
              <a:t>Trivy</a:t>
            </a:r>
            <a:endParaRPr lang="en-US" sz="1400" dirty="0"/>
          </a:p>
        </p:txBody>
      </p:sp>
      <p:sp>
        <p:nvSpPr>
          <p:cNvPr id="35" name="Terraform chip"/>
          <p:cNvSpPr/>
          <p:nvPr/>
        </p:nvSpPr>
        <p:spPr>
          <a:xfrm>
            <a:off x="6766560" y="3017520"/>
            <a:ext cx="1920240" cy="502920"/>
          </a:xfrm>
          <a:prstGeom prst="roundRect">
            <a:avLst>
              <a:gd name="adj" fmla="val 18182"/>
            </a:avLst>
          </a:prstGeom>
          <a:solidFill>
            <a:schemeClr val="bg2"/>
          </a:solidFill>
          <a:ln w="12700">
            <a:solidFill>
              <a:schemeClr val="bg2"/>
            </a:solidFill>
            <a:prstDash val="solid"/>
          </a:ln>
        </p:spPr>
      </p:sp>
      <p:sp>
        <p:nvSpPr>
          <p:cNvPr id="36" name="Terraform circle"/>
          <p:cNvSpPr/>
          <p:nvPr/>
        </p:nvSpPr>
        <p:spPr>
          <a:xfrm>
            <a:off x="6858000" y="3090672"/>
            <a:ext cx="356616" cy="356616"/>
          </a:xfrm>
          <a:prstGeom prst="ellipse">
            <a:avLst/>
          </a:prstGeom>
          <a:solidFill>
            <a:schemeClr val="accent1"/>
          </a:solidFill>
          <a:ln w="12700">
            <a:solidFill>
              <a:schemeClr val="accent1"/>
            </a:solidFill>
            <a:prstDash val="solid"/>
          </a:ln>
        </p:spPr>
      </p:sp>
      <p:pic>
        <p:nvPicPr>
          <p:cNvPr id="37" name="Terraform icon" descr="Terraform">    </p:cNvPr>
          <p:cNvPicPr>
            <a:picLocks noChangeAspect="1"/>
          </p:cNvPicPr>
          <p:nvPr/>
        </p:nvPicPr>
        <p:blipFill>
          <a:blip r:embed="rId8"/>
          <a:stretch>
            <a:fillRect/>
          </a:stretch>
        </p:blipFill>
        <p:spPr>
          <a:xfrm>
            <a:off x="6954286" y="3186958"/>
            <a:ext cx="164043" cy="164043"/>
          </a:xfrm>
          <a:prstGeom prst="rect">
            <a:avLst/>
          </a:prstGeom>
        </p:spPr>
      </p:pic>
      <p:sp>
        <p:nvSpPr>
          <p:cNvPr id="38" name="Terraform name"/>
          <p:cNvSpPr txBox="1"/>
          <p:nvPr/>
        </p:nvSpPr>
        <p:spPr>
          <a:xfrm>
            <a:off x="7296912" y="3017520"/>
            <a:ext cx="1325880" cy="502920"/>
          </a:xfrm>
          <a:prstGeom prst="rect">
            <a:avLst/>
          </a:prstGeom>
          <a:noFill/>
          <a:ln/>
        </p:spPr>
        <p:txBody>
          <a:bodyPr wrap="square" lIns="0" tIns="0" rIns="0" bIns="0" rtlCol="0" anchor="ctr"/>
          <a:lstStyle/>
          <a:p>
            <a:pPr indent="0" marL="0">
              <a:buNone/>
            </a:pPr>
            <a:r>
              <a:rPr lang="en-US" sz="1400" b="1" dirty="0">
                <a:solidFill>
                  <a:schemeClr val="tx2"/>
                </a:solidFill>
              </a:rPr>
              <a:t>Terraform</a:t>
            </a:r>
            <a:endParaRPr lang="en-US" sz="1400" dirty="0"/>
          </a:p>
        </p:txBody>
      </p:sp>
      <p:sp>
        <p:nvSpPr>
          <p:cNvPr id="39" name="Kubernetes chip"/>
          <p:cNvSpPr/>
          <p:nvPr/>
        </p:nvSpPr>
        <p:spPr>
          <a:xfrm>
            <a:off x="457200" y="3657600"/>
            <a:ext cx="1920240" cy="502920"/>
          </a:xfrm>
          <a:prstGeom prst="roundRect">
            <a:avLst>
              <a:gd name="adj" fmla="val 18182"/>
            </a:avLst>
          </a:prstGeom>
          <a:solidFill>
            <a:schemeClr val="bg2"/>
          </a:solidFill>
          <a:ln w="12700">
            <a:solidFill>
              <a:schemeClr val="bg2"/>
            </a:solidFill>
            <a:prstDash val="solid"/>
          </a:ln>
        </p:spPr>
      </p:sp>
      <p:sp>
        <p:nvSpPr>
          <p:cNvPr id="40" name="Kubernetes circle"/>
          <p:cNvSpPr/>
          <p:nvPr/>
        </p:nvSpPr>
        <p:spPr>
          <a:xfrm>
            <a:off x="548640" y="3730752"/>
            <a:ext cx="356616" cy="356616"/>
          </a:xfrm>
          <a:prstGeom prst="ellipse">
            <a:avLst/>
          </a:prstGeom>
          <a:solidFill>
            <a:schemeClr val="accent1"/>
          </a:solidFill>
          <a:ln w="12700">
            <a:solidFill>
              <a:schemeClr val="accent1"/>
            </a:solidFill>
            <a:prstDash val="solid"/>
          </a:ln>
        </p:spPr>
      </p:sp>
      <p:pic>
        <p:nvPicPr>
          <p:cNvPr id="41" name="Kubernetes icon" descr="Kubernetes">    </p:cNvPr>
          <p:cNvPicPr>
            <a:picLocks noChangeAspect="1"/>
          </p:cNvPicPr>
          <p:nvPr/>
        </p:nvPicPr>
        <p:blipFill>
          <a:blip r:embed="rId9"/>
          <a:stretch>
            <a:fillRect/>
          </a:stretch>
        </p:blipFill>
        <p:spPr>
          <a:xfrm>
            <a:off x="644926" y="3827038"/>
            <a:ext cx="164043" cy="164043"/>
          </a:xfrm>
          <a:prstGeom prst="rect">
            <a:avLst/>
          </a:prstGeom>
        </p:spPr>
      </p:pic>
      <p:sp>
        <p:nvSpPr>
          <p:cNvPr id="42" name="Kubernetes name"/>
          <p:cNvSpPr txBox="1"/>
          <p:nvPr/>
        </p:nvSpPr>
        <p:spPr>
          <a:xfrm>
            <a:off x="987552" y="3657600"/>
            <a:ext cx="1325880" cy="502920"/>
          </a:xfrm>
          <a:prstGeom prst="rect">
            <a:avLst/>
          </a:prstGeom>
          <a:noFill/>
          <a:ln/>
        </p:spPr>
        <p:txBody>
          <a:bodyPr wrap="square" lIns="0" tIns="0" rIns="0" bIns="0" rtlCol="0" anchor="ctr"/>
          <a:lstStyle/>
          <a:p>
            <a:pPr indent="0" marL="0">
              <a:buNone/>
            </a:pPr>
            <a:r>
              <a:rPr lang="en-US" sz="1400" b="1" dirty="0">
                <a:solidFill>
                  <a:schemeClr val="tx2"/>
                </a:solidFill>
              </a:rPr>
              <a:t>Kubernetes</a:t>
            </a:r>
            <a:endParaRPr lang="en-US" sz="1400" dirty="0"/>
          </a:p>
        </p:txBody>
      </p:sp>
      <p:sp>
        <p:nvSpPr>
          <p:cNvPr id="43" name="Helm chip"/>
          <p:cNvSpPr/>
          <p:nvPr/>
        </p:nvSpPr>
        <p:spPr>
          <a:xfrm>
            <a:off x="2560320" y="3657600"/>
            <a:ext cx="1920240" cy="502920"/>
          </a:xfrm>
          <a:prstGeom prst="roundRect">
            <a:avLst>
              <a:gd name="adj" fmla="val 18182"/>
            </a:avLst>
          </a:prstGeom>
          <a:solidFill>
            <a:schemeClr val="bg2"/>
          </a:solidFill>
          <a:ln w="12700">
            <a:solidFill>
              <a:schemeClr val="bg2"/>
            </a:solidFill>
            <a:prstDash val="solid"/>
          </a:ln>
        </p:spPr>
      </p:sp>
      <p:sp>
        <p:nvSpPr>
          <p:cNvPr id="44" name="Helm circle"/>
          <p:cNvSpPr/>
          <p:nvPr/>
        </p:nvSpPr>
        <p:spPr>
          <a:xfrm>
            <a:off x="2651760" y="3730752"/>
            <a:ext cx="356616" cy="356616"/>
          </a:xfrm>
          <a:prstGeom prst="ellipse">
            <a:avLst/>
          </a:prstGeom>
          <a:solidFill>
            <a:schemeClr val="accent1"/>
          </a:solidFill>
          <a:ln w="12700">
            <a:solidFill>
              <a:schemeClr val="accent1"/>
            </a:solidFill>
            <a:prstDash val="solid"/>
          </a:ln>
        </p:spPr>
      </p:sp>
      <p:pic>
        <p:nvPicPr>
          <p:cNvPr id="45" name="Helm icon" descr="Helm">    </p:cNvPr>
          <p:cNvPicPr>
            <a:picLocks noChangeAspect="1"/>
          </p:cNvPicPr>
          <p:nvPr/>
        </p:nvPicPr>
        <p:blipFill>
          <a:blip r:embed="rId10"/>
          <a:stretch>
            <a:fillRect/>
          </a:stretch>
        </p:blipFill>
        <p:spPr>
          <a:xfrm>
            <a:off x="2748046" y="3827038"/>
            <a:ext cx="164043" cy="164043"/>
          </a:xfrm>
          <a:prstGeom prst="rect">
            <a:avLst/>
          </a:prstGeom>
        </p:spPr>
      </p:pic>
      <p:sp>
        <p:nvSpPr>
          <p:cNvPr id="46" name="Helm name"/>
          <p:cNvSpPr txBox="1"/>
          <p:nvPr/>
        </p:nvSpPr>
        <p:spPr>
          <a:xfrm>
            <a:off x="3090672" y="3657600"/>
            <a:ext cx="1325880" cy="502920"/>
          </a:xfrm>
          <a:prstGeom prst="rect">
            <a:avLst/>
          </a:prstGeom>
          <a:noFill/>
          <a:ln/>
        </p:spPr>
        <p:txBody>
          <a:bodyPr wrap="square" lIns="0" tIns="0" rIns="0" bIns="0" rtlCol="0" anchor="ctr"/>
          <a:lstStyle/>
          <a:p>
            <a:pPr indent="0" marL="0">
              <a:buNone/>
            </a:pPr>
            <a:r>
              <a:rPr lang="en-US" sz="1400" b="1" dirty="0">
                <a:solidFill>
                  <a:schemeClr val="tx2"/>
                </a:solidFill>
              </a:rPr>
              <a:t>Helm</a:t>
            </a:r>
            <a:endParaRPr lang="en-US" sz="1400" dirty="0"/>
          </a:p>
        </p:txBody>
      </p:sp>
      <p:sp>
        <p:nvSpPr>
          <p:cNvPr id="47" name="Prometheus chip"/>
          <p:cNvSpPr/>
          <p:nvPr/>
        </p:nvSpPr>
        <p:spPr>
          <a:xfrm>
            <a:off x="4663440" y="3657600"/>
            <a:ext cx="1920240" cy="502920"/>
          </a:xfrm>
          <a:prstGeom prst="roundRect">
            <a:avLst>
              <a:gd name="adj" fmla="val 18182"/>
            </a:avLst>
          </a:prstGeom>
          <a:solidFill>
            <a:schemeClr val="bg2"/>
          </a:solidFill>
          <a:ln w="12700">
            <a:solidFill>
              <a:schemeClr val="bg2"/>
            </a:solidFill>
            <a:prstDash val="solid"/>
          </a:ln>
        </p:spPr>
      </p:sp>
      <p:sp>
        <p:nvSpPr>
          <p:cNvPr id="48" name="Prometheus circle"/>
          <p:cNvSpPr/>
          <p:nvPr/>
        </p:nvSpPr>
        <p:spPr>
          <a:xfrm>
            <a:off x="4754880" y="3730752"/>
            <a:ext cx="356616" cy="356616"/>
          </a:xfrm>
          <a:prstGeom prst="ellipse">
            <a:avLst/>
          </a:prstGeom>
          <a:solidFill>
            <a:schemeClr val="accent1"/>
          </a:solidFill>
          <a:ln w="12700">
            <a:solidFill>
              <a:schemeClr val="accent1"/>
            </a:solidFill>
            <a:prstDash val="solid"/>
          </a:ln>
        </p:spPr>
      </p:sp>
      <p:pic>
        <p:nvPicPr>
          <p:cNvPr id="49" name="Prometheus icon" descr="Prometheus">    </p:cNvPr>
          <p:cNvPicPr>
            <a:picLocks noChangeAspect="1"/>
          </p:cNvPicPr>
          <p:nvPr/>
        </p:nvPicPr>
        <p:blipFill>
          <a:blip r:embed="rId11"/>
          <a:stretch>
            <a:fillRect/>
          </a:stretch>
        </p:blipFill>
        <p:spPr>
          <a:xfrm>
            <a:off x="4851166" y="3827038"/>
            <a:ext cx="164043" cy="164043"/>
          </a:xfrm>
          <a:prstGeom prst="rect">
            <a:avLst/>
          </a:prstGeom>
        </p:spPr>
      </p:pic>
      <p:sp>
        <p:nvSpPr>
          <p:cNvPr id="50" name="Prometheus name"/>
          <p:cNvSpPr txBox="1"/>
          <p:nvPr/>
        </p:nvSpPr>
        <p:spPr>
          <a:xfrm>
            <a:off x="5193792" y="3657600"/>
            <a:ext cx="1325880" cy="502920"/>
          </a:xfrm>
          <a:prstGeom prst="rect">
            <a:avLst/>
          </a:prstGeom>
          <a:noFill/>
          <a:ln/>
        </p:spPr>
        <p:txBody>
          <a:bodyPr wrap="square" lIns="0" tIns="0" rIns="0" bIns="0" rtlCol="0" anchor="ctr"/>
          <a:lstStyle/>
          <a:p>
            <a:pPr indent="0" marL="0">
              <a:buNone/>
            </a:pPr>
            <a:r>
              <a:rPr lang="en-US" sz="1400" b="1" dirty="0">
                <a:solidFill>
                  <a:schemeClr val="tx2"/>
                </a:solidFill>
              </a:rPr>
              <a:t>Prometheus</a:t>
            </a:r>
            <a:endParaRPr lang="en-US" sz="1400" dirty="0"/>
          </a:p>
        </p:txBody>
      </p:sp>
      <p:sp>
        <p:nvSpPr>
          <p:cNvPr id="51" name="Grafana chip"/>
          <p:cNvSpPr/>
          <p:nvPr/>
        </p:nvSpPr>
        <p:spPr>
          <a:xfrm>
            <a:off x="6766560" y="3657600"/>
            <a:ext cx="1920240" cy="502920"/>
          </a:xfrm>
          <a:prstGeom prst="roundRect">
            <a:avLst>
              <a:gd name="adj" fmla="val 18182"/>
            </a:avLst>
          </a:prstGeom>
          <a:solidFill>
            <a:schemeClr val="bg2"/>
          </a:solidFill>
          <a:ln w="12700">
            <a:solidFill>
              <a:schemeClr val="bg2"/>
            </a:solidFill>
            <a:prstDash val="solid"/>
          </a:ln>
        </p:spPr>
      </p:sp>
      <p:sp>
        <p:nvSpPr>
          <p:cNvPr id="52" name="Grafana circle"/>
          <p:cNvSpPr/>
          <p:nvPr/>
        </p:nvSpPr>
        <p:spPr>
          <a:xfrm>
            <a:off x="6858000" y="3730752"/>
            <a:ext cx="356616" cy="356616"/>
          </a:xfrm>
          <a:prstGeom prst="ellipse">
            <a:avLst/>
          </a:prstGeom>
          <a:solidFill>
            <a:schemeClr val="accent1"/>
          </a:solidFill>
          <a:ln w="12700">
            <a:solidFill>
              <a:schemeClr val="accent1"/>
            </a:solidFill>
            <a:prstDash val="solid"/>
          </a:ln>
        </p:spPr>
      </p:sp>
      <p:pic>
        <p:nvPicPr>
          <p:cNvPr id="53" name="Grafana icon" descr="Grafana">    </p:cNvPr>
          <p:cNvPicPr>
            <a:picLocks noChangeAspect="1"/>
          </p:cNvPicPr>
          <p:nvPr/>
        </p:nvPicPr>
        <p:blipFill>
          <a:blip r:embed="rId12"/>
          <a:stretch>
            <a:fillRect/>
          </a:stretch>
        </p:blipFill>
        <p:spPr>
          <a:xfrm>
            <a:off x="6954286" y="3827038"/>
            <a:ext cx="164043" cy="164043"/>
          </a:xfrm>
          <a:prstGeom prst="rect">
            <a:avLst/>
          </a:prstGeom>
        </p:spPr>
      </p:pic>
      <p:sp>
        <p:nvSpPr>
          <p:cNvPr id="54" name="Grafana name"/>
          <p:cNvSpPr txBox="1"/>
          <p:nvPr/>
        </p:nvSpPr>
        <p:spPr>
          <a:xfrm>
            <a:off x="7296912" y="3657600"/>
            <a:ext cx="1325880" cy="502920"/>
          </a:xfrm>
          <a:prstGeom prst="rect">
            <a:avLst/>
          </a:prstGeom>
          <a:noFill/>
          <a:ln/>
        </p:spPr>
        <p:txBody>
          <a:bodyPr wrap="square" lIns="0" tIns="0" rIns="0" bIns="0" rtlCol="0" anchor="ctr"/>
          <a:lstStyle/>
          <a:p>
            <a:pPr indent="0" marL="0">
              <a:buNone/>
            </a:pPr>
            <a:r>
              <a:rPr lang="en-US" sz="1400" b="1" dirty="0">
                <a:solidFill>
                  <a:schemeClr val="tx2"/>
                </a:solidFill>
              </a:rPr>
              <a:t>Grafana</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How the pieces fit together</a:t>
            </a:r>
            <a:endParaRPr lang="en-US" sz="3400" dirty="0"/>
          </a:p>
        </p:txBody>
      </p:sp>
      <p:sp>
        <p:nvSpPr>
          <p:cNvPr id="3" name="part 1 card"/>
          <p:cNvSpPr/>
          <p:nvPr/>
        </p:nvSpPr>
        <p:spPr>
          <a:xfrm>
            <a:off x="457200" y="1371600"/>
            <a:ext cx="1783080" cy="2331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part 1 circle"/>
          <p:cNvSpPr/>
          <p:nvPr/>
        </p:nvSpPr>
        <p:spPr>
          <a:xfrm>
            <a:off x="1028700" y="1554480"/>
            <a:ext cx="640080" cy="640080"/>
          </a:xfrm>
          <a:prstGeom prst="ellipse">
            <a:avLst/>
          </a:prstGeom>
          <a:solidFill>
            <a:schemeClr val="accent1"/>
          </a:solidFill>
          <a:ln w="12700">
            <a:solidFill>
              <a:schemeClr val="accent1"/>
            </a:solidFill>
            <a:prstDash val="solid"/>
          </a:ln>
        </p:spPr>
      </p:sp>
      <p:pic>
        <p:nvPicPr>
          <p:cNvPr id="5" name="part 1 icon" descr="part 1">    </p:cNvPr>
          <p:cNvPicPr>
            <a:picLocks noChangeAspect="1"/>
          </p:cNvPicPr>
          <p:nvPr/>
        </p:nvPicPr>
        <p:blipFill>
          <a:blip r:embed="rId1"/>
          <a:stretch>
            <a:fillRect/>
          </a:stretch>
        </p:blipFill>
        <p:spPr>
          <a:xfrm>
            <a:off x="1201522" y="1727302"/>
            <a:ext cx="294437" cy="294437"/>
          </a:xfrm>
          <a:prstGeom prst="rect">
            <a:avLst/>
          </a:prstGeom>
        </p:spPr>
      </p:pic>
      <p:sp>
        <p:nvSpPr>
          <p:cNvPr id="6" name="part 1 name"/>
          <p:cNvSpPr txBox="1"/>
          <p:nvPr/>
        </p:nvSpPr>
        <p:spPr>
          <a:xfrm>
            <a:off x="548640" y="2286000"/>
            <a:ext cx="1600200" cy="365760"/>
          </a:xfrm>
          <a:prstGeom prst="rect">
            <a:avLst/>
          </a:prstGeom>
          <a:noFill/>
          <a:ln/>
        </p:spPr>
        <p:txBody>
          <a:bodyPr wrap="square" lIns="0" tIns="0" rIns="0" bIns="0" rtlCol="0" anchor="ctr"/>
          <a:lstStyle/>
          <a:p>
            <a:pPr algn="ctr" indent="0" marL="0">
              <a:buNone/>
            </a:pPr>
            <a:r>
              <a:rPr lang="en-US" sz="1800" b="1" dirty="0">
                <a:solidFill>
                  <a:schemeClr val="tx2"/>
                </a:solidFill>
              </a:rPr>
              <a:t>What you see</a:t>
            </a:r>
            <a:endParaRPr lang="en-US" sz="1800" dirty="0"/>
          </a:p>
        </p:txBody>
      </p:sp>
      <p:sp>
        <p:nvSpPr>
          <p:cNvPr id="7" name="part 1 role"/>
          <p:cNvSpPr txBox="1"/>
          <p:nvPr/>
        </p:nvSpPr>
        <p:spPr>
          <a:xfrm>
            <a:off x="594360" y="2670048"/>
            <a:ext cx="1508760" cy="594360"/>
          </a:xfrm>
          <a:prstGeom prst="rect">
            <a:avLst/>
          </a:prstGeom>
          <a:noFill/>
          <a:ln/>
        </p:spPr>
        <p:txBody>
          <a:bodyPr wrap="square" lIns="0" tIns="0" rIns="0" bIns="0" rtlCol="0" anchor="t"/>
          <a:lstStyle/>
          <a:p>
            <a:pPr algn="ctr" indent="0" marL="0">
              <a:buNone/>
            </a:pPr>
            <a:r>
              <a:rPr lang="en-US" sz="1400" dirty="0">
                <a:solidFill>
                  <a:schemeClr val="tx1"/>
                </a:solidFill>
              </a:rPr>
              <a:t>The web page</a:t>
            </a:r>
            <a:endParaRPr lang="en-US" sz="1400" dirty="0"/>
          </a:p>
        </p:txBody>
      </p:sp>
      <p:sp>
        <p:nvSpPr>
          <p:cNvPr id="8" name="part 1 tech"/>
          <p:cNvSpPr txBox="1"/>
          <p:nvPr/>
        </p:nvSpPr>
        <p:spPr>
          <a:xfrm>
            <a:off x="548640" y="3337560"/>
            <a:ext cx="1600200" cy="274320"/>
          </a:xfrm>
          <a:prstGeom prst="rect">
            <a:avLst/>
          </a:prstGeom>
          <a:noFill/>
          <a:ln/>
        </p:spPr>
        <p:txBody>
          <a:bodyPr wrap="square" lIns="0" tIns="0" rIns="0" bIns="0" rtlCol="0" anchor="ctr"/>
          <a:lstStyle/>
          <a:p>
            <a:pPr algn="ctr" indent="0" marL="0">
              <a:buNone/>
            </a:pPr>
            <a:r>
              <a:rPr lang="en-US" sz="1200" b="1" dirty="0">
                <a:solidFill>
                  <a:schemeClr val="accent1"/>
                </a:solidFill>
              </a:rPr>
              <a:t>React</a:t>
            </a:r>
            <a:endParaRPr lang="en-US" sz="1200" dirty="0"/>
          </a:p>
        </p:txBody>
      </p:sp>
      <p:sp>
        <p:nvSpPr>
          <p:cNvPr id="9" name="arrow 1"/>
          <p:cNvSpPr/>
          <p:nvPr/>
        </p:nvSpPr>
        <p:spPr>
          <a:xfrm>
            <a:off x="2304288" y="2395728"/>
            <a:ext cx="237744" cy="274320"/>
          </a:xfrm>
          <a:prstGeom prst="rightArrow">
            <a:avLst/>
          </a:prstGeom>
          <a:solidFill>
            <a:schemeClr val="accent6"/>
          </a:solidFill>
          <a:ln w="12700">
            <a:solidFill>
              <a:schemeClr val="accent6"/>
            </a:solidFill>
            <a:prstDash val="solid"/>
          </a:ln>
        </p:spPr>
      </p:sp>
      <p:sp>
        <p:nvSpPr>
          <p:cNvPr id="10" name="part 2 card"/>
          <p:cNvSpPr/>
          <p:nvPr/>
        </p:nvSpPr>
        <p:spPr>
          <a:xfrm>
            <a:off x="2606040" y="1371600"/>
            <a:ext cx="1783080" cy="2331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part 2 circle"/>
          <p:cNvSpPr/>
          <p:nvPr/>
        </p:nvSpPr>
        <p:spPr>
          <a:xfrm>
            <a:off x="3177540" y="1554480"/>
            <a:ext cx="640080" cy="640080"/>
          </a:xfrm>
          <a:prstGeom prst="ellipse">
            <a:avLst/>
          </a:prstGeom>
          <a:solidFill>
            <a:schemeClr val="accent1"/>
          </a:solidFill>
          <a:ln w="12700">
            <a:solidFill>
              <a:schemeClr val="accent1"/>
            </a:solidFill>
            <a:prstDash val="solid"/>
          </a:ln>
        </p:spPr>
      </p:sp>
      <p:pic>
        <p:nvPicPr>
          <p:cNvPr id="12" name="part 2 icon" descr="part 2">    </p:cNvPr>
          <p:cNvPicPr>
            <a:picLocks noChangeAspect="1"/>
          </p:cNvPicPr>
          <p:nvPr/>
        </p:nvPicPr>
        <p:blipFill>
          <a:blip r:embed="rId2"/>
          <a:stretch>
            <a:fillRect/>
          </a:stretch>
        </p:blipFill>
        <p:spPr>
          <a:xfrm>
            <a:off x="3350362" y="1727302"/>
            <a:ext cx="294437" cy="294437"/>
          </a:xfrm>
          <a:prstGeom prst="rect">
            <a:avLst/>
          </a:prstGeom>
        </p:spPr>
      </p:pic>
      <p:sp>
        <p:nvSpPr>
          <p:cNvPr id="13" name="part 2 name"/>
          <p:cNvSpPr txBox="1"/>
          <p:nvPr/>
        </p:nvSpPr>
        <p:spPr>
          <a:xfrm>
            <a:off x="2697480" y="2286000"/>
            <a:ext cx="1600200" cy="365760"/>
          </a:xfrm>
          <a:prstGeom prst="rect">
            <a:avLst/>
          </a:prstGeom>
          <a:noFill/>
          <a:ln/>
        </p:spPr>
        <p:txBody>
          <a:bodyPr wrap="square" lIns="0" tIns="0" rIns="0" bIns="0" rtlCol="0" anchor="ctr"/>
          <a:lstStyle/>
          <a:p>
            <a:pPr algn="ctr" indent="0" marL="0">
              <a:buNone/>
            </a:pPr>
            <a:r>
              <a:rPr lang="en-US" sz="1800" b="1" dirty="0">
                <a:solidFill>
                  <a:schemeClr val="tx2"/>
                </a:solidFill>
              </a:rPr>
              <a:t>The doorman</a:t>
            </a:r>
            <a:endParaRPr lang="en-US" sz="1800" dirty="0"/>
          </a:p>
        </p:txBody>
      </p:sp>
      <p:sp>
        <p:nvSpPr>
          <p:cNvPr id="14" name="part 2 role"/>
          <p:cNvSpPr txBox="1"/>
          <p:nvPr/>
        </p:nvSpPr>
        <p:spPr>
          <a:xfrm>
            <a:off x="2743200" y="2670048"/>
            <a:ext cx="1508760" cy="594360"/>
          </a:xfrm>
          <a:prstGeom prst="rect">
            <a:avLst/>
          </a:prstGeom>
          <a:noFill/>
          <a:ln/>
        </p:spPr>
        <p:txBody>
          <a:bodyPr wrap="square" lIns="0" tIns="0" rIns="0" bIns="0" rtlCol="0" anchor="t"/>
          <a:lstStyle/>
          <a:p>
            <a:pPr algn="ctr" indent="0" marL="0">
              <a:buNone/>
            </a:pPr>
            <a:r>
              <a:rPr lang="en-US" sz="1400" dirty="0">
                <a:solidFill>
                  <a:schemeClr val="tx1"/>
                </a:solidFill>
              </a:rPr>
              <a:t>Passes requests on</a:t>
            </a:r>
            <a:endParaRPr lang="en-US" sz="1400" dirty="0"/>
          </a:p>
        </p:txBody>
      </p:sp>
      <p:sp>
        <p:nvSpPr>
          <p:cNvPr id="15" name="part 2 tech"/>
          <p:cNvSpPr txBox="1"/>
          <p:nvPr/>
        </p:nvSpPr>
        <p:spPr>
          <a:xfrm>
            <a:off x="2697480" y="3337560"/>
            <a:ext cx="1600200" cy="274320"/>
          </a:xfrm>
          <a:prstGeom prst="rect">
            <a:avLst/>
          </a:prstGeom>
          <a:noFill/>
          <a:ln/>
        </p:spPr>
        <p:txBody>
          <a:bodyPr wrap="square" lIns="0" tIns="0" rIns="0" bIns="0" rtlCol="0" anchor="ctr"/>
          <a:lstStyle/>
          <a:p>
            <a:pPr algn="ctr" indent="0" marL="0">
              <a:buNone/>
            </a:pPr>
            <a:r>
              <a:rPr lang="en-US" sz="1200" b="1" dirty="0">
                <a:solidFill>
                  <a:schemeClr val="accent1"/>
                </a:solidFill>
              </a:rPr>
              <a:t>Nginx</a:t>
            </a:r>
            <a:endParaRPr lang="en-US" sz="1200" dirty="0"/>
          </a:p>
        </p:txBody>
      </p:sp>
      <p:sp>
        <p:nvSpPr>
          <p:cNvPr id="16" name="arrow 2"/>
          <p:cNvSpPr/>
          <p:nvPr/>
        </p:nvSpPr>
        <p:spPr>
          <a:xfrm>
            <a:off x="4453128" y="2395728"/>
            <a:ext cx="237744" cy="274320"/>
          </a:xfrm>
          <a:prstGeom prst="rightArrow">
            <a:avLst/>
          </a:prstGeom>
          <a:solidFill>
            <a:schemeClr val="accent6"/>
          </a:solidFill>
          <a:ln w="12700">
            <a:solidFill>
              <a:schemeClr val="accent6"/>
            </a:solidFill>
            <a:prstDash val="solid"/>
          </a:ln>
        </p:spPr>
      </p:sp>
      <p:sp>
        <p:nvSpPr>
          <p:cNvPr id="17" name="part 3 card"/>
          <p:cNvSpPr/>
          <p:nvPr/>
        </p:nvSpPr>
        <p:spPr>
          <a:xfrm>
            <a:off x="4754880" y="1371600"/>
            <a:ext cx="1783080" cy="2331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8" name="part 3 circle"/>
          <p:cNvSpPr/>
          <p:nvPr/>
        </p:nvSpPr>
        <p:spPr>
          <a:xfrm>
            <a:off x="5326380" y="1554480"/>
            <a:ext cx="640080" cy="640080"/>
          </a:xfrm>
          <a:prstGeom prst="ellipse">
            <a:avLst/>
          </a:prstGeom>
          <a:solidFill>
            <a:schemeClr val="accent1"/>
          </a:solidFill>
          <a:ln w="12700">
            <a:solidFill>
              <a:schemeClr val="accent1"/>
            </a:solidFill>
            <a:prstDash val="solid"/>
          </a:ln>
        </p:spPr>
      </p:sp>
      <p:pic>
        <p:nvPicPr>
          <p:cNvPr id="19" name="part 3 icon" descr="part 3">    </p:cNvPr>
          <p:cNvPicPr>
            <a:picLocks noChangeAspect="1"/>
          </p:cNvPicPr>
          <p:nvPr/>
        </p:nvPicPr>
        <p:blipFill>
          <a:blip r:embed="rId3"/>
          <a:stretch>
            <a:fillRect/>
          </a:stretch>
        </p:blipFill>
        <p:spPr>
          <a:xfrm>
            <a:off x="5499202" y="1727302"/>
            <a:ext cx="294437" cy="294437"/>
          </a:xfrm>
          <a:prstGeom prst="rect">
            <a:avLst/>
          </a:prstGeom>
        </p:spPr>
      </p:pic>
      <p:sp>
        <p:nvSpPr>
          <p:cNvPr id="20" name="part 3 name"/>
          <p:cNvSpPr txBox="1"/>
          <p:nvPr/>
        </p:nvSpPr>
        <p:spPr>
          <a:xfrm>
            <a:off x="4846320" y="2286000"/>
            <a:ext cx="1600200" cy="365760"/>
          </a:xfrm>
          <a:prstGeom prst="rect">
            <a:avLst/>
          </a:prstGeom>
          <a:noFill/>
          <a:ln/>
        </p:spPr>
        <p:txBody>
          <a:bodyPr wrap="square" lIns="0" tIns="0" rIns="0" bIns="0" rtlCol="0" anchor="ctr"/>
          <a:lstStyle/>
          <a:p>
            <a:pPr algn="ctr" indent="0" marL="0">
              <a:buNone/>
            </a:pPr>
            <a:r>
              <a:rPr lang="en-US" sz="1800" b="1" dirty="0">
                <a:solidFill>
                  <a:schemeClr val="tx2"/>
                </a:solidFill>
              </a:rPr>
              <a:t>The brain</a:t>
            </a:r>
            <a:endParaRPr lang="en-US" sz="1800" dirty="0"/>
          </a:p>
        </p:txBody>
      </p:sp>
      <p:sp>
        <p:nvSpPr>
          <p:cNvPr id="21" name="part 3 role"/>
          <p:cNvSpPr txBox="1"/>
          <p:nvPr/>
        </p:nvSpPr>
        <p:spPr>
          <a:xfrm>
            <a:off x="4892040" y="2670048"/>
            <a:ext cx="1508760" cy="594360"/>
          </a:xfrm>
          <a:prstGeom prst="rect">
            <a:avLst/>
          </a:prstGeom>
          <a:noFill/>
          <a:ln/>
        </p:spPr>
        <p:txBody>
          <a:bodyPr wrap="square" lIns="0" tIns="0" rIns="0" bIns="0" rtlCol="0" anchor="t"/>
          <a:lstStyle/>
          <a:p>
            <a:pPr algn="ctr" indent="0" marL="0">
              <a:buNone/>
            </a:pPr>
            <a:r>
              <a:rPr lang="en-US" sz="1400" dirty="0">
                <a:solidFill>
                  <a:schemeClr val="tx1"/>
                </a:solidFill>
              </a:rPr>
              <a:t>Rules for stock and orders</a:t>
            </a:r>
            <a:endParaRPr lang="en-US" sz="1400" dirty="0"/>
          </a:p>
        </p:txBody>
      </p:sp>
      <p:sp>
        <p:nvSpPr>
          <p:cNvPr id="22" name="part 3 tech"/>
          <p:cNvSpPr txBox="1"/>
          <p:nvPr/>
        </p:nvSpPr>
        <p:spPr>
          <a:xfrm>
            <a:off x="4846320" y="3337560"/>
            <a:ext cx="1600200" cy="274320"/>
          </a:xfrm>
          <a:prstGeom prst="rect">
            <a:avLst/>
          </a:prstGeom>
          <a:noFill/>
          <a:ln/>
        </p:spPr>
        <p:txBody>
          <a:bodyPr wrap="square" lIns="0" tIns="0" rIns="0" bIns="0" rtlCol="0" anchor="ctr"/>
          <a:lstStyle/>
          <a:p>
            <a:pPr algn="ctr" indent="0" marL="0">
              <a:buNone/>
            </a:pPr>
            <a:r>
              <a:rPr lang="en-US" sz="1200" b="1" dirty="0">
                <a:solidFill>
                  <a:schemeClr val="accent1"/>
                </a:solidFill>
              </a:rPr>
              <a:t>FastAPI</a:t>
            </a:r>
            <a:endParaRPr lang="en-US" sz="1200" dirty="0"/>
          </a:p>
        </p:txBody>
      </p:sp>
      <p:sp>
        <p:nvSpPr>
          <p:cNvPr id="23" name="arrow 3"/>
          <p:cNvSpPr/>
          <p:nvPr/>
        </p:nvSpPr>
        <p:spPr>
          <a:xfrm>
            <a:off x="6601968" y="2395728"/>
            <a:ext cx="237744" cy="274320"/>
          </a:xfrm>
          <a:prstGeom prst="rightArrow">
            <a:avLst/>
          </a:prstGeom>
          <a:solidFill>
            <a:schemeClr val="accent6"/>
          </a:solidFill>
          <a:ln w="12700">
            <a:solidFill>
              <a:schemeClr val="accent6"/>
            </a:solidFill>
            <a:prstDash val="solid"/>
          </a:ln>
        </p:spPr>
      </p:sp>
      <p:sp>
        <p:nvSpPr>
          <p:cNvPr id="24" name="part 4 card"/>
          <p:cNvSpPr/>
          <p:nvPr/>
        </p:nvSpPr>
        <p:spPr>
          <a:xfrm>
            <a:off x="6903720" y="1371600"/>
            <a:ext cx="1783080" cy="2331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5" name="part 4 circle"/>
          <p:cNvSpPr/>
          <p:nvPr/>
        </p:nvSpPr>
        <p:spPr>
          <a:xfrm>
            <a:off x="7475220" y="1554480"/>
            <a:ext cx="640080" cy="640080"/>
          </a:xfrm>
          <a:prstGeom prst="ellipse">
            <a:avLst/>
          </a:prstGeom>
          <a:solidFill>
            <a:schemeClr val="accent1"/>
          </a:solidFill>
          <a:ln w="12700">
            <a:solidFill>
              <a:schemeClr val="accent1"/>
            </a:solidFill>
            <a:prstDash val="solid"/>
          </a:ln>
        </p:spPr>
      </p:sp>
      <p:pic>
        <p:nvPicPr>
          <p:cNvPr id="26" name="part 4 icon" descr="part 4">    </p:cNvPr>
          <p:cNvPicPr>
            <a:picLocks noChangeAspect="1"/>
          </p:cNvPicPr>
          <p:nvPr/>
        </p:nvPicPr>
        <p:blipFill>
          <a:blip r:embed="rId4"/>
          <a:stretch>
            <a:fillRect/>
          </a:stretch>
        </p:blipFill>
        <p:spPr>
          <a:xfrm>
            <a:off x="7648042" y="1727302"/>
            <a:ext cx="294437" cy="294437"/>
          </a:xfrm>
          <a:prstGeom prst="rect">
            <a:avLst/>
          </a:prstGeom>
        </p:spPr>
      </p:pic>
      <p:sp>
        <p:nvSpPr>
          <p:cNvPr id="27" name="part 4 name"/>
          <p:cNvSpPr txBox="1"/>
          <p:nvPr/>
        </p:nvSpPr>
        <p:spPr>
          <a:xfrm>
            <a:off x="6995160" y="2286000"/>
            <a:ext cx="1600200" cy="365760"/>
          </a:xfrm>
          <a:prstGeom prst="rect">
            <a:avLst/>
          </a:prstGeom>
          <a:noFill/>
          <a:ln/>
        </p:spPr>
        <p:txBody>
          <a:bodyPr wrap="square" lIns="0" tIns="0" rIns="0" bIns="0" rtlCol="0" anchor="ctr"/>
          <a:lstStyle/>
          <a:p>
            <a:pPr algn="ctr" indent="0" marL="0">
              <a:buNone/>
            </a:pPr>
            <a:r>
              <a:rPr lang="en-US" sz="1800" b="1" dirty="0">
                <a:solidFill>
                  <a:schemeClr val="tx2"/>
                </a:solidFill>
              </a:rPr>
              <a:t>The memory</a:t>
            </a:r>
            <a:endParaRPr lang="en-US" sz="1800" dirty="0"/>
          </a:p>
        </p:txBody>
      </p:sp>
      <p:sp>
        <p:nvSpPr>
          <p:cNvPr id="28" name="part 4 role"/>
          <p:cNvSpPr txBox="1"/>
          <p:nvPr/>
        </p:nvSpPr>
        <p:spPr>
          <a:xfrm>
            <a:off x="7040880" y="2670048"/>
            <a:ext cx="1508760" cy="594360"/>
          </a:xfrm>
          <a:prstGeom prst="rect">
            <a:avLst/>
          </a:prstGeom>
          <a:noFill/>
          <a:ln/>
        </p:spPr>
        <p:txBody>
          <a:bodyPr wrap="square" lIns="0" tIns="0" rIns="0" bIns="0" rtlCol="0" anchor="t"/>
          <a:lstStyle/>
          <a:p>
            <a:pPr algn="ctr" indent="0" marL="0">
              <a:buNone/>
            </a:pPr>
            <a:r>
              <a:rPr lang="en-US" sz="1400" dirty="0">
                <a:solidFill>
                  <a:schemeClr val="tx1"/>
                </a:solidFill>
              </a:rPr>
              <a:t>Stores everything</a:t>
            </a:r>
            <a:endParaRPr lang="en-US" sz="1400" dirty="0"/>
          </a:p>
        </p:txBody>
      </p:sp>
      <p:sp>
        <p:nvSpPr>
          <p:cNvPr id="29" name="part 4 tech"/>
          <p:cNvSpPr txBox="1"/>
          <p:nvPr/>
        </p:nvSpPr>
        <p:spPr>
          <a:xfrm>
            <a:off x="6995160" y="3337560"/>
            <a:ext cx="1600200" cy="274320"/>
          </a:xfrm>
          <a:prstGeom prst="rect">
            <a:avLst/>
          </a:prstGeom>
          <a:noFill/>
          <a:ln/>
        </p:spPr>
        <p:txBody>
          <a:bodyPr wrap="square" lIns="0" tIns="0" rIns="0" bIns="0" rtlCol="0" anchor="ctr"/>
          <a:lstStyle/>
          <a:p>
            <a:pPr algn="ctr" indent="0" marL="0">
              <a:buNone/>
            </a:pPr>
            <a:r>
              <a:rPr lang="en-US" sz="1200" b="1" dirty="0">
                <a:solidFill>
                  <a:schemeClr val="accent1"/>
                </a:solidFill>
              </a:rPr>
              <a:t>PostgreSQL</a:t>
            </a:r>
            <a:endParaRPr lang="en-US" sz="1200" dirty="0"/>
          </a:p>
        </p:txBody>
      </p:sp>
      <p:sp>
        <p:nvSpPr>
          <p:cNvPr id="30" name="containers note"/>
          <p:cNvSpPr txBox="1"/>
          <p:nvPr/>
        </p:nvSpPr>
        <p:spPr>
          <a:xfrm>
            <a:off x="457200" y="4023360"/>
            <a:ext cx="8229600" cy="411480"/>
          </a:xfrm>
          <a:prstGeom prst="rect">
            <a:avLst/>
          </a:prstGeom>
          <a:noFill/>
          <a:ln/>
        </p:spPr>
        <p:txBody>
          <a:bodyPr wrap="square" lIns="0" tIns="0" rIns="0" bIns="0" rtlCol="0" anchor="ctr"/>
          <a:lstStyle/>
          <a:p>
            <a:pPr indent="0" marL="0">
              <a:buNone/>
            </a:pPr>
            <a:r>
              <a:rPr lang="en-US" sz="1800" dirty="0">
                <a:solidFill>
                  <a:schemeClr val="tx1"/>
                </a:solidFill>
              </a:rPr>
              <a:t>Each part runs in its own container.</a:t>
            </a:r>
            <a:endParaRPr lang="en-US" sz="18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How we built it</a:t>
            </a:r>
            <a:endParaRPr lang="en-US" sz="3400" dirty="0"/>
          </a:p>
        </p:txBody>
      </p:sp>
      <p:sp>
        <p:nvSpPr>
          <p:cNvPr id="3" name="step 1 card"/>
          <p:cNvSpPr/>
          <p:nvPr/>
        </p:nvSpPr>
        <p:spPr>
          <a:xfrm>
            <a:off x="457200" y="1280160"/>
            <a:ext cx="2587752" cy="914400"/>
          </a:xfrm>
          <a:prstGeom prst="roundRect">
            <a:avLst>
              <a:gd name="adj" fmla="val 10000"/>
            </a:avLst>
          </a:prstGeom>
          <a:solidFill>
            <a:schemeClr val="bg2"/>
          </a:solidFill>
          <a:ln w="12700">
            <a:solidFill>
              <a:schemeClr val="bg2"/>
            </a:solidFill>
            <a:prstDash val="solid"/>
          </a:ln>
        </p:spPr>
      </p:sp>
      <p:sp>
        <p:nvSpPr>
          <p:cNvPr id="4" name="step 1 circle"/>
          <p:cNvSpPr/>
          <p:nvPr/>
        </p:nvSpPr>
        <p:spPr>
          <a:xfrm>
            <a:off x="594360" y="1463040"/>
            <a:ext cx="548640" cy="548640"/>
          </a:xfrm>
          <a:prstGeom prst="ellipse">
            <a:avLst/>
          </a:prstGeom>
          <a:solidFill>
            <a:schemeClr val="accent1"/>
          </a:solidFill>
          <a:ln w="12700">
            <a:solidFill>
              <a:schemeClr val="accent1"/>
            </a:solidFill>
            <a:prstDash val="solid"/>
          </a:ln>
        </p:spPr>
      </p:sp>
      <p:pic>
        <p:nvPicPr>
          <p:cNvPr id="5" name="step 1 icon" descr="step 1">    </p:cNvPr>
          <p:cNvPicPr>
            <a:picLocks noChangeAspect="1"/>
          </p:cNvPicPr>
          <p:nvPr/>
        </p:nvPicPr>
        <p:blipFill>
          <a:blip r:embed="rId1"/>
          <a:stretch>
            <a:fillRect/>
          </a:stretch>
        </p:blipFill>
        <p:spPr>
          <a:xfrm>
            <a:off x="742493" y="1611173"/>
            <a:ext cx="252374" cy="252374"/>
          </a:xfrm>
          <a:prstGeom prst="rect">
            <a:avLst/>
          </a:prstGeom>
        </p:spPr>
      </p:pic>
      <p:sp>
        <p:nvSpPr>
          <p:cNvPr id="6" name="step 1 title"/>
          <p:cNvSpPr txBox="1"/>
          <p:nvPr/>
        </p:nvSpPr>
        <p:spPr>
          <a:xfrm>
            <a:off x="1280160" y="1417320"/>
            <a:ext cx="1673352" cy="329184"/>
          </a:xfrm>
          <a:prstGeom prst="rect">
            <a:avLst/>
          </a:prstGeom>
          <a:noFill/>
          <a:ln/>
        </p:spPr>
        <p:txBody>
          <a:bodyPr wrap="square" lIns="0" tIns="0" rIns="0" bIns="0" rtlCol="0" anchor="ctr"/>
          <a:lstStyle/>
          <a:p>
            <a:pPr indent="0" marL="0">
              <a:buNone/>
            </a:pPr>
            <a:r>
              <a:rPr lang="en-US" sz="1600" b="1" dirty="0">
                <a:solidFill>
                  <a:schemeClr val="tx2"/>
                </a:solidFill>
              </a:rPr>
              <a:t>Build the app</a:t>
            </a:r>
            <a:endParaRPr lang="en-US" sz="1600" dirty="0"/>
          </a:p>
        </p:txBody>
      </p:sp>
      <p:sp>
        <p:nvSpPr>
          <p:cNvPr id="7" name="step 1 text"/>
          <p:cNvSpPr txBox="1"/>
          <p:nvPr/>
        </p:nvSpPr>
        <p:spPr>
          <a:xfrm>
            <a:off x="1280160" y="1755648"/>
            <a:ext cx="1673352" cy="320040"/>
          </a:xfrm>
          <a:prstGeom prst="rect">
            <a:avLst/>
          </a:prstGeom>
          <a:noFill/>
          <a:ln/>
        </p:spPr>
        <p:txBody>
          <a:bodyPr wrap="square" lIns="0" tIns="0" rIns="0" bIns="0" rtlCol="0" anchor="t"/>
          <a:lstStyle/>
          <a:p>
            <a:pPr indent="0" marL="0">
              <a:buNone/>
            </a:pPr>
            <a:r>
              <a:rPr lang="en-US" sz="1200" dirty="0">
                <a:solidFill>
                  <a:schemeClr val="tx1"/>
                </a:solidFill>
              </a:rPr>
              <a:t>Screen, brain, memory</a:t>
            </a:r>
            <a:endParaRPr lang="en-US" sz="1200" dirty="0"/>
          </a:p>
        </p:txBody>
      </p:sp>
      <p:sp>
        <p:nvSpPr>
          <p:cNvPr id="8" name="step 2 card"/>
          <p:cNvSpPr/>
          <p:nvPr/>
        </p:nvSpPr>
        <p:spPr>
          <a:xfrm>
            <a:off x="3278124" y="1280160"/>
            <a:ext cx="2587752" cy="914400"/>
          </a:xfrm>
          <a:prstGeom prst="roundRect">
            <a:avLst>
              <a:gd name="adj" fmla="val 10000"/>
            </a:avLst>
          </a:prstGeom>
          <a:solidFill>
            <a:schemeClr val="bg2"/>
          </a:solidFill>
          <a:ln w="12700">
            <a:solidFill>
              <a:schemeClr val="bg2"/>
            </a:solidFill>
            <a:prstDash val="solid"/>
          </a:ln>
        </p:spPr>
      </p:sp>
      <p:sp>
        <p:nvSpPr>
          <p:cNvPr id="9" name="step 2 circle"/>
          <p:cNvSpPr/>
          <p:nvPr/>
        </p:nvSpPr>
        <p:spPr>
          <a:xfrm>
            <a:off x="3415284" y="1463040"/>
            <a:ext cx="548640" cy="548640"/>
          </a:xfrm>
          <a:prstGeom prst="ellipse">
            <a:avLst/>
          </a:prstGeom>
          <a:solidFill>
            <a:schemeClr val="accent1"/>
          </a:solidFill>
          <a:ln w="12700">
            <a:solidFill>
              <a:schemeClr val="accent1"/>
            </a:solidFill>
            <a:prstDash val="solid"/>
          </a:ln>
        </p:spPr>
      </p:sp>
      <p:pic>
        <p:nvPicPr>
          <p:cNvPr id="10" name="step 2 icon" descr="step 2">    </p:cNvPr>
          <p:cNvPicPr>
            <a:picLocks noChangeAspect="1"/>
          </p:cNvPicPr>
          <p:nvPr/>
        </p:nvPicPr>
        <p:blipFill>
          <a:blip r:embed="rId2"/>
          <a:stretch>
            <a:fillRect/>
          </a:stretch>
        </p:blipFill>
        <p:spPr>
          <a:xfrm>
            <a:off x="3563417" y="1611173"/>
            <a:ext cx="252374" cy="252374"/>
          </a:xfrm>
          <a:prstGeom prst="rect">
            <a:avLst/>
          </a:prstGeom>
        </p:spPr>
      </p:pic>
      <p:sp>
        <p:nvSpPr>
          <p:cNvPr id="11" name="step 2 title"/>
          <p:cNvSpPr txBox="1"/>
          <p:nvPr/>
        </p:nvSpPr>
        <p:spPr>
          <a:xfrm>
            <a:off x="4101084" y="1417320"/>
            <a:ext cx="1673352" cy="329184"/>
          </a:xfrm>
          <a:prstGeom prst="rect">
            <a:avLst/>
          </a:prstGeom>
          <a:noFill/>
          <a:ln/>
        </p:spPr>
        <p:txBody>
          <a:bodyPr wrap="square" lIns="0" tIns="0" rIns="0" bIns="0" rtlCol="0" anchor="ctr"/>
          <a:lstStyle/>
          <a:p>
            <a:pPr indent="0" marL="0">
              <a:buNone/>
            </a:pPr>
            <a:r>
              <a:rPr lang="en-US" sz="1600" b="1" dirty="0">
                <a:solidFill>
                  <a:schemeClr val="tx2"/>
                </a:solidFill>
              </a:rPr>
              <a:t>Test it</a:t>
            </a:r>
            <a:endParaRPr lang="en-US" sz="1600" dirty="0"/>
          </a:p>
        </p:txBody>
      </p:sp>
      <p:sp>
        <p:nvSpPr>
          <p:cNvPr id="12" name="step 2 text"/>
          <p:cNvSpPr txBox="1"/>
          <p:nvPr/>
        </p:nvSpPr>
        <p:spPr>
          <a:xfrm>
            <a:off x="4101084" y="1755648"/>
            <a:ext cx="1673352" cy="320040"/>
          </a:xfrm>
          <a:prstGeom prst="rect">
            <a:avLst/>
          </a:prstGeom>
          <a:noFill/>
          <a:ln/>
        </p:spPr>
        <p:txBody>
          <a:bodyPr wrap="square" lIns="0" tIns="0" rIns="0" bIns="0" rtlCol="0" anchor="t"/>
          <a:lstStyle/>
          <a:p>
            <a:pPr indent="0" marL="0">
              <a:buNone/>
            </a:pPr>
            <a:r>
              <a:rPr lang="en-US" sz="1200" dirty="0">
                <a:solidFill>
                  <a:schemeClr val="tx1"/>
                </a:solidFill>
              </a:rPr>
              <a:t>31 automatic checks</a:t>
            </a:r>
            <a:endParaRPr lang="en-US" sz="1200" dirty="0"/>
          </a:p>
        </p:txBody>
      </p:sp>
      <p:sp>
        <p:nvSpPr>
          <p:cNvPr id="13" name="step 3 card"/>
          <p:cNvSpPr/>
          <p:nvPr/>
        </p:nvSpPr>
        <p:spPr>
          <a:xfrm>
            <a:off x="6099048" y="1280160"/>
            <a:ext cx="2587752" cy="914400"/>
          </a:xfrm>
          <a:prstGeom prst="roundRect">
            <a:avLst>
              <a:gd name="adj" fmla="val 10000"/>
            </a:avLst>
          </a:prstGeom>
          <a:solidFill>
            <a:schemeClr val="bg2"/>
          </a:solidFill>
          <a:ln w="12700">
            <a:solidFill>
              <a:schemeClr val="bg2"/>
            </a:solidFill>
            <a:prstDash val="solid"/>
          </a:ln>
        </p:spPr>
      </p:sp>
      <p:sp>
        <p:nvSpPr>
          <p:cNvPr id="14" name="step 3 circle"/>
          <p:cNvSpPr/>
          <p:nvPr/>
        </p:nvSpPr>
        <p:spPr>
          <a:xfrm>
            <a:off x="6236208" y="1463040"/>
            <a:ext cx="548640" cy="548640"/>
          </a:xfrm>
          <a:prstGeom prst="ellipse">
            <a:avLst/>
          </a:prstGeom>
          <a:solidFill>
            <a:schemeClr val="accent1"/>
          </a:solidFill>
          <a:ln w="12700">
            <a:solidFill>
              <a:schemeClr val="accent1"/>
            </a:solidFill>
            <a:prstDash val="solid"/>
          </a:ln>
        </p:spPr>
      </p:sp>
      <p:pic>
        <p:nvPicPr>
          <p:cNvPr id="15" name="step 3 icon" descr="step 3">    </p:cNvPr>
          <p:cNvPicPr>
            <a:picLocks noChangeAspect="1"/>
          </p:cNvPicPr>
          <p:nvPr/>
        </p:nvPicPr>
        <p:blipFill>
          <a:blip r:embed="rId3"/>
          <a:stretch>
            <a:fillRect/>
          </a:stretch>
        </p:blipFill>
        <p:spPr>
          <a:xfrm>
            <a:off x="6384341" y="1611173"/>
            <a:ext cx="252374" cy="252374"/>
          </a:xfrm>
          <a:prstGeom prst="rect">
            <a:avLst/>
          </a:prstGeom>
        </p:spPr>
      </p:pic>
      <p:sp>
        <p:nvSpPr>
          <p:cNvPr id="16" name="step 3 title"/>
          <p:cNvSpPr txBox="1"/>
          <p:nvPr/>
        </p:nvSpPr>
        <p:spPr>
          <a:xfrm>
            <a:off x="6922008" y="1417320"/>
            <a:ext cx="1673352" cy="329184"/>
          </a:xfrm>
          <a:prstGeom prst="rect">
            <a:avLst/>
          </a:prstGeom>
          <a:noFill/>
          <a:ln/>
        </p:spPr>
        <p:txBody>
          <a:bodyPr wrap="square" lIns="0" tIns="0" rIns="0" bIns="0" rtlCol="0" anchor="ctr"/>
          <a:lstStyle/>
          <a:p>
            <a:pPr indent="0" marL="0">
              <a:buNone/>
            </a:pPr>
            <a:r>
              <a:rPr lang="en-US" sz="1600" b="1" dirty="0">
                <a:solidFill>
                  <a:schemeClr val="tx2"/>
                </a:solidFill>
              </a:rPr>
              <a:t>Save the history</a:t>
            </a:r>
            <a:endParaRPr lang="en-US" sz="1600" dirty="0"/>
          </a:p>
        </p:txBody>
      </p:sp>
      <p:sp>
        <p:nvSpPr>
          <p:cNvPr id="17" name="step 3 text"/>
          <p:cNvSpPr txBox="1"/>
          <p:nvPr/>
        </p:nvSpPr>
        <p:spPr>
          <a:xfrm>
            <a:off x="6922008" y="1755648"/>
            <a:ext cx="1673352" cy="320040"/>
          </a:xfrm>
          <a:prstGeom prst="rect">
            <a:avLst/>
          </a:prstGeom>
          <a:noFill/>
          <a:ln/>
        </p:spPr>
        <p:txBody>
          <a:bodyPr wrap="square" lIns="0" tIns="0" rIns="0" bIns="0" rtlCol="0" anchor="t"/>
          <a:lstStyle/>
          <a:p>
            <a:pPr indent="0" marL="0">
              <a:buNone/>
            </a:pPr>
            <a:r>
              <a:rPr lang="en-US" sz="1200" dirty="0">
                <a:solidFill>
                  <a:schemeClr val="tx1"/>
                </a:solidFill>
              </a:rPr>
              <a:t>Git and GitHub</a:t>
            </a:r>
            <a:endParaRPr lang="en-US" sz="1200" dirty="0"/>
          </a:p>
        </p:txBody>
      </p:sp>
      <p:sp>
        <p:nvSpPr>
          <p:cNvPr id="18" name="step 4 card"/>
          <p:cNvSpPr/>
          <p:nvPr/>
        </p:nvSpPr>
        <p:spPr>
          <a:xfrm>
            <a:off x="457200" y="2377440"/>
            <a:ext cx="2587752" cy="914400"/>
          </a:xfrm>
          <a:prstGeom prst="roundRect">
            <a:avLst>
              <a:gd name="adj" fmla="val 10000"/>
            </a:avLst>
          </a:prstGeom>
          <a:solidFill>
            <a:schemeClr val="bg2"/>
          </a:solidFill>
          <a:ln w="12700">
            <a:solidFill>
              <a:schemeClr val="bg2"/>
            </a:solidFill>
            <a:prstDash val="solid"/>
          </a:ln>
        </p:spPr>
      </p:sp>
      <p:sp>
        <p:nvSpPr>
          <p:cNvPr id="19" name="step 4 circle"/>
          <p:cNvSpPr/>
          <p:nvPr/>
        </p:nvSpPr>
        <p:spPr>
          <a:xfrm>
            <a:off x="594360" y="2560320"/>
            <a:ext cx="548640" cy="548640"/>
          </a:xfrm>
          <a:prstGeom prst="ellipse">
            <a:avLst/>
          </a:prstGeom>
          <a:solidFill>
            <a:schemeClr val="accent1"/>
          </a:solidFill>
          <a:ln w="12700">
            <a:solidFill>
              <a:schemeClr val="accent1"/>
            </a:solidFill>
            <a:prstDash val="solid"/>
          </a:ln>
        </p:spPr>
      </p:sp>
      <p:pic>
        <p:nvPicPr>
          <p:cNvPr id="20" name="step 4 icon" descr="step 4">    </p:cNvPr>
          <p:cNvPicPr>
            <a:picLocks noChangeAspect="1"/>
          </p:cNvPicPr>
          <p:nvPr/>
        </p:nvPicPr>
        <p:blipFill>
          <a:blip r:embed="rId4"/>
          <a:stretch>
            <a:fillRect/>
          </a:stretch>
        </p:blipFill>
        <p:spPr>
          <a:xfrm>
            <a:off x="742493" y="2708453"/>
            <a:ext cx="252374" cy="252374"/>
          </a:xfrm>
          <a:prstGeom prst="rect">
            <a:avLst/>
          </a:prstGeom>
        </p:spPr>
      </p:pic>
      <p:sp>
        <p:nvSpPr>
          <p:cNvPr id="21" name="step 4 title"/>
          <p:cNvSpPr txBox="1"/>
          <p:nvPr/>
        </p:nvSpPr>
        <p:spPr>
          <a:xfrm>
            <a:off x="1280160" y="2514600"/>
            <a:ext cx="1673352" cy="329184"/>
          </a:xfrm>
          <a:prstGeom prst="rect">
            <a:avLst/>
          </a:prstGeom>
          <a:noFill/>
          <a:ln/>
        </p:spPr>
        <p:txBody>
          <a:bodyPr wrap="square" lIns="0" tIns="0" rIns="0" bIns="0" rtlCol="0" anchor="ctr"/>
          <a:lstStyle/>
          <a:p>
            <a:pPr indent="0" marL="0">
              <a:buNone/>
            </a:pPr>
            <a:r>
              <a:rPr lang="en-US" sz="1600" b="1" dirty="0">
                <a:solidFill>
                  <a:schemeClr val="tx2"/>
                </a:solidFill>
              </a:rPr>
              <a:t>Package it</a:t>
            </a:r>
            <a:endParaRPr lang="en-US" sz="1600" dirty="0"/>
          </a:p>
        </p:txBody>
      </p:sp>
      <p:sp>
        <p:nvSpPr>
          <p:cNvPr id="22" name="step 4 text"/>
          <p:cNvSpPr txBox="1"/>
          <p:nvPr/>
        </p:nvSpPr>
        <p:spPr>
          <a:xfrm>
            <a:off x="1280160" y="2852928"/>
            <a:ext cx="1673352" cy="320040"/>
          </a:xfrm>
          <a:prstGeom prst="rect">
            <a:avLst/>
          </a:prstGeom>
          <a:noFill/>
          <a:ln/>
        </p:spPr>
        <p:txBody>
          <a:bodyPr wrap="square" lIns="0" tIns="0" rIns="0" bIns="0" rtlCol="0" anchor="t"/>
          <a:lstStyle/>
          <a:p>
            <a:pPr indent="0" marL="0">
              <a:buNone/>
            </a:pPr>
            <a:r>
              <a:rPr lang="en-US" sz="1200" dirty="0">
                <a:solidFill>
                  <a:schemeClr val="tx1"/>
                </a:solidFill>
              </a:rPr>
              <a:t>Docker containers</a:t>
            </a:r>
            <a:endParaRPr lang="en-US" sz="1200" dirty="0"/>
          </a:p>
        </p:txBody>
      </p:sp>
      <p:sp>
        <p:nvSpPr>
          <p:cNvPr id="23" name="step 5 card"/>
          <p:cNvSpPr/>
          <p:nvPr/>
        </p:nvSpPr>
        <p:spPr>
          <a:xfrm>
            <a:off x="3278124" y="2377440"/>
            <a:ext cx="2587752" cy="914400"/>
          </a:xfrm>
          <a:prstGeom prst="roundRect">
            <a:avLst>
              <a:gd name="adj" fmla="val 10000"/>
            </a:avLst>
          </a:prstGeom>
          <a:solidFill>
            <a:schemeClr val="bg2"/>
          </a:solidFill>
          <a:ln w="12700">
            <a:solidFill>
              <a:schemeClr val="bg2"/>
            </a:solidFill>
            <a:prstDash val="solid"/>
          </a:ln>
        </p:spPr>
      </p:sp>
      <p:sp>
        <p:nvSpPr>
          <p:cNvPr id="24" name="step 5 circle"/>
          <p:cNvSpPr/>
          <p:nvPr/>
        </p:nvSpPr>
        <p:spPr>
          <a:xfrm>
            <a:off x="3415284" y="2560320"/>
            <a:ext cx="548640" cy="548640"/>
          </a:xfrm>
          <a:prstGeom prst="ellipse">
            <a:avLst/>
          </a:prstGeom>
          <a:solidFill>
            <a:schemeClr val="accent1"/>
          </a:solidFill>
          <a:ln w="12700">
            <a:solidFill>
              <a:schemeClr val="accent1"/>
            </a:solidFill>
            <a:prstDash val="solid"/>
          </a:ln>
        </p:spPr>
      </p:sp>
      <p:pic>
        <p:nvPicPr>
          <p:cNvPr id="25" name="step 5 icon" descr="step 5">    </p:cNvPr>
          <p:cNvPicPr>
            <a:picLocks noChangeAspect="1"/>
          </p:cNvPicPr>
          <p:nvPr/>
        </p:nvPicPr>
        <p:blipFill>
          <a:blip r:embed="rId5"/>
          <a:stretch>
            <a:fillRect/>
          </a:stretch>
        </p:blipFill>
        <p:spPr>
          <a:xfrm>
            <a:off x="3563417" y="2708453"/>
            <a:ext cx="252374" cy="252374"/>
          </a:xfrm>
          <a:prstGeom prst="rect">
            <a:avLst/>
          </a:prstGeom>
        </p:spPr>
      </p:pic>
      <p:sp>
        <p:nvSpPr>
          <p:cNvPr id="26" name="step 5 title"/>
          <p:cNvSpPr txBox="1"/>
          <p:nvPr/>
        </p:nvSpPr>
        <p:spPr>
          <a:xfrm>
            <a:off x="4101084" y="2514600"/>
            <a:ext cx="1673352" cy="329184"/>
          </a:xfrm>
          <a:prstGeom prst="rect">
            <a:avLst/>
          </a:prstGeom>
          <a:noFill/>
          <a:ln/>
        </p:spPr>
        <p:txBody>
          <a:bodyPr wrap="square" lIns="0" tIns="0" rIns="0" bIns="0" rtlCol="0" anchor="ctr"/>
          <a:lstStyle/>
          <a:p>
            <a:pPr indent="0" marL="0">
              <a:buNone/>
            </a:pPr>
            <a:r>
              <a:rPr lang="en-US" sz="1600" b="1" dirty="0">
                <a:solidFill>
                  <a:schemeClr val="tx2"/>
                </a:solidFill>
              </a:rPr>
              <a:t>Automate it</a:t>
            </a:r>
            <a:endParaRPr lang="en-US" sz="1600" dirty="0"/>
          </a:p>
        </p:txBody>
      </p:sp>
      <p:sp>
        <p:nvSpPr>
          <p:cNvPr id="27" name="step 5 text"/>
          <p:cNvSpPr txBox="1"/>
          <p:nvPr/>
        </p:nvSpPr>
        <p:spPr>
          <a:xfrm>
            <a:off x="4101084" y="2852928"/>
            <a:ext cx="1673352" cy="320040"/>
          </a:xfrm>
          <a:prstGeom prst="rect">
            <a:avLst/>
          </a:prstGeom>
          <a:noFill/>
          <a:ln/>
        </p:spPr>
        <p:txBody>
          <a:bodyPr wrap="square" lIns="0" tIns="0" rIns="0" bIns="0" rtlCol="0" anchor="t"/>
          <a:lstStyle/>
          <a:p>
            <a:pPr indent="0" marL="0">
              <a:buNone/>
            </a:pPr>
            <a:r>
              <a:rPr lang="en-US" sz="1200" dirty="0">
                <a:solidFill>
                  <a:schemeClr val="tx1"/>
                </a:solidFill>
              </a:rPr>
              <a:t>Runs on every push</a:t>
            </a:r>
            <a:endParaRPr lang="en-US" sz="1200" dirty="0"/>
          </a:p>
        </p:txBody>
      </p:sp>
      <p:sp>
        <p:nvSpPr>
          <p:cNvPr id="28" name="step 6 card"/>
          <p:cNvSpPr/>
          <p:nvPr/>
        </p:nvSpPr>
        <p:spPr>
          <a:xfrm>
            <a:off x="6099048" y="2377440"/>
            <a:ext cx="2587752" cy="914400"/>
          </a:xfrm>
          <a:prstGeom prst="roundRect">
            <a:avLst>
              <a:gd name="adj" fmla="val 10000"/>
            </a:avLst>
          </a:prstGeom>
          <a:solidFill>
            <a:schemeClr val="bg2"/>
          </a:solidFill>
          <a:ln w="12700">
            <a:solidFill>
              <a:schemeClr val="bg2"/>
            </a:solidFill>
            <a:prstDash val="solid"/>
          </a:ln>
        </p:spPr>
      </p:sp>
      <p:sp>
        <p:nvSpPr>
          <p:cNvPr id="29" name="step 6 circle"/>
          <p:cNvSpPr/>
          <p:nvPr/>
        </p:nvSpPr>
        <p:spPr>
          <a:xfrm>
            <a:off x="6236208" y="2560320"/>
            <a:ext cx="548640" cy="548640"/>
          </a:xfrm>
          <a:prstGeom prst="ellipse">
            <a:avLst/>
          </a:prstGeom>
          <a:solidFill>
            <a:schemeClr val="accent1"/>
          </a:solidFill>
          <a:ln w="12700">
            <a:solidFill>
              <a:schemeClr val="accent1"/>
            </a:solidFill>
            <a:prstDash val="solid"/>
          </a:ln>
        </p:spPr>
      </p:sp>
      <p:pic>
        <p:nvPicPr>
          <p:cNvPr id="30" name="step 6 icon" descr="step 6">    </p:cNvPr>
          <p:cNvPicPr>
            <a:picLocks noChangeAspect="1"/>
          </p:cNvPicPr>
          <p:nvPr/>
        </p:nvPicPr>
        <p:blipFill>
          <a:blip r:embed="rId6"/>
          <a:stretch>
            <a:fillRect/>
          </a:stretch>
        </p:blipFill>
        <p:spPr>
          <a:xfrm>
            <a:off x="6384341" y="2708453"/>
            <a:ext cx="252374" cy="252374"/>
          </a:xfrm>
          <a:prstGeom prst="rect">
            <a:avLst/>
          </a:prstGeom>
        </p:spPr>
      </p:pic>
      <p:sp>
        <p:nvSpPr>
          <p:cNvPr id="31" name="step 6 title"/>
          <p:cNvSpPr txBox="1"/>
          <p:nvPr/>
        </p:nvSpPr>
        <p:spPr>
          <a:xfrm>
            <a:off x="6922008" y="2514600"/>
            <a:ext cx="1673352" cy="329184"/>
          </a:xfrm>
          <a:prstGeom prst="rect">
            <a:avLst/>
          </a:prstGeom>
          <a:noFill/>
          <a:ln/>
        </p:spPr>
        <p:txBody>
          <a:bodyPr wrap="square" lIns="0" tIns="0" rIns="0" bIns="0" rtlCol="0" anchor="ctr"/>
          <a:lstStyle/>
          <a:p>
            <a:pPr indent="0" marL="0">
              <a:buNone/>
            </a:pPr>
            <a:r>
              <a:rPr lang="en-US" sz="1600" b="1" dirty="0">
                <a:solidFill>
                  <a:schemeClr val="tx2"/>
                </a:solidFill>
              </a:rPr>
              <a:t>Scan for risks</a:t>
            </a:r>
            <a:endParaRPr lang="en-US" sz="1600" dirty="0"/>
          </a:p>
        </p:txBody>
      </p:sp>
      <p:sp>
        <p:nvSpPr>
          <p:cNvPr id="32" name="step 6 text"/>
          <p:cNvSpPr txBox="1"/>
          <p:nvPr/>
        </p:nvSpPr>
        <p:spPr>
          <a:xfrm>
            <a:off x="6922008" y="2852928"/>
            <a:ext cx="1673352" cy="320040"/>
          </a:xfrm>
          <a:prstGeom prst="rect">
            <a:avLst/>
          </a:prstGeom>
          <a:noFill/>
          <a:ln/>
        </p:spPr>
        <p:txBody>
          <a:bodyPr wrap="square" lIns="0" tIns="0" rIns="0" bIns="0" rtlCol="0" anchor="t"/>
          <a:lstStyle/>
          <a:p>
            <a:pPr indent="0" marL="0">
              <a:buNone/>
            </a:pPr>
            <a:r>
              <a:rPr lang="en-US" sz="1200" dirty="0">
                <a:solidFill>
                  <a:schemeClr val="tx1"/>
                </a:solidFill>
              </a:rPr>
              <a:t>Trivy</a:t>
            </a:r>
            <a:endParaRPr lang="en-US" sz="1200" dirty="0"/>
          </a:p>
        </p:txBody>
      </p:sp>
      <p:sp>
        <p:nvSpPr>
          <p:cNvPr id="33" name="step 7 card"/>
          <p:cNvSpPr/>
          <p:nvPr/>
        </p:nvSpPr>
        <p:spPr>
          <a:xfrm>
            <a:off x="457200" y="3474720"/>
            <a:ext cx="2587752" cy="914400"/>
          </a:xfrm>
          <a:prstGeom prst="roundRect">
            <a:avLst>
              <a:gd name="adj" fmla="val 10000"/>
            </a:avLst>
          </a:prstGeom>
          <a:solidFill>
            <a:schemeClr val="bg2"/>
          </a:solidFill>
          <a:ln w="12700">
            <a:solidFill>
              <a:schemeClr val="bg2"/>
            </a:solidFill>
            <a:prstDash val="solid"/>
          </a:ln>
        </p:spPr>
      </p:sp>
      <p:sp>
        <p:nvSpPr>
          <p:cNvPr id="34" name="step 7 circle"/>
          <p:cNvSpPr/>
          <p:nvPr/>
        </p:nvSpPr>
        <p:spPr>
          <a:xfrm>
            <a:off x="594360" y="3657600"/>
            <a:ext cx="548640" cy="548640"/>
          </a:xfrm>
          <a:prstGeom prst="ellipse">
            <a:avLst/>
          </a:prstGeom>
          <a:solidFill>
            <a:schemeClr val="accent1"/>
          </a:solidFill>
          <a:ln w="12700">
            <a:solidFill>
              <a:schemeClr val="accent1"/>
            </a:solidFill>
            <a:prstDash val="solid"/>
          </a:ln>
        </p:spPr>
      </p:sp>
      <p:pic>
        <p:nvPicPr>
          <p:cNvPr id="35" name="step 7 icon" descr="step 7">    </p:cNvPr>
          <p:cNvPicPr>
            <a:picLocks noChangeAspect="1"/>
          </p:cNvPicPr>
          <p:nvPr/>
        </p:nvPicPr>
        <p:blipFill>
          <a:blip r:embed="rId7"/>
          <a:stretch>
            <a:fillRect/>
          </a:stretch>
        </p:blipFill>
        <p:spPr>
          <a:xfrm>
            <a:off x="742493" y="3805733"/>
            <a:ext cx="252374" cy="252374"/>
          </a:xfrm>
          <a:prstGeom prst="rect">
            <a:avLst/>
          </a:prstGeom>
        </p:spPr>
      </p:pic>
      <p:sp>
        <p:nvSpPr>
          <p:cNvPr id="36" name="step 7 title"/>
          <p:cNvSpPr txBox="1"/>
          <p:nvPr/>
        </p:nvSpPr>
        <p:spPr>
          <a:xfrm>
            <a:off x="1280160" y="3611880"/>
            <a:ext cx="1673352" cy="329184"/>
          </a:xfrm>
          <a:prstGeom prst="rect">
            <a:avLst/>
          </a:prstGeom>
          <a:noFill/>
          <a:ln/>
        </p:spPr>
        <p:txBody>
          <a:bodyPr wrap="square" lIns="0" tIns="0" rIns="0" bIns="0" rtlCol="0" anchor="ctr"/>
          <a:lstStyle/>
          <a:p>
            <a:pPr indent="0" marL="0">
              <a:buNone/>
            </a:pPr>
            <a:r>
              <a:rPr lang="en-US" sz="1600" b="1" dirty="0">
                <a:solidFill>
                  <a:schemeClr val="tx2"/>
                </a:solidFill>
              </a:rPr>
              <a:t>Plan the cloud</a:t>
            </a:r>
            <a:endParaRPr lang="en-US" sz="1600" dirty="0"/>
          </a:p>
        </p:txBody>
      </p:sp>
      <p:sp>
        <p:nvSpPr>
          <p:cNvPr id="37" name="step 7 text"/>
          <p:cNvSpPr txBox="1"/>
          <p:nvPr/>
        </p:nvSpPr>
        <p:spPr>
          <a:xfrm>
            <a:off x="1280160" y="3950208"/>
            <a:ext cx="1673352" cy="320040"/>
          </a:xfrm>
          <a:prstGeom prst="rect">
            <a:avLst/>
          </a:prstGeom>
          <a:noFill/>
          <a:ln/>
        </p:spPr>
        <p:txBody>
          <a:bodyPr wrap="square" lIns="0" tIns="0" rIns="0" bIns="0" rtlCol="0" anchor="t"/>
          <a:lstStyle/>
          <a:p>
            <a:pPr indent="0" marL="0">
              <a:buNone/>
            </a:pPr>
            <a:r>
              <a:rPr lang="en-US" sz="1200" dirty="0">
                <a:solidFill>
                  <a:schemeClr val="tx1"/>
                </a:solidFill>
              </a:rPr>
              <a:t>Terraform</a:t>
            </a:r>
            <a:endParaRPr lang="en-US" sz="1200" dirty="0"/>
          </a:p>
        </p:txBody>
      </p:sp>
      <p:sp>
        <p:nvSpPr>
          <p:cNvPr id="38" name="step 8 card"/>
          <p:cNvSpPr/>
          <p:nvPr/>
        </p:nvSpPr>
        <p:spPr>
          <a:xfrm>
            <a:off x="3278124" y="3474720"/>
            <a:ext cx="2587752" cy="914400"/>
          </a:xfrm>
          <a:prstGeom prst="roundRect">
            <a:avLst>
              <a:gd name="adj" fmla="val 10000"/>
            </a:avLst>
          </a:prstGeom>
          <a:solidFill>
            <a:schemeClr val="bg2"/>
          </a:solidFill>
          <a:ln w="12700">
            <a:solidFill>
              <a:schemeClr val="bg2"/>
            </a:solidFill>
            <a:prstDash val="solid"/>
          </a:ln>
        </p:spPr>
      </p:sp>
      <p:sp>
        <p:nvSpPr>
          <p:cNvPr id="39" name="step 8 circle"/>
          <p:cNvSpPr/>
          <p:nvPr/>
        </p:nvSpPr>
        <p:spPr>
          <a:xfrm>
            <a:off x="3415284" y="3657600"/>
            <a:ext cx="548640" cy="548640"/>
          </a:xfrm>
          <a:prstGeom prst="ellipse">
            <a:avLst/>
          </a:prstGeom>
          <a:solidFill>
            <a:schemeClr val="accent1"/>
          </a:solidFill>
          <a:ln w="12700">
            <a:solidFill>
              <a:schemeClr val="accent1"/>
            </a:solidFill>
            <a:prstDash val="solid"/>
          </a:ln>
        </p:spPr>
      </p:sp>
      <p:pic>
        <p:nvPicPr>
          <p:cNvPr id="40" name="step 8 icon" descr="step 8">    </p:cNvPr>
          <p:cNvPicPr>
            <a:picLocks noChangeAspect="1"/>
          </p:cNvPicPr>
          <p:nvPr/>
        </p:nvPicPr>
        <p:blipFill>
          <a:blip r:embed="rId8"/>
          <a:stretch>
            <a:fillRect/>
          </a:stretch>
        </p:blipFill>
        <p:spPr>
          <a:xfrm>
            <a:off x="3563417" y="3805733"/>
            <a:ext cx="252374" cy="252374"/>
          </a:xfrm>
          <a:prstGeom prst="rect">
            <a:avLst/>
          </a:prstGeom>
        </p:spPr>
      </p:pic>
      <p:sp>
        <p:nvSpPr>
          <p:cNvPr id="41" name="step 8 title"/>
          <p:cNvSpPr txBox="1"/>
          <p:nvPr/>
        </p:nvSpPr>
        <p:spPr>
          <a:xfrm>
            <a:off x="4101084" y="3611880"/>
            <a:ext cx="1673352" cy="329184"/>
          </a:xfrm>
          <a:prstGeom prst="rect">
            <a:avLst/>
          </a:prstGeom>
          <a:noFill/>
          <a:ln/>
        </p:spPr>
        <p:txBody>
          <a:bodyPr wrap="square" lIns="0" tIns="0" rIns="0" bIns="0" rtlCol="0" anchor="ctr"/>
          <a:lstStyle/>
          <a:p>
            <a:pPr indent="0" marL="0">
              <a:buNone/>
            </a:pPr>
            <a:r>
              <a:rPr lang="en-US" sz="1600" b="1" dirty="0">
                <a:solidFill>
                  <a:schemeClr val="tx2"/>
                </a:solidFill>
              </a:rPr>
              <a:t>Run it</a:t>
            </a:r>
            <a:endParaRPr lang="en-US" sz="1600" dirty="0"/>
          </a:p>
        </p:txBody>
      </p:sp>
      <p:sp>
        <p:nvSpPr>
          <p:cNvPr id="42" name="step 8 text"/>
          <p:cNvSpPr txBox="1"/>
          <p:nvPr/>
        </p:nvSpPr>
        <p:spPr>
          <a:xfrm>
            <a:off x="4101084" y="3950208"/>
            <a:ext cx="1673352" cy="320040"/>
          </a:xfrm>
          <a:prstGeom prst="rect">
            <a:avLst/>
          </a:prstGeom>
          <a:noFill/>
          <a:ln/>
        </p:spPr>
        <p:txBody>
          <a:bodyPr wrap="square" lIns="0" tIns="0" rIns="0" bIns="0" rtlCol="0" anchor="t"/>
          <a:lstStyle/>
          <a:p>
            <a:pPr indent="0" marL="0">
              <a:buNone/>
            </a:pPr>
            <a:r>
              <a:rPr lang="en-US" sz="1200" dirty="0">
                <a:solidFill>
                  <a:schemeClr val="tx1"/>
                </a:solidFill>
              </a:rPr>
              <a:t>Kubernetes and Helm</a:t>
            </a:r>
            <a:endParaRPr lang="en-US" sz="1200" dirty="0"/>
          </a:p>
        </p:txBody>
      </p:sp>
      <p:sp>
        <p:nvSpPr>
          <p:cNvPr id="43" name="step 9 card"/>
          <p:cNvSpPr/>
          <p:nvPr/>
        </p:nvSpPr>
        <p:spPr>
          <a:xfrm>
            <a:off x="6099048" y="3474720"/>
            <a:ext cx="2587752" cy="914400"/>
          </a:xfrm>
          <a:prstGeom prst="roundRect">
            <a:avLst>
              <a:gd name="adj" fmla="val 10000"/>
            </a:avLst>
          </a:prstGeom>
          <a:solidFill>
            <a:schemeClr val="bg2"/>
          </a:solidFill>
          <a:ln w="12700">
            <a:solidFill>
              <a:schemeClr val="bg2"/>
            </a:solidFill>
            <a:prstDash val="solid"/>
          </a:ln>
        </p:spPr>
      </p:sp>
      <p:sp>
        <p:nvSpPr>
          <p:cNvPr id="44" name="step 9 circle"/>
          <p:cNvSpPr/>
          <p:nvPr/>
        </p:nvSpPr>
        <p:spPr>
          <a:xfrm>
            <a:off x="6236208" y="3657600"/>
            <a:ext cx="548640" cy="548640"/>
          </a:xfrm>
          <a:prstGeom prst="ellipse">
            <a:avLst/>
          </a:prstGeom>
          <a:solidFill>
            <a:schemeClr val="accent1"/>
          </a:solidFill>
          <a:ln w="12700">
            <a:solidFill>
              <a:schemeClr val="accent1"/>
            </a:solidFill>
            <a:prstDash val="solid"/>
          </a:ln>
        </p:spPr>
      </p:sp>
      <p:pic>
        <p:nvPicPr>
          <p:cNvPr id="45" name="step 9 icon" descr="step 9">    </p:cNvPr>
          <p:cNvPicPr>
            <a:picLocks noChangeAspect="1"/>
          </p:cNvPicPr>
          <p:nvPr/>
        </p:nvPicPr>
        <p:blipFill>
          <a:blip r:embed="rId9"/>
          <a:stretch>
            <a:fillRect/>
          </a:stretch>
        </p:blipFill>
        <p:spPr>
          <a:xfrm>
            <a:off x="6384341" y="3805733"/>
            <a:ext cx="252374" cy="252374"/>
          </a:xfrm>
          <a:prstGeom prst="rect">
            <a:avLst/>
          </a:prstGeom>
        </p:spPr>
      </p:pic>
      <p:sp>
        <p:nvSpPr>
          <p:cNvPr id="46" name="step 9 title"/>
          <p:cNvSpPr txBox="1"/>
          <p:nvPr/>
        </p:nvSpPr>
        <p:spPr>
          <a:xfrm>
            <a:off x="6922008" y="3611880"/>
            <a:ext cx="1673352" cy="329184"/>
          </a:xfrm>
          <a:prstGeom prst="rect">
            <a:avLst/>
          </a:prstGeom>
          <a:noFill/>
          <a:ln/>
        </p:spPr>
        <p:txBody>
          <a:bodyPr wrap="square" lIns="0" tIns="0" rIns="0" bIns="0" rtlCol="0" anchor="ctr"/>
          <a:lstStyle/>
          <a:p>
            <a:pPr indent="0" marL="0">
              <a:buNone/>
            </a:pPr>
            <a:r>
              <a:rPr lang="en-US" sz="1600" b="1" dirty="0">
                <a:solidFill>
                  <a:schemeClr val="tx2"/>
                </a:solidFill>
              </a:rPr>
              <a:t>Watch it</a:t>
            </a:r>
            <a:endParaRPr lang="en-US" sz="1600" dirty="0"/>
          </a:p>
        </p:txBody>
      </p:sp>
      <p:sp>
        <p:nvSpPr>
          <p:cNvPr id="47" name="step 9 text"/>
          <p:cNvSpPr txBox="1"/>
          <p:nvPr/>
        </p:nvSpPr>
        <p:spPr>
          <a:xfrm>
            <a:off x="6922008" y="3950208"/>
            <a:ext cx="1673352" cy="320040"/>
          </a:xfrm>
          <a:prstGeom prst="rect">
            <a:avLst/>
          </a:prstGeom>
          <a:noFill/>
          <a:ln/>
        </p:spPr>
        <p:txBody>
          <a:bodyPr wrap="square" lIns="0" tIns="0" rIns="0" bIns="0" rtlCol="0" anchor="t"/>
          <a:lstStyle/>
          <a:p>
            <a:pPr indent="0" marL="0">
              <a:buNone/>
            </a:pPr>
            <a:r>
              <a:rPr lang="en-US" sz="1200" dirty="0">
                <a:solidFill>
                  <a:schemeClr val="tx1"/>
                </a:solidFill>
              </a:rPr>
              <a:t>Prometheus and Grafana</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Why these choices?</a:t>
            </a:r>
            <a:endParaRPr lang="en-US" sz="3400" dirty="0"/>
          </a:p>
        </p:txBody>
      </p:sp>
      <p:graphicFrame>
        <p:nvGraphicFramePr>
          <p:cNvPr id="7" name="choices 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743200"/>
                <a:gridCol w="2468880"/>
                <a:gridCol w="3017520"/>
              </a:tblGrid>
              <a:tr h="411480">
                <a:tc>
                  <a:txBody>
                    <a:bodyPr/>
                    <a:lstStyle/>
                    <a:p>
                      <a:pPr indent="0" marL="0">
                        <a:buNone/>
                      </a:pPr>
                      <a:r>
                        <a:rPr lang="en-US" sz="1400" b="1" dirty="0">
                          <a:solidFill>
                            <a:schemeClr val="bg1"/>
                          </a:solidFill>
                        </a:rPr>
                        <a:t>We chose</a:t>
                      </a:r>
                      <a:endParaRPr lang="en-US" sz="1400" dirty="0"/>
                    </a:p>
                  </a:txBody>
                  <a:tcPr marL="109728" marR="109728"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Instead of</a:t>
                      </a:r>
                      <a:endParaRPr lang="en-US" sz="1400" dirty="0"/>
                    </a:p>
                  </a:txBody>
                  <a:tcPr marL="109728" marR="109728"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Because</a:t>
                      </a:r>
                      <a:endParaRPr lang="en-US" sz="1400" dirty="0"/>
                    </a:p>
                  </a:txBody>
                  <a:tcPr marL="109728" marR="109728"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tx2"/>
                    </a:solidFill>
                  </a:tcPr>
                </a:tc>
              </a:tr>
              <a:tr h="640080">
                <a:tc>
                  <a:txBody>
                    <a:bodyPr/>
                    <a:lstStyle/>
                    <a:p>
                      <a:pPr indent="0" marL="0">
                        <a:buNone/>
                      </a:pPr>
                      <a:r>
                        <a:rPr lang="en-US" sz="1600" b="1" dirty="0">
                          <a:solidFill>
                            <a:schemeClr val="tx1"/>
                          </a:solidFill>
                        </a:rPr>
                        <a:t>Separate screen and brain</a:t>
                      </a:r>
                      <a:endParaRPr lang="en-US" sz="1600" dirty="0"/>
                    </a:p>
                  </a:txBody>
                  <a:tcPr marL="109728" marR="109728"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One big app</a:t>
                      </a:r>
                      <a:endParaRPr lang="en-US" sz="1600" dirty="0"/>
                    </a:p>
                  </a:txBody>
                  <a:tcPr marL="109728" marR="109728"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Each part changes on its own</a:t>
                      </a:r>
                      <a:endParaRPr lang="en-US" sz="1600" dirty="0"/>
                    </a:p>
                  </a:txBody>
                  <a:tcPr marL="109728" marR="109728"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r>
              <a:tr h="640080">
                <a:tc>
                  <a:txBody>
                    <a:bodyPr/>
                    <a:lstStyle/>
                    <a:p>
                      <a:pPr indent="0" marL="0">
                        <a:buNone/>
                      </a:pPr>
                      <a:r>
                        <a:rPr lang="en-US" sz="1600" b="1" dirty="0">
                          <a:solidFill>
                            <a:schemeClr val="tx1"/>
                          </a:solidFill>
                        </a:rPr>
                        <a:t>Kubernetes</a:t>
                      </a:r>
                      <a:endParaRPr lang="en-US" sz="1600" dirty="0"/>
                    </a:p>
                  </a:txBody>
                  <a:tcPr marL="109728" marR="109728"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Docker Compose alone</a:t>
                      </a:r>
                      <a:endParaRPr lang="en-US" sz="1600" dirty="0"/>
                    </a:p>
                  </a:txBody>
                  <a:tcPr marL="109728" marR="109728"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It heals itself and scales</a:t>
                      </a:r>
                      <a:endParaRPr lang="en-US" sz="1600" dirty="0"/>
                    </a:p>
                  </a:txBody>
                  <a:tcPr marL="109728" marR="109728"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r>
              <a:tr h="640080">
                <a:tc>
                  <a:txBody>
                    <a:bodyPr/>
                    <a:lstStyle/>
                    <a:p>
                      <a:pPr indent="0" marL="0">
                        <a:buNone/>
                      </a:pPr>
                      <a:r>
                        <a:rPr lang="en-US" sz="1600" b="1" dirty="0">
                          <a:solidFill>
                            <a:schemeClr val="tx1"/>
                          </a:solidFill>
                        </a:rPr>
                        <a:t>GitHub Actions</a:t>
                      </a:r>
                      <a:endParaRPr lang="en-US" sz="1600" dirty="0"/>
                    </a:p>
                  </a:txBody>
                  <a:tcPr marL="109728" marR="109728"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 Jenkins server</a:t>
                      </a:r>
                      <a:endParaRPr lang="en-US" sz="1600" dirty="0"/>
                    </a:p>
                  </a:txBody>
                  <a:tcPr marL="109728" marR="109728"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Nothing extra to run</a:t>
                      </a:r>
                      <a:endParaRPr lang="en-US" sz="1600" dirty="0"/>
                    </a:p>
                  </a:txBody>
                  <a:tcPr marL="109728" marR="109728"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r>
              <a:tr h="640080">
                <a:tc>
                  <a:txBody>
                    <a:bodyPr/>
                    <a:lstStyle/>
                    <a:p>
                      <a:pPr indent="0" marL="0">
                        <a:buNone/>
                      </a:pPr>
                      <a:r>
                        <a:rPr lang="en-US" sz="1600" b="1" dirty="0">
                          <a:solidFill>
                            <a:schemeClr val="tx1"/>
                          </a:solidFill>
                        </a:rPr>
                        <a:t>Alpine images</a:t>
                      </a:r>
                      <a:endParaRPr lang="en-US" sz="1600" dirty="0"/>
                    </a:p>
                  </a:txBody>
                  <a:tcPr marL="109728" marR="109728"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Full Debian images</a:t>
                      </a:r>
                      <a:endParaRPr lang="en-US" sz="1600" dirty="0"/>
                    </a:p>
                  </a:txBody>
                  <a:tcPr marL="109728" marR="109728"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Far fewer security holes</a:t>
                      </a:r>
                      <a:endParaRPr lang="en-US" sz="1600" dirty="0"/>
                    </a:p>
                  </a:txBody>
                  <a:tcPr marL="109728" marR="109728"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Proof 1: the automatic pipeline</a:t>
            </a:r>
            <a:endParaRPr lang="en-US" sz="3400" dirty="0"/>
          </a:p>
        </p:txBody>
      </p:sp>
      <p:sp>
        <p:nvSpPr>
          <p:cNvPr id="3" name="cicd screenshot frame"/>
          <p:cNvSpPr/>
          <p:nvPr/>
        </p:nvSpPr>
        <p:spPr>
          <a:xfrm>
            <a:off x="420624" y="1197864"/>
            <a:ext cx="7933211" cy="2953512"/>
          </a:xfrm>
          <a:prstGeom prst="rect">
            <a:avLst/>
          </a:prstGeom>
          <a:solidFill>
            <a:schemeClr val="bg1"/>
          </a:solidFill>
          <a:ln w="9525">
            <a:solidFill>
              <a:srgbClr val="D1D5DB"/>
            </a:solidFill>
            <a:prstDash val="solid"/>
          </a:ln>
          <a:effectLst>
            <a:outerShdw sx="100000" sy="100000" kx="0" ky="0" algn="bl" rotWithShape="0" blurRad="76200" dist="25400" dir="5400000">
              <a:srgbClr val="000000">
                <a:alpha val="12000"/>
              </a:srgbClr>
            </a:outerShdw>
          </a:effectLst>
        </p:spPr>
      </p:sp>
      <p:pic>
        <p:nvPicPr>
          <p:cNvPr id="4" name="cicd screenshot" descr="GitHub Actions run with backend-tests, frontend-build and docker all green">    </p:cNvPr>
          <p:cNvPicPr>
            <a:picLocks noChangeAspect="1"/>
          </p:cNvPicPr>
          <p:nvPr/>
        </p:nvPicPr>
        <p:blipFill>
          <a:blip r:embed="rId1"/>
          <a:stretch>
            <a:fillRect/>
          </a:stretch>
        </p:blipFill>
        <p:spPr>
          <a:xfrm>
            <a:off x="457200" y="1234440"/>
            <a:ext cx="7860059" cy="2880360"/>
          </a:xfrm>
          <a:prstGeom prst="rect">
            <a:avLst/>
          </a:prstGeom>
        </p:spPr>
      </p:pic>
      <p:sp>
        <p:nvSpPr>
          <p:cNvPr id="5" name="cicd caption"/>
          <p:cNvSpPr txBox="1"/>
          <p:nvPr/>
        </p:nvSpPr>
        <p:spPr>
          <a:xfrm>
            <a:off x="457200" y="4251960"/>
            <a:ext cx="8229600" cy="411480"/>
          </a:xfrm>
          <a:prstGeom prst="rect">
            <a:avLst/>
          </a:prstGeom>
          <a:noFill/>
          <a:ln/>
        </p:spPr>
        <p:txBody>
          <a:bodyPr wrap="square" lIns="0" tIns="0" rIns="0" bIns="0" rtlCol="0" anchor="t"/>
          <a:lstStyle/>
          <a:p>
            <a:pPr indent="0" marL="0">
              <a:buNone/>
            </a:pPr>
            <a:r>
              <a:rPr lang="en-US" sz="1600" b="1" dirty="0">
                <a:solidFill>
                  <a:schemeClr val="accent2"/>
                </a:solidFill>
              </a:rPr>
              <a:t>All green: </a:t>
            </a:r>
            <a:pPr indent="0" marL="0">
              <a:buNone/>
            </a:pPr>
            <a:r>
              <a:rPr lang="en-US" sz="1600" dirty="0">
                <a:solidFill>
                  <a:schemeClr val="tx1"/>
                </a:solidFill>
              </a:rPr>
              <a:t>tests and build first, then the images are published.</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Proof 2: the code on GitHub</a:t>
            </a:r>
            <a:endParaRPr lang="en-US" sz="3400" dirty="0"/>
          </a:p>
        </p:txBody>
      </p:sp>
      <p:sp>
        <p:nvSpPr>
          <p:cNvPr id="3" name="repo screenshot frame"/>
          <p:cNvSpPr/>
          <p:nvPr/>
        </p:nvSpPr>
        <p:spPr>
          <a:xfrm>
            <a:off x="420624" y="1243584"/>
            <a:ext cx="5340096" cy="3364992"/>
          </a:xfrm>
          <a:prstGeom prst="rect">
            <a:avLst/>
          </a:prstGeom>
          <a:solidFill>
            <a:schemeClr val="bg1"/>
          </a:solidFill>
          <a:ln w="9525">
            <a:solidFill>
              <a:srgbClr val="D1D5DB"/>
            </a:solidFill>
            <a:prstDash val="solid"/>
          </a:ln>
          <a:effectLst>
            <a:outerShdw sx="100000" sy="100000" kx="0" ky="0" algn="bl" rotWithShape="0" blurRad="76200" dist="25400" dir="5400000">
              <a:srgbClr val="000000">
                <a:alpha val="12000"/>
              </a:srgbClr>
            </a:outerShdw>
          </a:effectLst>
        </p:spPr>
      </p:sp>
      <p:pic>
        <p:nvPicPr>
          <p:cNvPr id="4" name="repo screenshot" descr="The public GitHub repository page for Devops-capstone">    </p:cNvPr>
          <p:cNvPicPr>
            <a:picLocks noChangeAspect="1"/>
          </p:cNvPicPr>
          <p:nvPr/>
        </p:nvPicPr>
        <p:blipFill>
          <a:blip r:embed="rId1"/>
          <a:stretch>
            <a:fillRect/>
          </a:stretch>
        </p:blipFill>
        <p:spPr>
          <a:xfrm>
            <a:off x="457200" y="1280160"/>
            <a:ext cx="5266944" cy="3291840"/>
          </a:xfrm>
          <a:prstGeom prst="rect">
            <a:avLst/>
          </a:prstGeom>
        </p:spPr>
      </p:pic>
      <p:sp>
        <p:nvSpPr>
          <p:cNvPr id="5" name="repo card"/>
          <p:cNvSpPr/>
          <p:nvPr/>
        </p:nvSpPr>
        <p:spPr>
          <a:xfrm>
            <a:off x="6263640" y="1280160"/>
            <a:ext cx="2423160" cy="3291840"/>
          </a:xfrm>
          <a:prstGeom prst="roundRect">
            <a:avLst>
              <a:gd name="adj" fmla="val 4528"/>
            </a:avLst>
          </a:prstGeom>
          <a:solidFill>
            <a:schemeClr val="bg2"/>
          </a:solidFill>
          <a:ln w="12700">
            <a:solidFill>
              <a:schemeClr val="bg2"/>
            </a:solidFill>
            <a:prstDash val="solid"/>
          </a:ln>
        </p:spPr>
      </p:sp>
      <p:sp>
        <p:nvSpPr>
          <p:cNvPr id="6" name="repo circle"/>
          <p:cNvSpPr/>
          <p:nvPr/>
        </p:nvSpPr>
        <p:spPr>
          <a:xfrm>
            <a:off x="6446520" y="1463040"/>
            <a:ext cx="457200" cy="457200"/>
          </a:xfrm>
          <a:prstGeom prst="ellipse">
            <a:avLst/>
          </a:prstGeom>
          <a:solidFill>
            <a:schemeClr val="accent1"/>
          </a:solidFill>
          <a:ln w="12700">
            <a:solidFill>
              <a:schemeClr val="accent1"/>
            </a:solidFill>
            <a:prstDash val="solid"/>
          </a:ln>
        </p:spPr>
      </p:sp>
      <p:pic>
        <p:nvPicPr>
          <p:cNvPr id="7" name="repo icon" descr="repo">    </p:cNvPr>
          <p:cNvPicPr>
            <a:picLocks noChangeAspect="1"/>
          </p:cNvPicPr>
          <p:nvPr/>
        </p:nvPicPr>
        <p:blipFill>
          <a:blip r:embed="rId2"/>
          <a:stretch>
            <a:fillRect/>
          </a:stretch>
        </p:blipFill>
        <p:spPr>
          <a:xfrm>
            <a:off x="6569964" y="1586484"/>
            <a:ext cx="210312" cy="210312"/>
          </a:xfrm>
          <a:prstGeom prst="rect">
            <a:avLst/>
          </a:prstGeom>
        </p:spPr>
      </p:pic>
      <p:sp>
        <p:nvSpPr>
          <p:cNvPr id="8" name="repo heading"/>
          <p:cNvSpPr txBox="1"/>
          <p:nvPr/>
        </p:nvSpPr>
        <p:spPr>
          <a:xfrm>
            <a:off x="7013448" y="1463040"/>
            <a:ext cx="1508760" cy="457200"/>
          </a:xfrm>
          <a:prstGeom prst="rect">
            <a:avLst/>
          </a:prstGeom>
          <a:noFill/>
          <a:ln/>
        </p:spPr>
        <p:txBody>
          <a:bodyPr wrap="square" lIns="0" tIns="0" rIns="0" bIns="0" rtlCol="0" anchor="ctr"/>
          <a:lstStyle/>
          <a:p>
            <a:pPr indent="0" marL="0">
              <a:buNone/>
            </a:pPr>
            <a:r>
              <a:rPr lang="en-US" sz="1600" b="1" dirty="0">
                <a:solidFill>
                  <a:schemeClr val="tx2"/>
                </a:solidFill>
              </a:rPr>
              <a:t>One public repo</a:t>
            </a:r>
            <a:endParaRPr lang="en-US" sz="1600" dirty="0"/>
          </a:p>
        </p:txBody>
      </p:sp>
      <p:sp>
        <p:nvSpPr>
          <p:cNvPr id="9" name="repo points"/>
          <p:cNvSpPr txBox="1"/>
          <p:nvPr/>
        </p:nvSpPr>
        <p:spPr>
          <a:xfrm>
            <a:off x="6446520" y="2103120"/>
            <a:ext cx="2057400" cy="2331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Frontend, backend and deploy files</a:t>
            </a:r>
            <a:endParaRPr lang="en-US" sz="1400" dirty="0"/>
          </a:p>
          <a:p>
            <a:pPr marL="342900" indent="-342900">
              <a:spcAft>
                <a:spcPts val="800"/>
              </a:spcAft>
              <a:buSzPct val="100000"/>
              <a:buChar char="•"/>
            </a:pPr>
            <a:r>
              <a:rPr lang="en-US" sz="1400" dirty="0">
                <a:solidFill>
                  <a:schemeClr val="tx1"/>
                </a:solidFill>
              </a:rPr>
              <a:t>Every change is a commit</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Proof 3: running on Kubernetes</a:t>
            </a:r>
            <a:endParaRPr lang="en-US" sz="3400" dirty="0"/>
          </a:p>
        </p:txBody>
      </p:sp>
      <p:sp>
        <p:nvSpPr>
          <p:cNvPr id="3" name="kubernetes terminal frame"/>
          <p:cNvSpPr/>
          <p:nvPr/>
        </p:nvSpPr>
        <p:spPr>
          <a:xfrm>
            <a:off x="420624" y="1243584"/>
            <a:ext cx="8020530" cy="2084832"/>
          </a:xfrm>
          <a:prstGeom prst="rect">
            <a:avLst/>
          </a:prstGeom>
          <a:solidFill>
            <a:schemeClr val="bg1"/>
          </a:solidFill>
          <a:ln w="9525">
            <a:solidFill>
              <a:srgbClr val="D1D5DB"/>
            </a:solidFill>
            <a:prstDash val="solid"/>
          </a:ln>
          <a:effectLst>
            <a:outerShdw sx="100000" sy="100000" kx="0" ky="0" algn="bl" rotWithShape="0" blurRad="76200" dist="25400" dir="5400000">
              <a:srgbClr val="000000">
                <a:alpha val="12000"/>
              </a:srgbClr>
            </a:outerShdw>
          </a:effectLst>
        </p:spPr>
      </p:sp>
      <p:pic>
        <p:nvPicPr>
          <p:cNvPr id="4" name="kubernetes terminal" descr="Terminal showing kubectl get pods, kubectl get svc and helm list">    </p:cNvPr>
          <p:cNvPicPr>
            <a:picLocks noChangeAspect="1"/>
          </p:cNvPicPr>
          <p:nvPr/>
        </p:nvPicPr>
        <p:blipFill>
          <a:blip r:embed="rId1"/>
          <a:stretch>
            <a:fillRect/>
          </a:stretch>
        </p:blipFill>
        <p:spPr>
          <a:xfrm>
            <a:off x="457200" y="1280160"/>
            <a:ext cx="7947378" cy="2011680"/>
          </a:xfrm>
          <a:prstGeom prst="rect">
            <a:avLst/>
          </a:prstGeom>
        </p:spPr>
      </p:pic>
      <p:sp>
        <p:nvSpPr>
          <p:cNvPr id="5" name="stat 1"/>
          <p:cNvSpPr txBox="1"/>
          <p:nvPr/>
        </p:nvSpPr>
        <p:spPr>
          <a:xfrm>
            <a:off x="457200" y="3520440"/>
            <a:ext cx="822960" cy="822960"/>
          </a:xfrm>
          <a:prstGeom prst="rect">
            <a:avLst/>
          </a:prstGeom>
          <a:noFill/>
          <a:ln/>
        </p:spPr>
        <p:txBody>
          <a:bodyPr wrap="square" lIns="0" tIns="0" rIns="0" bIns="0" rtlCol="0" anchor="ctr"/>
          <a:lstStyle/>
          <a:p>
            <a:pPr indent="0" marL="0">
              <a:buNone/>
            </a:pPr>
            <a:r>
              <a:rPr lang="en-US" sz="5400" b="1" dirty="0">
                <a:solidFill>
                  <a:schemeClr val="accent1"/>
                </a:solidFill>
              </a:rPr>
              <a:t>5</a:t>
            </a:r>
            <a:endParaRPr lang="en-US" sz="5400" dirty="0"/>
          </a:p>
        </p:txBody>
      </p:sp>
      <p:sp>
        <p:nvSpPr>
          <p:cNvPr id="6" name="stat 1 label"/>
          <p:cNvSpPr txBox="1"/>
          <p:nvPr/>
        </p:nvSpPr>
        <p:spPr>
          <a:xfrm>
            <a:off x="1325880" y="3520440"/>
            <a:ext cx="1783080" cy="822960"/>
          </a:xfrm>
          <a:prstGeom prst="rect">
            <a:avLst/>
          </a:prstGeom>
          <a:noFill/>
          <a:ln/>
        </p:spPr>
        <p:txBody>
          <a:bodyPr wrap="square" lIns="0" tIns="0" rIns="0" bIns="0" rtlCol="0" anchor="ctr"/>
          <a:lstStyle/>
          <a:p>
            <a:pPr indent="0" marL="0">
              <a:buNone/>
            </a:pPr>
            <a:r>
              <a:rPr lang="en-US" sz="1400" dirty="0">
                <a:solidFill>
                  <a:schemeClr val="tx1"/>
                </a:solidFill>
              </a:rPr>
              <a:t>pods Running</a:t>
            </a:r>
            <a:endParaRPr lang="en-US" sz="1400" dirty="0"/>
          </a:p>
        </p:txBody>
      </p:sp>
      <p:sp>
        <p:nvSpPr>
          <p:cNvPr id="7" name="stat 2"/>
          <p:cNvSpPr txBox="1"/>
          <p:nvPr/>
        </p:nvSpPr>
        <p:spPr>
          <a:xfrm>
            <a:off x="3291840" y="3520440"/>
            <a:ext cx="822960" cy="822960"/>
          </a:xfrm>
          <a:prstGeom prst="rect">
            <a:avLst/>
          </a:prstGeom>
          <a:noFill/>
          <a:ln/>
        </p:spPr>
        <p:txBody>
          <a:bodyPr wrap="square" lIns="0" tIns="0" rIns="0" bIns="0" rtlCol="0" anchor="ctr"/>
          <a:lstStyle/>
          <a:p>
            <a:pPr indent="0" marL="0">
              <a:buNone/>
            </a:pPr>
            <a:r>
              <a:rPr lang="en-US" sz="5400" b="1" dirty="0">
                <a:solidFill>
                  <a:schemeClr val="accent1"/>
                </a:solidFill>
              </a:rPr>
              <a:t>2</a:t>
            </a:r>
            <a:endParaRPr lang="en-US" sz="5400" dirty="0"/>
          </a:p>
        </p:txBody>
      </p:sp>
      <p:sp>
        <p:nvSpPr>
          <p:cNvPr id="8" name="stat 2 label"/>
          <p:cNvSpPr txBox="1"/>
          <p:nvPr/>
        </p:nvSpPr>
        <p:spPr>
          <a:xfrm>
            <a:off x="4160520" y="3520440"/>
            <a:ext cx="1783080" cy="822960"/>
          </a:xfrm>
          <a:prstGeom prst="rect">
            <a:avLst/>
          </a:prstGeom>
          <a:noFill/>
          <a:ln/>
        </p:spPr>
        <p:txBody>
          <a:bodyPr wrap="square" lIns="0" tIns="0" rIns="0" bIns="0" rtlCol="0" anchor="ctr"/>
          <a:lstStyle/>
          <a:p>
            <a:pPr indent="0" marL="0">
              <a:buNone/>
            </a:pPr>
            <a:r>
              <a:rPr lang="en-US" sz="1400" dirty="0">
                <a:solidFill>
                  <a:schemeClr val="tx1"/>
                </a:solidFill>
              </a:rPr>
              <a:t>copies each of frontend and backend</a:t>
            </a:r>
            <a:endParaRPr lang="en-US" sz="1400" dirty="0"/>
          </a:p>
        </p:txBody>
      </p:sp>
      <p:sp>
        <p:nvSpPr>
          <p:cNvPr id="9" name="stat 3"/>
          <p:cNvSpPr txBox="1"/>
          <p:nvPr/>
        </p:nvSpPr>
        <p:spPr>
          <a:xfrm>
            <a:off x="6126480" y="3520440"/>
            <a:ext cx="822960" cy="822960"/>
          </a:xfrm>
          <a:prstGeom prst="rect">
            <a:avLst/>
          </a:prstGeom>
          <a:noFill/>
          <a:ln/>
        </p:spPr>
        <p:txBody>
          <a:bodyPr wrap="square" lIns="0" tIns="0" rIns="0" bIns="0" rtlCol="0" anchor="ctr"/>
          <a:lstStyle/>
          <a:p>
            <a:pPr indent="0" marL="0">
              <a:buNone/>
            </a:pPr>
            <a:r>
              <a:rPr lang="en-US" sz="5400" b="1" dirty="0">
                <a:solidFill>
                  <a:schemeClr val="accent1"/>
                </a:solidFill>
              </a:rPr>
              <a:t>0</a:t>
            </a:r>
            <a:endParaRPr lang="en-US" sz="5400" dirty="0"/>
          </a:p>
        </p:txBody>
      </p:sp>
      <p:sp>
        <p:nvSpPr>
          <p:cNvPr id="10" name="stat 3 label"/>
          <p:cNvSpPr txBox="1"/>
          <p:nvPr/>
        </p:nvSpPr>
        <p:spPr>
          <a:xfrm>
            <a:off x="6995160" y="3520440"/>
            <a:ext cx="1783080" cy="822960"/>
          </a:xfrm>
          <a:prstGeom prst="rect">
            <a:avLst/>
          </a:prstGeom>
          <a:noFill/>
          <a:ln/>
        </p:spPr>
        <p:txBody>
          <a:bodyPr wrap="square" lIns="0" tIns="0" rIns="0" bIns="0" rtlCol="0" anchor="ctr"/>
          <a:lstStyle/>
          <a:p>
            <a:pPr indent="0" marL="0">
              <a:buNone/>
            </a:pPr>
            <a:r>
              <a:rPr lang="en-US" sz="1400" dirty="0">
                <a:solidFill>
                  <a:schemeClr val="tx1"/>
                </a:solidFill>
              </a:rPr>
              <a:t>restarts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The app, served by Kubernetes</a:t>
            </a:r>
            <a:endParaRPr lang="en-US" sz="3400" dirty="0"/>
          </a:p>
        </p:txBody>
      </p:sp>
      <p:sp>
        <p:nvSpPr>
          <p:cNvPr id="3" name="app via ingress screenshot frame"/>
          <p:cNvSpPr/>
          <p:nvPr/>
        </p:nvSpPr>
        <p:spPr>
          <a:xfrm>
            <a:off x="420624" y="1243584"/>
            <a:ext cx="5559552" cy="3321627"/>
          </a:xfrm>
          <a:prstGeom prst="rect">
            <a:avLst/>
          </a:prstGeom>
          <a:solidFill>
            <a:schemeClr val="bg1"/>
          </a:solidFill>
          <a:ln w="9525">
            <a:solidFill>
              <a:srgbClr val="D1D5DB"/>
            </a:solidFill>
            <a:prstDash val="solid"/>
          </a:ln>
          <a:effectLst>
            <a:outerShdw sx="100000" sy="100000" kx="0" ky="0" algn="bl" rotWithShape="0" blurRad="76200" dist="25400" dir="5400000">
              <a:srgbClr val="000000">
                <a:alpha val="12000"/>
              </a:srgbClr>
            </a:outerShdw>
          </a:effectLst>
        </p:spPr>
      </p:sp>
      <p:pic>
        <p:nvPicPr>
          <p:cNvPr id="4" name="app via ingress screenshot" descr="The Products page of the app opened through the Kubernetes ingress">    </p:cNvPr>
          <p:cNvPicPr>
            <a:picLocks noChangeAspect="1"/>
          </p:cNvPicPr>
          <p:nvPr/>
        </p:nvPicPr>
        <p:blipFill>
          <a:blip r:embed="rId1"/>
          <a:stretch>
            <a:fillRect/>
          </a:stretch>
        </p:blipFill>
        <p:spPr>
          <a:xfrm>
            <a:off x="457200" y="1280160"/>
            <a:ext cx="5486400" cy="3248475"/>
          </a:xfrm>
          <a:prstGeom prst="rect">
            <a:avLst/>
          </a:prstGeom>
        </p:spPr>
      </p:pic>
      <p:sp>
        <p:nvSpPr>
          <p:cNvPr id="5" name="ingress card"/>
          <p:cNvSpPr/>
          <p:nvPr/>
        </p:nvSpPr>
        <p:spPr>
          <a:xfrm>
            <a:off x="6263640" y="1280160"/>
            <a:ext cx="2423160" cy="3291840"/>
          </a:xfrm>
          <a:prstGeom prst="roundRect">
            <a:avLst>
              <a:gd name="adj" fmla="val 4528"/>
            </a:avLst>
          </a:prstGeom>
          <a:solidFill>
            <a:schemeClr val="bg2"/>
          </a:solidFill>
          <a:ln w="12700">
            <a:solidFill>
              <a:schemeClr val="bg2"/>
            </a:solidFill>
            <a:prstDash val="solid"/>
          </a:ln>
        </p:spPr>
      </p:sp>
      <p:sp>
        <p:nvSpPr>
          <p:cNvPr id="6" name="ingress circle"/>
          <p:cNvSpPr/>
          <p:nvPr/>
        </p:nvSpPr>
        <p:spPr>
          <a:xfrm>
            <a:off x="6446520" y="1463040"/>
            <a:ext cx="457200" cy="457200"/>
          </a:xfrm>
          <a:prstGeom prst="ellipse">
            <a:avLst/>
          </a:prstGeom>
          <a:solidFill>
            <a:schemeClr val="accent1"/>
          </a:solidFill>
          <a:ln w="12700">
            <a:solidFill>
              <a:schemeClr val="accent1"/>
            </a:solidFill>
            <a:prstDash val="solid"/>
          </a:ln>
        </p:spPr>
      </p:sp>
      <p:pic>
        <p:nvPicPr>
          <p:cNvPr id="7" name="ingress icon" descr="ingress">    </p:cNvPr>
          <p:cNvPicPr>
            <a:picLocks noChangeAspect="1"/>
          </p:cNvPicPr>
          <p:nvPr/>
        </p:nvPicPr>
        <p:blipFill>
          <a:blip r:embed="rId2"/>
          <a:stretch>
            <a:fillRect/>
          </a:stretch>
        </p:blipFill>
        <p:spPr>
          <a:xfrm>
            <a:off x="6569964" y="1586484"/>
            <a:ext cx="210312" cy="210312"/>
          </a:xfrm>
          <a:prstGeom prst="rect">
            <a:avLst/>
          </a:prstGeom>
        </p:spPr>
      </p:pic>
      <p:sp>
        <p:nvSpPr>
          <p:cNvPr id="8" name="ingress heading"/>
          <p:cNvSpPr txBox="1"/>
          <p:nvPr/>
        </p:nvSpPr>
        <p:spPr>
          <a:xfrm>
            <a:off x="7013448" y="1463040"/>
            <a:ext cx="1508760" cy="457200"/>
          </a:xfrm>
          <a:prstGeom prst="rect">
            <a:avLst/>
          </a:prstGeom>
          <a:noFill/>
          <a:ln/>
        </p:spPr>
        <p:txBody>
          <a:bodyPr wrap="square" lIns="0" tIns="0" rIns="0" bIns="0" rtlCol="0" anchor="ctr"/>
          <a:lstStyle/>
          <a:p>
            <a:pPr indent="0" marL="0">
              <a:buNone/>
            </a:pPr>
            <a:r>
              <a:rPr lang="en-US" sz="1600" b="1" dirty="0">
                <a:solidFill>
                  <a:schemeClr val="tx2"/>
                </a:solidFill>
              </a:rPr>
              <a:t>The front door</a:t>
            </a:r>
            <a:endParaRPr lang="en-US" sz="1600" dirty="0"/>
          </a:p>
        </p:txBody>
      </p:sp>
      <p:sp>
        <p:nvSpPr>
          <p:cNvPr id="9" name="ingress points"/>
          <p:cNvSpPr txBox="1"/>
          <p:nvPr/>
        </p:nvSpPr>
        <p:spPr>
          <a:xfrm>
            <a:off x="6446520" y="2103120"/>
            <a:ext cx="2057400" cy="2331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Opened through the cluster's Ingress</a:t>
            </a:r>
            <a:endParaRPr lang="en-US" sz="1400" dirty="0"/>
          </a:p>
          <a:p>
            <a:pPr marL="342900" indent="-342900">
              <a:spcAft>
                <a:spcPts val="800"/>
              </a:spcAft>
              <a:buSzPct val="100000"/>
              <a:buChar char="•"/>
            </a:pPr>
            <a:r>
              <a:rPr lang="en-US" sz="1400" dirty="0">
                <a:solidFill>
                  <a:schemeClr val="tx1"/>
                </a:solidFill>
              </a:rPr>
              <a:t>Same app, now run by Kubernetes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Proof 4: Docker Compose</a:t>
            </a:r>
            <a:endParaRPr lang="en-US" sz="3400" dirty="0"/>
          </a:p>
        </p:txBody>
      </p:sp>
      <p:sp>
        <p:nvSpPr>
          <p:cNvPr id="3" name="compose screenshot frame"/>
          <p:cNvSpPr/>
          <p:nvPr/>
        </p:nvSpPr>
        <p:spPr>
          <a:xfrm>
            <a:off x="420624" y="1243584"/>
            <a:ext cx="4828032" cy="3330960"/>
          </a:xfrm>
          <a:prstGeom prst="rect">
            <a:avLst/>
          </a:prstGeom>
          <a:solidFill>
            <a:schemeClr val="bg1"/>
          </a:solidFill>
          <a:ln w="9525">
            <a:solidFill>
              <a:srgbClr val="D1D5DB"/>
            </a:solidFill>
            <a:prstDash val="solid"/>
          </a:ln>
          <a:effectLst>
            <a:outerShdw sx="100000" sy="100000" kx="0" ky="0" algn="bl" rotWithShape="0" blurRad="76200" dist="25400" dir="5400000">
              <a:srgbClr val="000000">
                <a:alpha val="12000"/>
              </a:srgbClr>
            </a:outerShdw>
          </a:effectLst>
        </p:spPr>
      </p:sp>
      <p:pic>
        <p:nvPicPr>
          <p:cNvPr id="4" name="compose screenshot" descr="Terminal output of docker compose up --build starting the database, backend and frontend">    </p:cNvPr>
          <p:cNvPicPr>
            <a:picLocks noChangeAspect="1"/>
          </p:cNvPicPr>
          <p:nvPr/>
        </p:nvPicPr>
        <p:blipFill>
          <a:blip r:embed="rId1"/>
          <a:stretch>
            <a:fillRect/>
          </a:stretch>
        </p:blipFill>
        <p:spPr>
          <a:xfrm>
            <a:off x="457200" y="1280160"/>
            <a:ext cx="4754880" cy="3257808"/>
          </a:xfrm>
          <a:prstGeom prst="rect">
            <a:avLst/>
          </a:prstGeom>
        </p:spPr>
      </p:pic>
      <p:sp>
        <p:nvSpPr>
          <p:cNvPr id="5" name="ps card"/>
          <p:cNvSpPr/>
          <p:nvPr/>
        </p:nvSpPr>
        <p:spPr>
          <a:xfrm>
            <a:off x="5532120" y="1280160"/>
            <a:ext cx="3154680" cy="3291840"/>
          </a:xfrm>
          <a:prstGeom prst="roundRect">
            <a:avLst>
              <a:gd name="adj" fmla="val 3478"/>
            </a:avLst>
          </a:prstGeom>
          <a:solidFill>
            <a:schemeClr val="tx2"/>
          </a:solidFill>
          <a:ln w="12700">
            <a:solidFill>
              <a:schemeClr val="tx2"/>
            </a:solidFill>
            <a:prstDash val="solid"/>
          </a:ln>
        </p:spPr>
      </p:sp>
      <p:sp>
        <p:nvSpPr>
          <p:cNvPr id="6" name="ps heading"/>
          <p:cNvSpPr txBox="1"/>
          <p:nvPr/>
        </p:nvSpPr>
        <p:spPr>
          <a:xfrm>
            <a:off x="5715000" y="1417320"/>
            <a:ext cx="2834640" cy="365760"/>
          </a:xfrm>
          <a:prstGeom prst="rect">
            <a:avLst/>
          </a:prstGeom>
          <a:noFill/>
          <a:ln/>
        </p:spPr>
        <p:txBody>
          <a:bodyPr wrap="square" lIns="0" tIns="0" rIns="0" bIns="0" rtlCol="0" anchor="ctr"/>
          <a:lstStyle/>
          <a:p>
            <a:pPr indent="0" marL="0">
              <a:buNone/>
            </a:pPr>
            <a:r>
              <a:rPr lang="en-US" sz="1400" b="1" dirty="0">
                <a:solidFill>
                  <a:schemeClr val="bg2"/>
                </a:solidFill>
              </a:rPr>
              <a:t>docker compose ps</a:t>
            </a:r>
            <a:endParaRPr lang="en-US" sz="1400" dirty="0"/>
          </a:p>
        </p:txBody>
      </p:sp>
      <p:sp>
        <p:nvSpPr>
          <p:cNvPr id="7" name="ps output"/>
          <p:cNvSpPr txBox="1"/>
          <p:nvPr/>
        </p:nvSpPr>
        <p:spPr>
          <a:xfrm>
            <a:off x="5715000" y="1874520"/>
            <a:ext cx="2834640" cy="91440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backend    Up           port 8000</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db         Up (healthy) private</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frontend   Up           port 3000</a:t>
            </a:r>
            <a:endParaRPr lang="en-US" sz="1100" dirty="0"/>
          </a:p>
        </p:txBody>
      </p:sp>
      <p:sp>
        <p:nvSpPr>
          <p:cNvPr id="8" name="compose points"/>
          <p:cNvSpPr txBox="1"/>
          <p:nvPr/>
        </p:nvSpPr>
        <p:spPr>
          <a:xfrm>
            <a:off x="5715000" y="3017520"/>
            <a:ext cx="283464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One command starts all three</a:t>
            </a:r>
            <a:endParaRPr lang="en-US" sz="1400" dirty="0"/>
          </a:p>
          <a:p>
            <a:pPr marL="342900" indent="-342900">
              <a:spcAft>
                <a:spcPts val="800"/>
              </a:spcAft>
              <a:buSzPct val="100000"/>
              <a:buChar char="•"/>
            </a:pPr>
            <a:r>
              <a:rPr lang="en-US" sz="1400" dirty="0">
                <a:solidFill>
                  <a:schemeClr val="bg1"/>
                </a:solidFill>
              </a:rPr>
              <a:t>The database stays private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The cloud, described as code</a:t>
            </a:r>
            <a:endParaRPr lang="en-US" sz="3400" dirty="0"/>
          </a:p>
        </p:txBody>
      </p:sp>
      <p:sp>
        <p:nvSpPr>
          <p:cNvPr id="3" name="terraform screenshot frame"/>
          <p:cNvSpPr/>
          <p:nvPr/>
        </p:nvSpPr>
        <p:spPr>
          <a:xfrm>
            <a:off x="420624" y="1243584"/>
            <a:ext cx="8056009" cy="2359152"/>
          </a:xfrm>
          <a:prstGeom prst="rect">
            <a:avLst/>
          </a:prstGeom>
          <a:solidFill>
            <a:schemeClr val="bg1"/>
          </a:solidFill>
          <a:ln w="9525">
            <a:solidFill>
              <a:srgbClr val="D1D5DB"/>
            </a:solidFill>
            <a:prstDash val="solid"/>
          </a:ln>
          <a:effectLst>
            <a:outerShdw sx="100000" sy="100000" kx="0" ky="0" algn="bl" rotWithShape="0" blurRad="76200" dist="25400" dir="5400000">
              <a:srgbClr val="000000">
                <a:alpha val="12000"/>
              </a:srgbClr>
            </a:outerShdw>
          </a:effectLst>
        </p:spPr>
      </p:sp>
      <p:pic>
        <p:nvPicPr>
          <p:cNvPr id="4" name="terraform screenshot" descr="Terminal output of terraform apply: 15 resources added, with the EKS cluster name and subnet ids">    </p:cNvPr>
          <p:cNvPicPr>
            <a:picLocks noChangeAspect="1"/>
          </p:cNvPicPr>
          <p:nvPr/>
        </p:nvPicPr>
        <p:blipFill>
          <a:blip r:embed="rId1"/>
          <a:stretch>
            <a:fillRect/>
          </a:stretch>
        </p:blipFill>
        <p:spPr>
          <a:xfrm>
            <a:off x="457200" y="1280160"/>
            <a:ext cx="7982857" cy="2286000"/>
          </a:xfrm>
          <a:prstGeom prst="rect">
            <a:avLst/>
          </a:prstGeom>
        </p:spPr>
      </p:pic>
      <p:sp>
        <p:nvSpPr>
          <p:cNvPr id="5" name="tf stat 1"/>
          <p:cNvSpPr txBox="1"/>
          <p:nvPr/>
        </p:nvSpPr>
        <p:spPr>
          <a:xfrm>
            <a:off x="457200" y="3749040"/>
            <a:ext cx="1097280" cy="822960"/>
          </a:xfrm>
          <a:prstGeom prst="rect">
            <a:avLst/>
          </a:prstGeom>
          <a:noFill/>
          <a:ln/>
        </p:spPr>
        <p:txBody>
          <a:bodyPr wrap="square" lIns="0" tIns="0" rIns="0" bIns="0" rtlCol="0" anchor="ctr"/>
          <a:lstStyle/>
          <a:p>
            <a:pPr indent="0" marL="0">
              <a:buNone/>
            </a:pPr>
            <a:r>
              <a:rPr lang="en-US" sz="5400" b="1" dirty="0">
                <a:solidFill>
                  <a:schemeClr val="accent1"/>
                </a:solidFill>
              </a:rPr>
              <a:t>15</a:t>
            </a:r>
            <a:endParaRPr lang="en-US" sz="5400" dirty="0"/>
          </a:p>
        </p:txBody>
      </p:sp>
      <p:sp>
        <p:nvSpPr>
          <p:cNvPr id="6" name="tf stat 1 label"/>
          <p:cNvSpPr txBox="1"/>
          <p:nvPr/>
        </p:nvSpPr>
        <p:spPr>
          <a:xfrm>
            <a:off x="1600200" y="3749040"/>
            <a:ext cx="1554480" cy="822960"/>
          </a:xfrm>
          <a:prstGeom prst="rect">
            <a:avLst/>
          </a:prstGeom>
          <a:noFill/>
          <a:ln/>
        </p:spPr>
        <p:txBody>
          <a:bodyPr wrap="square" lIns="0" tIns="0" rIns="0" bIns="0" rtlCol="0" anchor="ctr"/>
          <a:lstStyle/>
          <a:p>
            <a:pPr indent="0" marL="0">
              <a:buNone/>
            </a:pPr>
            <a:r>
              <a:rPr lang="en-US" sz="1400" dirty="0">
                <a:solidFill>
                  <a:schemeClr val="tx1"/>
                </a:solidFill>
              </a:rPr>
              <a:t>cloud resources created</a:t>
            </a:r>
            <a:endParaRPr lang="en-US" sz="1400" dirty="0"/>
          </a:p>
        </p:txBody>
      </p:sp>
      <p:sp>
        <p:nvSpPr>
          <p:cNvPr id="7" name="tf stat 2"/>
          <p:cNvSpPr txBox="1"/>
          <p:nvPr/>
        </p:nvSpPr>
        <p:spPr>
          <a:xfrm>
            <a:off x="3291840" y="3749040"/>
            <a:ext cx="1097280" cy="822960"/>
          </a:xfrm>
          <a:prstGeom prst="rect">
            <a:avLst/>
          </a:prstGeom>
          <a:noFill/>
          <a:ln/>
        </p:spPr>
        <p:txBody>
          <a:bodyPr wrap="square" lIns="0" tIns="0" rIns="0" bIns="0" rtlCol="0" anchor="ctr"/>
          <a:lstStyle/>
          <a:p>
            <a:pPr indent="0" marL="0">
              <a:buNone/>
            </a:pPr>
            <a:r>
              <a:rPr lang="en-US" sz="5400" b="1" dirty="0">
                <a:solidFill>
                  <a:schemeClr val="accent1"/>
                </a:solidFill>
              </a:rPr>
              <a:t>2</a:t>
            </a:r>
            <a:endParaRPr lang="en-US" sz="5400" dirty="0"/>
          </a:p>
        </p:txBody>
      </p:sp>
      <p:sp>
        <p:nvSpPr>
          <p:cNvPr id="8" name="tf stat 2 label"/>
          <p:cNvSpPr txBox="1"/>
          <p:nvPr/>
        </p:nvSpPr>
        <p:spPr>
          <a:xfrm>
            <a:off x="4434840" y="3749040"/>
            <a:ext cx="1554480" cy="822960"/>
          </a:xfrm>
          <a:prstGeom prst="rect">
            <a:avLst/>
          </a:prstGeom>
          <a:noFill/>
          <a:ln/>
        </p:spPr>
        <p:txBody>
          <a:bodyPr wrap="square" lIns="0" tIns="0" rIns="0" bIns="0" rtlCol="0" anchor="ctr"/>
          <a:lstStyle/>
          <a:p>
            <a:pPr indent="0" marL="0">
              <a:buNone/>
            </a:pPr>
            <a:r>
              <a:rPr lang="en-US" sz="1400" dirty="0">
                <a:solidFill>
                  <a:schemeClr val="tx1"/>
                </a:solidFill>
              </a:rPr>
              <a:t>public subnets in the network</a:t>
            </a:r>
            <a:endParaRPr lang="en-US" sz="1400" dirty="0"/>
          </a:p>
        </p:txBody>
      </p:sp>
      <p:sp>
        <p:nvSpPr>
          <p:cNvPr id="9" name="tf stat 3"/>
          <p:cNvSpPr txBox="1"/>
          <p:nvPr/>
        </p:nvSpPr>
        <p:spPr>
          <a:xfrm>
            <a:off x="6126480" y="3749040"/>
            <a:ext cx="1097280" cy="822960"/>
          </a:xfrm>
          <a:prstGeom prst="rect">
            <a:avLst/>
          </a:prstGeom>
          <a:noFill/>
          <a:ln/>
        </p:spPr>
        <p:txBody>
          <a:bodyPr wrap="square" lIns="0" tIns="0" rIns="0" bIns="0" rtlCol="0" anchor="ctr"/>
          <a:lstStyle/>
          <a:p>
            <a:pPr indent="0" marL="0">
              <a:buNone/>
            </a:pPr>
            <a:r>
              <a:rPr lang="en-US" sz="5400" b="1" dirty="0">
                <a:solidFill>
                  <a:schemeClr val="accent1"/>
                </a:solidFill>
              </a:rPr>
              <a:t>1</a:t>
            </a:r>
            <a:endParaRPr lang="en-US" sz="5400" dirty="0"/>
          </a:p>
        </p:txBody>
      </p:sp>
      <p:sp>
        <p:nvSpPr>
          <p:cNvPr id="10" name="tf stat 3 label"/>
          <p:cNvSpPr txBox="1"/>
          <p:nvPr/>
        </p:nvSpPr>
        <p:spPr>
          <a:xfrm>
            <a:off x="7269480" y="3749040"/>
            <a:ext cx="1554480" cy="822960"/>
          </a:xfrm>
          <a:prstGeom prst="rect">
            <a:avLst/>
          </a:prstGeom>
          <a:noFill/>
          <a:ln/>
        </p:spPr>
        <p:txBody>
          <a:bodyPr wrap="square" lIns="0" tIns="0" rIns="0" bIns="0" rtlCol="0" anchor="ctr"/>
          <a:lstStyle/>
          <a:p>
            <a:pPr indent="0" marL="0">
              <a:buNone/>
            </a:pPr>
            <a:r>
              <a:rPr lang="en-US" sz="1400" dirty="0">
                <a:solidFill>
                  <a:schemeClr val="tx1"/>
                </a:solidFill>
              </a:rPr>
              <a:t>Kubernetes cluster on AWS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Watching it live</a:t>
            </a:r>
            <a:endParaRPr lang="en-US" sz="3400" dirty="0"/>
          </a:p>
        </p:txBody>
      </p:sp>
      <p:sp>
        <p:nvSpPr>
          <p:cNvPr id="3" name="grafana screenshot frame"/>
          <p:cNvSpPr/>
          <p:nvPr/>
        </p:nvSpPr>
        <p:spPr>
          <a:xfrm>
            <a:off x="420624" y="1243584"/>
            <a:ext cx="5559552" cy="3324782"/>
          </a:xfrm>
          <a:prstGeom prst="rect">
            <a:avLst/>
          </a:prstGeom>
          <a:solidFill>
            <a:schemeClr val="bg1"/>
          </a:solidFill>
          <a:ln w="9525">
            <a:solidFill>
              <a:srgbClr val="D1D5DB"/>
            </a:solidFill>
            <a:prstDash val="solid"/>
          </a:ln>
          <a:effectLst>
            <a:outerShdw sx="100000" sy="100000" kx="0" ky="0" algn="bl" rotWithShape="0" blurRad="76200" dist="25400" dir="5400000">
              <a:srgbClr val="000000">
                <a:alpha val="12000"/>
              </a:srgbClr>
            </a:outerShdw>
          </a:effectLst>
        </p:spPr>
      </p:sp>
      <p:pic>
        <p:nvPicPr>
          <p:cNvPr id="4" name="grafana screenshot" descr="Grafana dashboard with requests per second, error rate, latency and memory panels">    </p:cNvPr>
          <p:cNvPicPr>
            <a:picLocks noChangeAspect="1"/>
          </p:cNvPicPr>
          <p:nvPr/>
        </p:nvPicPr>
        <p:blipFill>
          <a:blip r:embed="rId1"/>
          <a:stretch>
            <a:fillRect/>
          </a:stretch>
        </p:blipFill>
        <p:spPr>
          <a:xfrm>
            <a:off x="457200" y="1280160"/>
            <a:ext cx="5486400" cy="3251630"/>
          </a:xfrm>
          <a:prstGeom prst="rect">
            <a:avLst/>
          </a:prstGeom>
        </p:spPr>
      </p:pic>
      <p:sp>
        <p:nvSpPr>
          <p:cNvPr id="5" name="grafana card"/>
          <p:cNvSpPr/>
          <p:nvPr/>
        </p:nvSpPr>
        <p:spPr>
          <a:xfrm>
            <a:off x="6263640" y="1280160"/>
            <a:ext cx="2423160" cy="3291840"/>
          </a:xfrm>
          <a:prstGeom prst="roundRect">
            <a:avLst>
              <a:gd name="adj" fmla="val 4528"/>
            </a:avLst>
          </a:prstGeom>
          <a:solidFill>
            <a:schemeClr val="bg2"/>
          </a:solidFill>
          <a:ln w="12700">
            <a:solidFill>
              <a:schemeClr val="bg2"/>
            </a:solidFill>
            <a:prstDash val="solid"/>
          </a:ln>
        </p:spPr>
      </p:sp>
      <p:sp>
        <p:nvSpPr>
          <p:cNvPr id="6" name="grafana circle"/>
          <p:cNvSpPr/>
          <p:nvPr/>
        </p:nvSpPr>
        <p:spPr>
          <a:xfrm>
            <a:off x="6446520" y="1463040"/>
            <a:ext cx="457200" cy="457200"/>
          </a:xfrm>
          <a:prstGeom prst="ellipse">
            <a:avLst/>
          </a:prstGeom>
          <a:solidFill>
            <a:schemeClr val="accent1"/>
          </a:solidFill>
          <a:ln w="12700">
            <a:solidFill>
              <a:schemeClr val="accent1"/>
            </a:solidFill>
            <a:prstDash val="solid"/>
          </a:ln>
        </p:spPr>
      </p:sp>
      <p:pic>
        <p:nvPicPr>
          <p:cNvPr id="7" name="grafana icon" descr="grafana">    </p:cNvPr>
          <p:cNvPicPr>
            <a:picLocks noChangeAspect="1"/>
          </p:cNvPicPr>
          <p:nvPr/>
        </p:nvPicPr>
        <p:blipFill>
          <a:blip r:embed="rId2"/>
          <a:stretch>
            <a:fillRect/>
          </a:stretch>
        </p:blipFill>
        <p:spPr>
          <a:xfrm>
            <a:off x="6569964" y="1586484"/>
            <a:ext cx="210312" cy="210312"/>
          </a:xfrm>
          <a:prstGeom prst="rect">
            <a:avLst/>
          </a:prstGeom>
        </p:spPr>
      </p:pic>
      <p:sp>
        <p:nvSpPr>
          <p:cNvPr id="8" name="grafana heading"/>
          <p:cNvSpPr txBox="1"/>
          <p:nvPr/>
        </p:nvSpPr>
        <p:spPr>
          <a:xfrm>
            <a:off x="7013448" y="1463040"/>
            <a:ext cx="1508760" cy="457200"/>
          </a:xfrm>
          <a:prstGeom prst="rect">
            <a:avLst/>
          </a:prstGeom>
          <a:noFill/>
          <a:ln/>
        </p:spPr>
        <p:txBody>
          <a:bodyPr wrap="square" lIns="0" tIns="0" rIns="0" bIns="0" rtlCol="0" anchor="ctr"/>
          <a:lstStyle/>
          <a:p>
            <a:pPr indent="0" marL="0">
              <a:buNone/>
            </a:pPr>
            <a:r>
              <a:rPr lang="en-US" sz="1600" b="1" dirty="0">
                <a:solidFill>
                  <a:schemeClr val="tx2"/>
                </a:solidFill>
              </a:rPr>
              <a:t>Live graphs</a:t>
            </a:r>
            <a:endParaRPr lang="en-US" sz="1600" dirty="0"/>
          </a:p>
        </p:txBody>
      </p:sp>
      <p:sp>
        <p:nvSpPr>
          <p:cNvPr id="9" name="grafana points"/>
          <p:cNvSpPr txBox="1"/>
          <p:nvPr/>
        </p:nvSpPr>
        <p:spPr>
          <a:xfrm>
            <a:off x="6446520" y="2103120"/>
            <a:ext cx="2057400" cy="2331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Requests, errors, speed, memory</a:t>
            </a:r>
            <a:endParaRPr lang="en-US" sz="1400" dirty="0"/>
          </a:p>
          <a:p>
            <a:pPr marL="342900" indent="-342900">
              <a:spcAft>
                <a:spcPts val="800"/>
              </a:spcAft>
              <a:buSzPct val="100000"/>
              <a:buChar char="•"/>
            </a:pPr>
            <a:r>
              <a:rPr lang="en-US" sz="1400" dirty="0">
                <a:solidFill>
                  <a:schemeClr val="tx1"/>
                </a:solidFill>
              </a:rPr>
              <a:t>Refreshes every 10 seconds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Safety nets built in</a:t>
            </a:r>
            <a:endParaRPr lang="en-US" sz="3400" dirty="0"/>
          </a:p>
        </p:txBody>
      </p:sp>
      <p:sp>
        <p:nvSpPr>
          <p:cNvPr id="3" name="net 1 card"/>
          <p:cNvSpPr/>
          <p:nvPr/>
        </p:nvSpPr>
        <p:spPr>
          <a:xfrm>
            <a:off x="457200" y="1371600"/>
            <a:ext cx="2560320" cy="2697480"/>
          </a:xfrm>
          <a:prstGeom prst="roundRect">
            <a:avLst>
              <a:gd name="adj" fmla="val 428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net 1 number"/>
          <p:cNvSpPr txBox="1"/>
          <p:nvPr/>
        </p:nvSpPr>
        <p:spPr>
          <a:xfrm>
            <a:off x="594360" y="1508760"/>
            <a:ext cx="2286000" cy="914400"/>
          </a:xfrm>
          <a:prstGeom prst="rect">
            <a:avLst/>
          </a:prstGeom>
          <a:noFill/>
          <a:ln/>
        </p:spPr>
        <p:txBody>
          <a:bodyPr wrap="square" lIns="0" tIns="0" rIns="0" bIns="0" rtlCol="0" anchor="ctr"/>
          <a:lstStyle/>
          <a:p>
            <a:pPr algn="l" indent="0" marL="0">
              <a:buNone/>
            </a:pPr>
            <a:r>
              <a:rPr lang="en-US" sz="4400" b="1" dirty="0">
                <a:solidFill>
                  <a:schemeClr val="accent1"/>
                </a:solidFill>
              </a:rPr>
              <a:t>31</a:t>
            </a:r>
            <a:endParaRPr lang="en-US" sz="4400" dirty="0"/>
          </a:p>
        </p:txBody>
      </p:sp>
      <p:sp>
        <p:nvSpPr>
          <p:cNvPr id="5" name="net 1 title"/>
          <p:cNvSpPr txBox="1"/>
          <p:nvPr/>
        </p:nvSpPr>
        <p:spPr>
          <a:xfrm>
            <a:off x="594360" y="2468880"/>
            <a:ext cx="2286000" cy="548640"/>
          </a:xfrm>
          <a:prstGeom prst="rect">
            <a:avLst/>
          </a:prstGeom>
          <a:noFill/>
          <a:ln/>
        </p:spPr>
        <p:txBody>
          <a:bodyPr wrap="square" lIns="0" tIns="0" rIns="0" bIns="0" rtlCol="0" anchor="t"/>
          <a:lstStyle/>
          <a:p>
            <a:pPr indent="0" marL="0">
              <a:buNone/>
            </a:pPr>
            <a:r>
              <a:rPr lang="en-US" sz="1800" b="1" dirty="0">
                <a:solidFill>
                  <a:schemeClr val="tx2"/>
                </a:solidFill>
              </a:rPr>
              <a:t>automatic tests</a:t>
            </a:r>
            <a:endParaRPr lang="en-US" sz="1800" dirty="0"/>
          </a:p>
        </p:txBody>
      </p:sp>
      <p:sp>
        <p:nvSpPr>
          <p:cNvPr id="6" name="net 1 text"/>
          <p:cNvSpPr txBox="1"/>
          <p:nvPr/>
        </p:nvSpPr>
        <p:spPr>
          <a:xfrm>
            <a:off x="594360" y="3108960"/>
            <a:ext cx="2286000" cy="822960"/>
          </a:xfrm>
          <a:prstGeom prst="rect">
            <a:avLst/>
          </a:prstGeom>
          <a:noFill/>
          <a:ln/>
        </p:spPr>
        <p:txBody>
          <a:bodyPr wrap="square" lIns="0" tIns="0" rIns="0" bIns="0" rtlCol="0" anchor="t"/>
          <a:lstStyle/>
          <a:p>
            <a:pPr indent="0" marL="0">
              <a:buNone/>
            </a:pPr>
            <a:r>
              <a:rPr lang="en-US" sz="1400" dirty="0">
                <a:solidFill>
                  <a:schemeClr val="tx1"/>
                </a:solidFill>
              </a:rPr>
              <a:t>Must pass before anything is built</a:t>
            </a:r>
            <a:endParaRPr lang="en-US" sz="1400" dirty="0"/>
          </a:p>
        </p:txBody>
      </p:sp>
      <p:sp>
        <p:nvSpPr>
          <p:cNvPr id="7" name="net 2 card"/>
          <p:cNvSpPr/>
          <p:nvPr/>
        </p:nvSpPr>
        <p:spPr>
          <a:xfrm>
            <a:off x="3291840" y="1371600"/>
            <a:ext cx="2560320" cy="2697480"/>
          </a:xfrm>
          <a:prstGeom prst="roundRect">
            <a:avLst>
              <a:gd name="adj" fmla="val 428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net 2 number"/>
          <p:cNvSpPr txBox="1"/>
          <p:nvPr/>
        </p:nvSpPr>
        <p:spPr>
          <a:xfrm>
            <a:off x="3429000" y="1508760"/>
            <a:ext cx="2286000" cy="914400"/>
          </a:xfrm>
          <a:prstGeom prst="rect">
            <a:avLst/>
          </a:prstGeom>
          <a:noFill/>
          <a:ln/>
        </p:spPr>
        <p:txBody>
          <a:bodyPr wrap="square" lIns="0" tIns="0" rIns="0" bIns="0" rtlCol="0" anchor="ctr"/>
          <a:lstStyle/>
          <a:p>
            <a:pPr algn="l" indent="0" marL="0">
              <a:buNone/>
            </a:pPr>
            <a:r>
              <a:rPr lang="en-US" sz="4400" b="1" dirty="0">
                <a:solidFill>
                  <a:schemeClr val="accent1"/>
                </a:solidFill>
              </a:rPr>
              <a:t>88 to 0</a:t>
            </a:r>
            <a:endParaRPr lang="en-US" sz="4400" dirty="0"/>
          </a:p>
        </p:txBody>
      </p:sp>
      <p:sp>
        <p:nvSpPr>
          <p:cNvPr id="9" name="net 2 title"/>
          <p:cNvSpPr txBox="1"/>
          <p:nvPr/>
        </p:nvSpPr>
        <p:spPr>
          <a:xfrm>
            <a:off x="3429000" y="2468880"/>
            <a:ext cx="2286000" cy="548640"/>
          </a:xfrm>
          <a:prstGeom prst="rect">
            <a:avLst/>
          </a:prstGeom>
          <a:noFill/>
          <a:ln/>
        </p:spPr>
        <p:txBody>
          <a:bodyPr wrap="square" lIns="0" tIns="0" rIns="0" bIns="0" rtlCol="0" anchor="t"/>
          <a:lstStyle/>
          <a:p>
            <a:pPr indent="0" marL="0">
              <a:buNone/>
            </a:pPr>
            <a:r>
              <a:rPr lang="en-US" sz="1800" b="1" dirty="0">
                <a:solidFill>
                  <a:schemeClr val="tx2"/>
                </a:solidFill>
              </a:rPr>
              <a:t>serious security findings</a:t>
            </a:r>
            <a:endParaRPr lang="en-US" sz="1800" dirty="0"/>
          </a:p>
        </p:txBody>
      </p:sp>
      <p:sp>
        <p:nvSpPr>
          <p:cNvPr id="10" name="net 2 text"/>
          <p:cNvSpPr txBox="1"/>
          <p:nvPr/>
        </p:nvSpPr>
        <p:spPr>
          <a:xfrm>
            <a:off x="3429000" y="3108960"/>
            <a:ext cx="2286000" cy="822960"/>
          </a:xfrm>
          <a:prstGeom prst="rect">
            <a:avLst/>
          </a:prstGeom>
          <a:noFill/>
          <a:ln/>
        </p:spPr>
        <p:txBody>
          <a:bodyPr wrap="square" lIns="0" tIns="0" rIns="0" bIns="0" rtlCol="0" anchor="t"/>
          <a:lstStyle/>
          <a:p>
            <a:pPr indent="0" marL="0">
              <a:buNone/>
            </a:pPr>
            <a:r>
              <a:rPr lang="en-US" sz="1400" dirty="0">
                <a:solidFill>
                  <a:schemeClr val="tx1"/>
                </a:solidFill>
              </a:rPr>
              <a:t>Found by Trivy, then fixed</a:t>
            </a:r>
            <a:endParaRPr lang="en-US" sz="1400" dirty="0"/>
          </a:p>
        </p:txBody>
      </p:sp>
      <p:sp>
        <p:nvSpPr>
          <p:cNvPr id="11" name="net 3 card"/>
          <p:cNvSpPr/>
          <p:nvPr/>
        </p:nvSpPr>
        <p:spPr>
          <a:xfrm>
            <a:off x="6126480" y="1371600"/>
            <a:ext cx="2560320" cy="2697480"/>
          </a:xfrm>
          <a:prstGeom prst="roundRect">
            <a:avLst>
              <a:gd name="adj" fmla="val 428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net 3 number"/>
          <p:cNvSpPr txBox="1"/>
          <p:nvPr/>
        </p:nvSpPr>
        <p:spPr>
          <a:xfrm>
            <a:off x="6263640" y="1508760"/>
            <a:ext cx="2286000" cy="914400"/>
          </a:xfrm>
          <a:prstGeom prst="rect">
            <a:avLst/>
          </a:prstGeom>
          <a:noFill/>
          <a:ln/>
        </p:spPr>
        <p:txBody>
          <a:bodyPr wrap="square" lIns="0" tIns="0" rIns="0" bIns="0" rtlCol="0" anchor="ctr"/>
          <a:lstStyle/>
          <a:p>
            <a:pPr algn="l" indent="0" marL="0">
              <a:buNone/>
            </a:pPr>
            <a:r>
              <a:rPr lang="en-US" sz="4400" b="1" dirty="0">
                <a:solidFill>
                  <a:schemeClr val="accent1"/>
                </a:solidFill>
              </a:rPr>
              <a:t>2</a:t>
            </a:r>
            <a:endParaRPr lang="en-US" sz="4400" dirty="0"/>
          </a:p>
        </p:txBody>
      </p:sp>
      <p:sp>
        <p:nvSpPr>
          <p:cNvPr id="13" name="net 3 title"/>
          <p:cNvSpPr txBox="1"/>
          <p:nvPr/>
        </p:nvSpPr>
        <p:spPr>
          <a:xfrm>
            <a:off x="6263640" y="2468880"/>
            <a:ext cx="2286000" cy="548640"/>
          </a:xfrm>
          <a:prstGeom prst="rect">
            <a:avLst/>
          </a:prstGeom>
          <a:noFill/>
          <a:ln/>
        </p:spPr>
        <p:txBody>
          <a:bodyPr wrap="square" lIns="0" tIns="0" rIns="0" bIns="0" rtlCol="0" anchor="t"/>
          <a:lstStyle/>
          <a:p>
            <a:pPr indent="0" marL="0">
              <a:buNone/>
            </a:pPr>
            <a:r>
              <a:rPr lang="en-US" sz="1800" b="1" dirty="0">
                <a:solidFill>
                  <a:schemeClr val="tx2"/>
                </a:solidFill>
              </a:rPr>
              <a:t>copies of the app</a:t>
            </a:r>
            <a:endParaRPr lang="en-US" sz="1800" dirty="0"/>
          </a:p>
        </p:txBody>
      </p:sp>
      <p:sp>
        <p:nvSpPr>
          <p:cNvPr id="14" name="net 3 text"/>
          <p:cNvSpPr txBox="1"/>
          <p:nvPr/>
        </p:nvSpPr>
        <p:spPr>
          <a:xfrm>
            <a:off x="6263640" y="3108960"/>
            <a:ext cx="2286000" cy="822960"/>
          </a:xfrm>
          <a:prstGeom prst="rect">
            <a:avLst/>
          </a:prstGeom>
          <a:noFill/>
          <a:ln/>
        </p:spPr>
        <p:txBody>
          <a:bodyPr wrap="square" lIns="0" tIns="0" rIns="0" bIns="0" rtlCol="0" anchor="t"/>
          <a:lstStyle/>
          <a:p>
            <a:pPr indent="0" marL="0">
              <a:buNone/>
            </a:pPr>
            <a:r>
              <a:rPr lang="en-US" sz="1400" dirty="0">
                <a:solidFill>
                  <a:schemeClr val="tx1"/>
                </a:solidFill>
              </a:rPr>
              <a:t>If one crashes, the other serves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188720"/>
          </a:xfrm>
          <a:prstGeom prst="rect">
            <a:avLst/>
          </a:prstGeom>
          <a:noFill/>
          <a:ln/>
        </p:spPr>
        <p:txBody>
          <a:bodyPr wrap="square" lIns="0" tIns="0" rIns="0" bIns="0" rtlCol="0" anchor="ctr"/>
          <a:lstStyle/>
          <a:p>
            <a:pPr algn="l" indent="0" marL="0">
              <a:buNone/>
            </a:pPr>
            <a:r>
              <a:rPr lang="en-US" sz="4400" b="1" dirty="0">
                <a:solidFill>
                  <a:schemeClr val="bg1"/>
                </a:solidFill>
              </a:rPr>
              <a:t>From laptop to the cloud</a:t>
            </a:r>
            <a:endParaRPr lang="en-US" sz="4400" dirty="0"/>
          </a:p>
        </p:txBody>
      </p:sp>
      <p:sp>
        <p:nvSpPr>
          <p:cNvPr id="3" name="Text 0"/>
          <p:cNvSpPr/>
          <p:nvPr>
            <p:ph idx="101" type="body" hasCustomPrompt="1"/>
          </p:nvPr>
        </p:nvSpPr>
        <p:spPr>
          <a:xfrm>
            <a:off x="640080" y="2697480"/>
            <a:ext cx="7498080" cy="1005840"/>
          </a:xfrm>
          <a:prstGeom prst="rect">
            <a:avLst/>
          </a:prstGeom>
          <a:noFill/>
          <a:ln/>
        </p:spPr>
        <p:txBody>
          <a:bodyPr wrap="square" lIns="0" tIns="0" rIns="0" bIns="0" rtlCol="0" anchor="t"/>
          <a:lstStyle/>
          <a:p>
            <a:pPr algn="l" indent="0" marL="0">
              <a:buNone/>
            </a:pPr>
            <a:r>
              <a:rPr lang="en-US" sz="2000" dirty="0">
                <a:solidFill>
                  <a:schemeClr val="bg2"/>
                </a:solidFill>
              </a:rPr>
              <a:t>Push code: it is tested, scanned and published. Then it is deployed and watched.</a:t>
            </a:r>
            <a:endParaRPr lang="en-US" sz="2000" dirty="0"/>
          </a:p>
          <a:p>
            <a:pPr algn="l" indent="0" marL="0">
              <a:buNone/>
            </a:pPr>
            <a:r>
              <a:rPr lang="en-US" sz="2000" dirty="0">
                <a:solidFill>
                  <a:schemeClr val="bg2"/>
                </a:solidFill>
              </a:rPr>
              <a:t>Next: automatic deploys and a staging environment.</a:t>
            </a:r>
            <a:endParaRPr lang="en-US" sz="2000" dirty="0"/>
          </a:p>
        </p:txBody>
      </p:sp>
      <p:sp>
        <p:nvSpPr>
          <p:cNvPr id="4" name="thanks"/>
          <p:cNvSpPr txBox="1"/>
          <p:nvPr/>
        </p:nvSpPr>
        <p:spPr>
          <a:xfrm>
            <a:off x="640080" y="4114800"/>
            <a:ext cx="4572000" cy="457200"/>
          </a:xfrm>
          <a:prstGeom prst="rect">
            <a:avLst/>
          </a:prstGeom>
          <a:noFill/>
          <a:ln/>
        </p:spPr>
        <p:txBody>
          <a:bodyPr wrap="square" lIns="0" tIns="0" rIns="0" bIns="0" rtlCol="0" anchor="ctr"/>
          <a:lstStyle/>
          <a:p>
            <a:pPr indent="0" marL="0">
              <a:buNone/>
            </a:pPr>
            <a:r>
              <a:rPr lang="en-US" sz="2400" b="1" dirty="0">
                <a:solidFill>
                  <a:schemeClr val="accent3"/>
                </a:solidFill>
              </a:rPr>
              <a:t>Thank you</a:t>
            </a:r>
            <a:endParaRPr lang="en-US" sz="2400" dirty="0"/>
          </a:p>
        </p:txBody>
      </p:sp>
    </p:spTree>
  </p:cSld>
  <p:clrMapOvr>
    <a:masterClrMapping/>
  </p:clrMapOvr>
</p:sld>
</file>

<file path=ppt/theme/theme1.xml><?xml version="1.0" encoding="utf-8"?>
<a:theme xmlns:a="http://schemas.openxmlformats.org/drawingml/2006/main" name="Ecommerce Admin">
  <a:themeElements>
    <a:clrScheme name="Ecommerce Admin">
      <a:dk1>
        <a:srgbClr val="1B1F2A"/>
      </a:dk1>
      <a:lt1>
        <a:srgbClr val="FFFFFF"/>
      </a:lt1>
      <a:dk2>
        <a:srgbClr val="1E2235"/>
      </a:dk2>
      <a:lt2>
        <a:srgbClr val="F4F5F9"/>
      </a:lt2>
      <a:accent1>
        <a:srgbClr val="4F46E5"/>
      </a:accent1>
      <a:accent2>
        <a:srgbClr val="10B981"/>
      </a:accent2>
      <a:accent3>
        <a:srgbClr val="F59E0B"/>
      </a:accent3>
      <a:accent4>
        <a:srgbClr val="EF4444"/>
      </a:accent4>
      <a:accent5>
        <a:srgbClr val="3B82F6"/>
      </a:accent5>
      <a:accent6>
        <a:srgbClr val="6B7280"/>
      </a:accent6>
      <a:hlink>
        <a:srgbClr val="4F46E5"/>
      </a:hlink>
      <a:folHlink>
        <a:srgbClr val="6B7280"/>
      </a:folHlink>
    </a:clrScheme>
    <a:fontScheme name="Ecommerce Adm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Admin - DevOps Capstone</dc:title>
  <dc:subject>PptxGenJS Presentation</dc:subject>
  <dc:creator>Naverdo Sandeep</dc:creator>
  <cp:lastModifiedBy>Naverdo Sandeep</cp:lastModifiedBy>
  <cp:revision>1</cp:revision>
  <dcterms:created xsi:type="dcterms:W3CDTF">2026-10-16T18:36:38Z</dcterms:created>
  <dcterms:modified xsi:type="dcterms:W3CDTF">2026-10-16T18:36:38Z</dcterms:modified>
</cp:coreProperties>
</file>